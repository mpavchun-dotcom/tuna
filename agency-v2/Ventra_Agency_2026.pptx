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Новая редакционная концепция: «Бизнес двигают люди». Это предложенный заголовок, не утверждённый слоган. Изображение обложки создано ИИ для визуальной концепции; это не реальные сотрудники или клиенты Ventra. Логотип — исходный белый PNG, пропорции и рисунок не изменены.</a:t>
            </a:r>
          </a:p>
          <a:p/>
          <a:p>
            <a:r>
              <a:t>ИСХОДНЫЕ МАТЕРИАЛЫ — СЛАЙД 1</a:t>
            </a:r>
          </a:p>
          <a:p>
            <a:r>
              <a:t>Ventra.</a:t>
            </a:r>
          </a:p>
          <a:p>
            <a:r>
              <a:t>HR-ХОЛДИНГ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Редакционная формулировка позиционирования на основе исходного описания экосистемы. Фотография из исходной презентации.</a:t>
            </a:r>
          </a:p>
          <a:p/>
          <a:p>
            <a:r>
              <a:t>ИСХОДНЫЕ МАТЕРИАЛЫ — СЛАЙД 4</a:t>
            </a:r>
          </a:p>
          <a:p>
            <a:r>
              <a:t>Экосистема вместо набора услуг</a:t>
            </a:r>
          </a:p>
          <a:p>
            <a:r>
              <a:t>Высокое качество</a:t>
            </a:r>
          </a:p>
          <a:p>
            <a:r>
              <a:t>берем ответственность за бизнес-таргеты: работаем по SLA и KPI</a:t>
            </a:r>
          </a:p>
          <a:p>
            <a:r>
              <a:t>Соответствие законам</a:t>
            </a:r>
          </a:p>
          <a:p>
            <a:r>
              <a:t>берем на себя полную юридическую безопасность в работе с персоналом</a:t>
            </a:r>
          </a:p>
          <a:p>
            <a:r>
              <a:t>Люди = актив</a:t>
            </a:r>
          </a:p>
          <a:p>
            <a:r>
              <a:t>Наши эксперты обеспечивают доступ к лучшим кандидатам на рынке</a:t>
            </a:r>
          </a:p>
          <a:p>
            <a:r>
              <a:t>Стратегическое партнерство</a:t>
            </a:r>
          </a:p>
          <a:p>
            <a:r>
              <a:t>закрываем весь контур работы с персоналом — от подбора С-level и ИТ до платформенной занятости</a:t>
            </a:r>
          </a:p>
          <a:p>
            <a:r>
              <a:t>Скорость</a:t>
            </a:r>
          </a:p>
          <a:p>
            <a:r>
              <a:t>формируем и масштабируем команды и находим редкие таланты быстрее рынка </a:t>
            </a:r>
          </a:p>
          <a:p>
            <a:r>
              <a:t>Масштаб без ограничений</a:t>
            </a:r>
          </a:p>
          <a:p>
            <a:r>
              <a:t>закрываем от одной позиции до нескольких тысяч  сотрудников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Подбор: также международный и массовый подбор. ИТ: услуги внешней разработки и ПО «под ключ». Состав услуг перенесён из исходника и сгруппирован в шесть направлений.</a:t>
            </a:r>
          </a:p>
          <a:p/>
          <a:p>
            <a:r>
              <a:t>ИСХОДНЫЕ МАТЕРИАЛЫ — СЛАЙД 2</a:t>
            </a:r>
          </a:p>
          <a:p>
            <a:r>
              <a:t>HR-СЕРВИСЫ И ПОДБОР</a:t>
            </a:r>
          </a:p>
          <a:p>
            <a:r>
              <a:t>Рекрутмент</a:t>
            </a:r>
          </a:p>
          <a:p>
            <a:r>
              <a:t>Executive search</a:t>
            </a:r>
          </a:p>
          <a:p>
            <a:r>
              <a:t>Международный подбор</a:t>
            </a:r>
          </a:p>
          <a:p>
            <a:r>
              <a:t>Аутсорсинг процесса рекрутмента (RPO)</a:t>
            </a:r>
          </a:p>
          <a:p>
            <a:r>
              <a:t>HR-консалтинг</a:t>
            </a:r>
          </a:p>
          <a:p>
            <a:r>
              <a:t>Массовый подбор</a:t>
            </a:r>
          </a:p>
          <a:p/>
          <a:p>
            <a:r>
              <a:t>ИТ</a:t>
            </a:r>
          </a:p>
          <a:p>
            <a:r>
              <a:t>Услуги внешней разработки, разработка ПО “под ключ”,формирование ИТ-команд,</a:t>
            </a:r>
          </a:p>
          <a:p>
            <a:r>
              <a:t>1С консалтинг</a:t>
            </a:r>
          </a:p>
          <a:p>
            <a:r>
              <a:t>АУТСОРСИНГ</a:t>
            </a:r>
          </a:p>
          <a:p>
            <a:r>
              <a:t>ПРОДАЖИ</a:t>
            </a:r>
          </a:p>
          <a:p>
            <a:r>
              <a:t>Аутсорсинг продаж, мерчандайзинг, field force, BTL &amp; Promo</a:t>
            </a:r>
          </a:p>
          <a:p>
            <a:r>
              <a:t>ПРОИЗВОДСТВО И СКЛАД</a:t>
            </a:r>
          </a:p>
          <a:p>
            <a:r>
              <a:t>Вахтовые проекты, производственные процессы, логистика и комплектация, клининг и вспомогательные процессы</a:t>
            </a:r>
          </a:p>
          <a:p>
            <a:r>
              <a:t>АДМИНИСТРАТИВНЫЕ ФУНКЦИИ</a:t>
            </a:r>
          </a:p>
          <a:p>
            <a:r>
              <a:t>Управление закупками, поставщиками, офисом, ресепшеном, документами и др.</a:t>
            </a:r>
          </a:p>
          <a:p>
            <a:r>
              <a:t>Экосистема решений Ventra</a:t>
            </a:r>
          </a:p>
          <a:p>
            <a:r>
              <a:t>HR-TECH И ГИБКАЯ ЗАНЯТОСТЬ</a:t>
            </a:r>
          </a:p>
          <a:p>
            <a:r>
              <a:t>VENTRA GO! </a:t>
            </a:r>
          </a:p>
          <a:p>
            <a:r>
              <a:t>цифровая платформа для заказа работников массовых профессий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цифры из исходника. В исходнике на слайде «Опыт Ventra» — 750+ клиентов, на слайде «О нас» — 850+. Сверить период и определения до внешней отправки. Приобретение бизнеса Kelly произошло в июне 2022 года.</a:t>
            </a:r>
          </a:p>
          <a:p/>
          <a:p>
            <a:r>
              <a:t>ИСХОДНЫЕ МАТЕРИАЛЫ — СЛАЙД 3</a:t>
            </a:r>
          </a:p>
          <a:p>
            <a:r>
              <a:t>25 лет</a:t>
            </a:r>
            <a:br/>
            <a:r>
              <a:t>на рынке  </a:t>
            </a:r>
          </a:p>
          <a:p>
            <a:r>
              <a:t>42 города</a:t>
            </a:r>
            <a:br/>
            <a:r>
              <a:t>собственные </a:t>
            </a:r>
            <a:br/>
            <a:r>
              <a:t>офисы и инфраструктура</a:t>
            </a:r>
          </a:p>
          <a:p>
            <a:r>
              <a:t>850+ клиентов</a:t>
            </a:r>
            <a:br/>
            <a:r>
              <a:t>крупнейших компаний на рынке </a:t>
            </a:r>
          </a:p>
          <a:p>
            <a:r>
              <a:t>10 000+</a:t>
            </a:r>
            <a:br/>
            <a:r>
              <a:t>трудоустроенных в год</a:t>
            </a:r>
          </a:p>
          <a:p>
            <a:r>
              <a:t>900 </a:t>
            </a:r>
            <a:br/>
            <a:r>
              <a:t>сотрудников — внутренняя команда компании</a:t>
            </a:r>
          </a:p>
          <a:p>
            <a:r>
              <a:t>15 000</a:t>
            </a:r>
            <a:br/>
            <a:r>
              <a:t>работников </a:t>
            </a:r>
            <a:br/>
            <a:r>
              <a:t>на проектах </a:t>
            </a:r>
          </a:p>
          <a:p>
            <a:r>
              <a:t>2 000 000 </a:t>
            </a:r>
            <a:br/>
            <a:r>
              <a:t>исполнителей </a:t>
            </a:r>
            <a:br/>
            <a:r>
              <a:t>на платформе Ventra Go! </a:t>
            </a:r>
          </a:p>
          <a:p>
            <a:r>
              <a:t>В июне 2022 HR-холдинг Ventra приобрел бизнес Kelly в России, объединив сильнейшие </a:t>
            </a:r>
            <a:br/>
            <a:r>
              <a:t>на российском рынке команды в области решений </a:t>
            </a:r>
            <a:br/>
            <a:r>
              <a:t>по управлению персоналом и аутсорсинга</a:t>
            </a:r>
          </a:p>
          <a:p>
            <a:r>
              <a:t>О нас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География и показатели из исходника. Карта: Natural Earth, public domain, упрощённые контуры для презентационной графики, не для определения границ. В России — 42 города с собственными офисами и инфраструктурой.</a:t>
            </a:r>
          </a:p>
          <a:p/>
          <a:p>
            <a:r>
              <a:t>ИСХОДНЫЕ МАТЕРИАЛЫ — СЛАЙД 5</a:t>
            </a:r>
          </a:p>
          <a:p>
            <a:r>
              <a:t>География проектов</a:t>
            </a:r>
            <a:br/>
          </a:p>
          <a:p>
            <a:r>
              <a:t>вся Россия, Республика Беларусь, Казахстан, Грузия, Узбекистан</a:t>
            </a:r>
          </a:p>
          <a:p>
            <a:r>
              <a:t>собственные офисы </a:t>
            </a:r>
          </a:p>
          <a:p>
            <a:r>
              <a:t>и инфраструктура</a:t>
            </a:r>
          </a:p>
          <a:p>
            <a:r>
              <a:t>100+ клиентов </a:t>
            </a:r>
          </a:p>
          <a:p>
            <a:r>
              <a:t>250+ проектов</a:t>
            </a:r>
          </a:p>
          <a:p>
            <a:r>
              <a:t>за пределами России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клиентские логотипы сохранены из исходного слайда. В исходнике 750+ клиентов здесь и 850+ в общей информации. Различие намеренно не исправлено без подтверждения; необходимо согласовать определения и периоды. Отрасли: FMCG &amp; Retail; финтех &amp; ИТ; фарма и медицина; электроника; производство и склад; автопром; Fashion &amp; Beauty; телеком; агро.</a:t>
            </a:r>
          </a:p>
          <a:p/>
          <a:p>
            <a:r>
              <a:t>ИСХОДНЫЕ МАТЕРИАЛЫ — СЛАЙД 6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Исходник также содержит рейтинг трейд-маркетинговых агентств 2024. Заявления перенесены без внешней проверки; перед отправкой подтвердить дату, места и корректные ссылки. HR-tech: №1 как самая быстрорастущая HR-tech компания России 2024 (Smart Ranking); ТОП-20 бесплатных приложений категории «Бизнес» App Store и Google Play.</a:t>
            </a:r>
          </a:p>
          <a:p/>
          <a:p>
            <a:r>
              <a:t>ИСХОДНЫЕ МАТЕРИАЛЫ — СЛАЙД 7</a:t>
            </a:r>
          </a:p>
          <a:p>
            <a:r>
              <a:t>Рейтинг лучших работодателей (HH.ru)</a:t>
            </a:r>
          </a:p>
          <a:p>
            <a:r>
              <a:t>Рейтинг лучших работодателей России Forbes</a:t>
            </a:r>
          </a:p>
          <a:p>
            <a:r>
              <a:t>Рейтинг лучших работодателей России РБК</a:t>
            </a:r>
          </a:p>
          <a:p>
            <a:r>
              <a:t>Руководители входят в ТОП 1000 российских менеджеров (АМР, КоммерсантЪ)</a:t>
            </a:r>
          </a:p>
          <a:p>
            <a:r>
              <a:t>Топ-5 рейтинга поставщиков ИТ услуг РАЭКС</a:t>
            </a:r>
          </a:p>
          <a:p>
            <a:r>
              <a:t>Топ- 15 рейтинга ИТ-компаний РАЭКС</a:t>
            </a:r>
          </a:p>
          <a:p>
            <a:r>
              <a:t>Топ-100 крупнейших ИТ-компаний по версии CNews (63 место)</a:t>
            </a:r>
          </a:p>
          <a:p>
            <a:r>
              <a:t>Рейтинг трейд-маркетинговых агентств 2024</a:t>
            </a:r>
          </a:p>
          <a:p>
            <a:r>
              <a:t>ЛИДЕР ГИБКОЙ ЗАНЯТОСТИ В РФ</a:t>
            </a:r>
          </a:p>
          <a:p>
            <a:r>
              <a:t>№1 среди платформ гибкой занятости Smart Ranking</a:t>
            </a:r>
          </a:p>
          <a:p>
            <a:r>
              <a:t>№1 как самая быстрорастущая HR Tech-компания России 2024 (Smart Ranking)</a:t>
            </a:r>
          </a:p>
          <a:p>
            <a:r>
              <a:t>ТОП-20</a:t>
            </a:r>
          </a:p>
          <a:p>
            <a:r>
              <a:t>бесплатных приложений категории «Бизнес» в Appstore &amp; Google Play</a:t>
            </a:r>
          </a:p>
          <a:p>
            <a:r>
              <a:t>Награда Product Market Fit 2024 Smart Ranking</a:t>
            </a:r>
          </a:p>
          <a:p>
            <a:r>
              <a:t>РЕЙТИНГИ РАБОТОДАТЕЛЕЙ</a:t>
            </a:r>
          </a:p>
          <a:p>
            <a:r>
              <a:t>ПРОФЕССИОНАЛЬНЫЕ РЕЙТИНГИ</a:t>
            </a:r>
          </a:p>
          <a:p>
            <a:r>
              <a:t>TECH</a:t>
            </a:r>
          </a:p>
          <a:p>
            <a:r>
              <a:t>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Авторская редакционная формулировка, предложенная для презентационной концепции. Не является подтверждённым слоганом компании.</a:t>
            </a:r>
          </a:p>
          <a:p/>
          <a:p>
            <a:r>
              <a:t>ИСХОДНЫЕ МАТЕРИАЛЫ — СЛАЙД 8</a:t>
            </a:r>
          </a:p>
          <a:p>
            <a:r>
              <a:t>НАПРАВЛЕНИЯ</a:t>
            </a:r>
          </a:p>
          <a:p>
            <a:r>
              <a:t>РАБОТЫ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Примеры закрытых вакансий из исходника: Генеральный директор; Директор завода; Операционный директор; Независимый директор; R&amp;D директор; Председатель правления банка; Исполнительный директор; Директор по стратегическому развитию; Финансовый директор; CMO; CPO; Supply chain director; Директор по персоналу Россия и СНГ; Член совета директоров по HR; Директор по строительству; Директор юридической службы холдинга; E-com директор; Директор по закупкам.</a:t>
            </a:r>
          </a:p>
          <a:p/>
          <a:p>
            <a:r>
              <a:t>ИСХОДНЫЕ МАТЕРИАЛЫ — СЛАЙД 10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Торговая компания и эксперт в управлении продажами. Показатели — из исходника. Фотография из исходной презентации.</a:t>
            </a:r>
          </a:p>
          <a:p/>
          <a:p>
            <a:r>
              <a:t>ИСХОДНЫЕ МАТЕРИАЛЫ — СЛАЙД 12</a:t>
            </a:r>
          </a:p>
          <a:p>
            <a:r>
              <a:t>Продажи</a:t>
            </a:r>
          </a:p>
          <a:p>
            <a:r>
              <a:t>Торговая компания и эксперт в области управления продажами</a:t>
            </a:r>
          </a:p>
          <a:p>
            <a:r>
              <a:t>TRADE</a:t>
            </a:r>
          </a:p>
          <a:p>
            <a:r>
              <a:t>Топ 2 </a:t>
            </a:r>
          </a:p>
          <a:p>
            <a:r>
              <a:t>на рынке трейд-маркетинга </a:t>
            </a:r>
          </a:p>
          <a:p>
            <a:r>
              <a:t>35%+</a:t>
            </a:r>
          </a:p>
          <a:p>
            <a:r>
              <a:t>рынка электронного ритейла</a:t>
            </a:r>
          </a:p>
          <a:p>
            <a:r>
              <a:t>5000 чел.</a:t>
            </a:r>
          </a:p>
          <a:p>
            <a:r>
              <a:t>работают на проектах</a:t>
            </a:r>
          </a:p>
          <a:p>
            <a:r>
              <a:t>Открытие и развитие собственной розницы</a:t>
            </a:r>
          </a:p>
          <a:p>
            <a:r>
              <a:t>Аутсорсинг продаж и управление торговым персоналом</a:t>
            </a:r>
          </a:p>
          <a:p>
            <a:r>
              <a:t>Field force</a:t>
            </a:r>
          </a:p>
          <a:p>
            <a:r>
              <a:t>Мерчандайзинг</a:t>
            </a:r>
          </a:p>
          <a:p>
            <a:r>
              <a:t>BTL &amp; Promo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Заявление исходника: предоставим готовую команду под любой технологический стек за 3 дня. Редакционный заголовок отражает исходное обещание; перед внешней отправкой подтвердить условия его применения. Цифры из исходника.</a:t>
            </a:r>
          </a:p>
          <a:p/>
          <a:p>
            <a:r>
              <a:t>ИСХОДНЫЕ МАТЕРИАЛЫ — СЛАЙД 15</a:t>
            </a:r>
          </a:p>
          <a:p>
            <a:r>
              <a:t>IT</a:t>
            </a:r>
          </a:p>
          <a:p>
            <a:r>
              <a:t>IT</a:t>
            </a:r>
          </a:p>
          <a:p>
            <a:r>
              <a:t>Предоставим готовую команду под любой технологический стек за 3 дня</a:t>
            </a:r>
          </a:p>
          <a:p>
            <a:r>
              <a:t>Формирование ИТ-команд</a:t>
            </a:r>
          </a:p>
          <a:p>
            <a:r>
              <a:t>Услуги внешней разработки</a:t>
            </a:r>
          </a:p>
          <a:p>
            <a:r>
              <a:t>Разработка ПО</a:t>
            </a:r>
          </a:p>
          <a:p>
            <a:r>
              <a:t>1С консалтинг</a:t>
            </a:r>
          </a:p>
          <a:p>
            <a:r>
              <a:t>Управление ИТ-инфраструктурой</a:t>
            </a:r>
          </a:p>
          <a:p>
            <a:r>
              <a:t>ИТ-рекрутмент</a:t>
            </a:r>
          </a:p>
          <a:p>
            <a:r>
              <a:t>2 000 +</a:t>
            </a:r>
          </a:p>
          <a:p>
            <a:r>
              <a:t>человек в нашем штате</a:t>
            </a:r>
          </a:p>
          <a:p>
            <a:r>
              <a:t>350 000 +</a:t>
            </a:r>
          </a:p>
          <a:p>
            <a:r>
              <a:t>часов в месяц работают наши специалисты над проектами </a:t>
            </a:r>
          </a:p>
          <a:p>
            <a:r>
              <a:t>1 млн +</a:t>
            </a:r>
          </a:p>
          <a:p>
            <a:r>
              <a:t>ИТ-специалистов </a:t>
            </a:r>
          </a:p>
          <a:p>
            <a:r>
              <a:t>в базе</a:t>
            </a:r>
          </a:p>
          <a:p>
            <a:r>
              <a:t>ИТ-СТАТУС С 2011 ГОДА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Ventra Go! — цифровая платформа гибкой занятости. В исходнике указано «топ-1 на рынке платформ», №1 среди платформ гибкой занятости Smart Ranking. На этом слайде цифры из исходника; актуальность и рейтинги требуют подтверждения перед внешней отправкой.</a:t>
            </a:r>
          </a:p>
          <a:p/>
          <a:p>
            <a:r>
              <a:t>ИСХОДНЫЕ МАТЕРИАЛЫ — СЛАЙД 17</a:t>
            </a:r>
          </a:p>
          <a:p>
            <a:r>
              <a:t>HR TECH</a:t>
            </a:r>
          </a:p>
          <a:p>
            <a:r>
              <a:t>Ventra Go!</a:t>
            </a:r>
          </a:p>
          <a:p>
            <a:r>
              <a:t>Цифровая платформа гибкой занятости</a:t>
            </a:r>
          </a:p>
          <a:p/>
          <a:p/>
          <a:p>
            <a:r>
              <a:t>ТОП 1 НА РЫНКЕ ПЛАТФОРМ</a:t>
            </a:r>
          </a:p>
          <a:p>
            <a:r>
              <a:t>2 000 000</a:t>
            </a:r>
          </a:p>
          <a:p>
            <a:r>
              <a:t>проверенных исполнителей </a:t>
            </a:r>
          </a:p>
          <a:p>
            <a:r>
              <a:t>для 200+ брендов ритейла екома и хореки</a:t>
            </a:r>
          </a:p>
          <a:p>
            <a:r>
              <a:t>25 000+ </a:t>
            </a:r>
          </a:p>
          <a:p>
            <a:r>
              <a:t>торговых точек </a:t>
            </a:r>
          </a:p>
          <a:p>
            <a:r>
              <a:t>на платформе</a:t>
            </a:r>
          </a:p>
          <a:p>
            <a:r>
              <a:t>ВСЕ КАТЕГОРИИ</a:t>
            </a:r>
          </a:p>
          <a:p>
            <a:r>
              <a:t>работников для ритейла и HoReCa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Клиенты и услуги перенесены из исходной презентации. Клиентские логотипы использованы без изменения изображения.</a:t>
            </a:r>
          </a:p>
          <a:p/>
          <a:p>
            <a:r>
              <a:t>ИСХОДНЫЕ МАТЕРИАЛЫ — СЛАЙД 18</a:t>
            </a:r>
          </a:p>
          <a:p>
            <a:r>
              <a:t>Ventra Go!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Предоставление работников зала, разнорабочих и пекарей</a:t>
            </a:r>
          </a:p>
          <a:p>
            <a:r>
              <a:t>Предоставление сборщиков заказов, работников зала и курьеров в гипермаркеты</a:t>
            </a:r>
          </a:p>
          <a:p>
            <a:r>
              <a:t>Предоставление работников </a:t>
            </a:r>
          </a:p>
          <a:p>
            <a:r>
              <a:t>зала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3</a:t>
            </a:r>
          </a:p>
          <a:p>
            <a:r>
              <a:t>25 лет</a:t>
            </a:r>
            <a:br/>
            <a:r>
              <a:t>на рынке  </a:t>
            </a:r>
          </a:p>
          <a:p>
            <a:r>
              <a:t>42 города</a:t>
            </a:r>
            <a:br/>
            <a:r>
              <a:t>собственные </a:t>
            </a:r>
            <a:br/>
            <a:r>
              <a:t>офисы и инфраструктура</a:t>
            </a:r>
          </a:p>
          <a:p>
            <a:r>
              <a:t>850+ клиентов</a:t>
            </a:r>
            <a:br/>
            <a:r>
              <a:t>крупнейших компаний на рынке </a:t>
            </a:r>
          </a:p>
          <a:p>
            <a:r>
              <a:t>10 000+</a:t>
            </a:r>
            <a:br/>
            <a:r>
              <a:t>трудоустроенных в год</a:t>
            </a:r>
          </a:p>
          <a:p>
            <a:r>
              <a:t>900 </a:t>
            </a:r>
            <a:br/>
            <a:r>
              <a:t>сотрудников — внутренняя команда компании</a:t>
            </a:r>
          </a:p>
          <a:p>
            <a:r>
              <a:t>15 000</a:t>
            </a:r>
            <a:br/>
            <a:r>
              <a:t>работников </a:t>
            </a:r>
            <a:br/>
            <a:r>
              <a:t>на проектах </a:t>
            </a:r>
          </a:p>
          <a:p>
            <a:r>
              <a:t>2 000 000 </a:t>
            </a:r>
            <a:br/>
            <a:r>
              <a:t>исполнителей </a:t>
            </a:r>
            <a:br/>
            <a:r>
              <a:t>на платформе Ventra Go! </a:t>
            </a:r>
          </a:p>
          <a:p>
            <a:r>
              <a:t>В июне 2022 HR-холдинг Ventra приобрел бизнес Kelly в России, объединив сильнейшие </a:t>
            </a:r>
            <a:br/>
            <a:r>
              <a:t>на российском рынке команды в области решений </a:t>
            </a:r>
            <a:br/>
            <a:r>
              <a:t>по управлению персоналом и аутсорсинга</a:t>
            </a:r>
          </a:p>
          <a:p>
            <a:r>
              <a:t>О нас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4</a:t>
            </a:r>
          </a:p>
          <a:p>
            <a:r>
              <a:t>Экосистема вместо набора услуг</a:t>
            </a:r>
          </a:p>
          <a:p>
            <a:r>
              <a:t>Высокое качество</a:t>
            </a:r>
          </a:p>
          <a:p>
            <a:r>
              <a:t>берем ответственность за бизнес-таргеты: работаем по SLA и KPI</a:t>
            </a:r>
          </a:p>
          <a:p>
            <a:r>
              <a:t>Соответствие законам</a:t>
            </a:r>
          </a:p>
          <a:p>
            <a:r>
              <a:t>берем на себя полную юридическую безопасность в работе с персоналом</a:t>
            </a:r>
          </a:p>
          <a:p>
            <a:r>
              <a:t>Люди = актив</a:t>
            </a:r>
          </a:p>
          <a:p>
            <a:r>
              <a:t>Наши эксперты обеспечивают доступ к лучшим кандидатам на рынке</a:t>
            </a:r>
          </a:p>
          <a:p>
            <a:r>
              <a:t>Стратегическое партнерство</a:t>
            </a:r>
          </a:p>
          <a:p>
            <a:r>
              <a:t>закрываем весь контур работы с персоналом — от подбора С-level и ИТ до платформенной занятости</a:t>
            </a:r>
          </a:p>
          <a:p>
            <a:r>
              <a:t>Скорость</a:t>
            </a:r>
          </a:p>
          <a:p>
            <a:r>
              <a:t>формируем и масштабируем команды и находим редкие таланты быстрее рынка </a:t>
            </a:r>
          </a:p>
          <a:p>
            <a:r>
              <a:t>Масштаб без ограничений</a:t>
            </a:r>
          </a:p>
          <a:p>
            <a:r>
              <a:t>закрываем от одной позиции до нескольких тысяч  сотрудников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9</a:t>
            </a:r>
          </a:p>
          <a:p>
            <a:r>
              <a:t>Подбор и HR-сервисы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Executive search</a:t>
            </a:r>
          </a:p>
          <a:p>
            <a:r>
              <a:t>Профессиональный рекрутмент</a:t>
            </a:r>
          </a:p>
          <a:p>
            <a:r>
              <a:t>Международный подбор</a:t>
            </a:r>
          </a:p>
          <a:p>
            <a:r>
              <a:t>Формирование и управление проектными команд</a:t>
            </a:r>
          </a:p>
          <a:p>
            <a:r>
              <a:t>Аутсорсинг процесса рекрутмента RPO</a:t>
            </a:r>
          </a:p>
          <a:p>
            <a:r>
              <a:t>Массовый подбор</a:t>
            </a:r>
          </a:p>
          <a:p>
            <a:r>
              <a:t>HR-консалтинг</a:t>
            </a:r>
          </a:p>
          <a:p>
            <a:r>
              <a:t>9500+</a:t>
            </a:r>
          </a:p>
          <a:p>
            <a:r>
              <a:t>позиций закрыто </a:t>
            </a:r>
          </a:p>
          <a:p>
            <a:r>
              <a:t>в 2022-2025 гг.</a:t>
            </a:r>
          </a:p>
          <a:p>
            <a:r>
              <a:t>&gt;10 лет</a:t>
            </a:r>
          </a:p>
          <a:p>
            <a:r>
              <a:t>опыт работы консультантов в подборе </a:t>
            </a:r>
          </a:p>
          <a:p>
            <a:r>
              <a:t>&gt;5 млн</a:t>
            </a:r>
          </a:p>
          <a:p>
            <a:r>
              <a:t>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11</a:t>
            </a:r>
          </a:p>
          <a:p>
            <a:r>
              <a:t>Аутсорсинг административных функций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Управление закупками и поставщиками</a:t>
            </a:r>
          </a:p>
          <a:p>
            <a:r>
              <a:t>Организация ресепшена</a:t>
            </a:r>
          </a:p>
          <a:p>
            <a:r>
              <a:t>Управление почтовой службой и работой с документами</a:t>
            </a:r>
          </a:p>
          <a:p>
            <a:r>
              <a:t>Предоставление административного персонала на проекты</a:t>
            </a:r>
          </a:p>
          <a:p>
            <a:r>
              <a:t>Подбор секретарей и ассистентов</a:t>
            </a:r>
          </a:p>
          <a:p>
            <a:r>
              <a:t>500+</a:t>
            </a:r>
          </a:p>
          <a:p>
            <a:r>
              <a:t>проектов реализовано</a:t>
            </a:r>
          </a:p>
          <a:p>
            <a:r>
              <a:t>в 2022-2025 гг.</a:t>
            </a:r>
          </a:p>
          <a:p>
            <a:r>
              <a:t>1+ млн</a:t>
            </a:r>
          </a:p>
          <a:p>
            <a:r>
              <a:t>админ. 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13</a:t>
            </a:r>
          </a:p>
          <a:p>
            <a:r>
              <a:t>Продажи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Запуск собственной</a:t>
            </a:r>
          </a:p>
          <a:p>
            <a:r>
              <a:t>розницы Dyson</a:t>
            </a:r>
          </a:p>
          <a:p>
            <a:r>
              <a:t>Распределенные</a:t>
            </a:r>
          </a:p>
          <a:p>
            <a:r>
              <a:t>продажи IQOS</a:t>
            </a:r>
          </a:p>
          <a:p>
            <a:r>
              <a:t>Управление проектом</a:t>
            </a:r>
          </a:p>
          <a:p>
            <a:r>
              <a:t>продаж BEKO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14</a:t>
            </a:r>
          </a:p>
          <a:p>
            <a:r>
              <a:t>INDUSTRIAL</a:t>
            </a:r>
          </a:p>
          <a:p>
            <a:r>
              <a:t>Обслуживание</a:t>
            </a:r>
          </a:p>
          <a:p>
            <a:r>
              <a:t>производственных </a:t>
            </a:r>
          </a:p>
          <a:p>
            <a:r>
              <a:t>линий Henkel</a:t>
            </a:r>
          </a:p>
          <a:p/>
          <a:p>
            <a:r>
              <a:t>Обслуживание</a:t>
            </a:r>
          </a:p>
          <a:p>
            <a:r>
              <a:t>РЦ Дикси</a:t>
            </a:r>
          </a:p>
          <a:p>
            <a:r>
              <a:t>Обслуживание</a:t>
            </a:r>
          </a:p>
          <a:p>
            <a:r>
              <a:t>сети Магнит</a:t>
            </a:r>
          </a:p>
          <a:p/>
          <a:p>
            <a:r>
              <a:t>Производство и склад</a:t>
            </a:r>
          </a:p>
          <a:p>
            <a:r>
              <a:t>Поддержка производственных и логистических функций</a:t>
            </a:r>
          </a:p>
          <a:p>
            <a:r>
              <a:t>Аутсорсинг складской логистики</a:t>
            </a:r>
          </a:p>
          <a:p>
            <a:r>
              <a:t>Аутсорсинг производственных процессов</a:t>
            </a:r>
          </a:p>
          <a:p>
            <a:r>
              <a:t>Аутсорсинг проектов для нефтегазового сектора</a:t>
            </a:r>
          </a:p>
          <a:p>
            <a:r>
              <a:t>Формирование команд на склад </a:t>
            </a:r>
          </a:p>
          <a:p>
            <a:r>
              <a:t>и производство</a:t>
            </a:r>
          </a:p>
          <a:p>
            <a:r>
              <a:t>Аутсорсинг вахтовых проектов</a:t>
            </a:r>
          </a:p>
          <a:p>
            <a:r>
              <a:t>Клининг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16</a:t>
            </a:r>
          </a:p>
          <a:p>
            <a:r>
              <a:t>HR SERVICES</a:t>
            </a:r>
          </a:p>
          <a:p>
            <a:r>
              <a:t>РАЗРАБОТКА ВЫСОКОНАГРУЖЕННЫХ СЕРВИСОВ ДЛЯ МЕЖДУНАРОДНОЙ IT-КОМПАНИИ</a:t>
            </a:r>
          </a:p>
          <a:p>
            <a:r>
              <a:t>команда Backend-разработчиков Ventra IT спроектировала микросервисную архитектуру (Java Spring, Python FastAPI), внедрила API-шлюзы и обеспечила интеграцию с SAP.</a:t>
            </a:r>
          </a:p>
          <a:p>
            <a:r>
              <a:t>КЛИЕНТСКИЙ ИНТЕРФЕЙС ДЛЯ LUXURY-РИТЕЙЛЕРА</a:t>
            </a:r>
          </a:p>
          <a:p>
            <a:r>
              <a:t>фронтенд-команда Ventra IT разработала адаптивные интерфейсы на ReactJS и VueJS, внедрила SSR для ускорения загрузки, интеграцию с BI-дашбордами.</a:t>
            </a:r>
          </a:p>
          <a:p>
            <a:r>
              <a:t>ПРИЛОЖЕНИЕ ДЛЯ МЕЖДУНАРОДНОГО FMCG-БРЕНДА</a:t>
            </a:r>
          </a:p>
          <a:p>
            <a:r>
              <a:t>Ventra IT реализовала приложение на Flutter с push-уведомлениями и встроенной аналитикой.</a:t>
            </a:r>
          </a:p>
          <a:p>
            <a:r>
              <a:t>ИНФРАСТРУКТУРА И РАЗВЕРТЫВАНИЕ ДЛЯ НЕФТЕСЕРВИСНОЙ КОМПАНИИ</a:t>
            </a:r>
          </a:p>
          <a:p>
            <a:r>
              <a:t>команда DevOps Ventra IT внедрила Kubernetes-кластер, GitLab CI/CD и систему мониторинга Prometheus + Grafana. Время релиза сократилось с 2 недель до 3 дней, повысилась стабильность инфраструктуры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ИСХОДНЫЕ МАТЕРИАЛЫ — СЛАЙД 19</a:t>
            </a:r>
          </a:p>
          <a:p>
            <a:r>
              <a:t>+7 495 543-97-43</a:t>
            </a:r>
            <a:br/>
            <a:r>
              <a:t>client@ventra.ru</a:t>
            </a:r>
            <a:br/>
          </a:p>
          <a:p>
            <a:r>
              <a:t>HR-ХОЛДИНГ</a:t>
            </a:r>
          </a:p>
          <a:p/>
          <a:p>
            <a:r>
              <a:t>Напишите нам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Relationship Id="rId27" Type="http://schemas.openxmlformats.org/officeDocument/2006/relationships/image" Target="../media/image29.png"/><Relationship Id="rId28" Type="http://schemas.openxmlformats.org/officeDocument/2006/relationships/image" Target="../media/image30.png"/><Relationship Id="rId29" Type="http://schemas.openxmlformats.org/officeDocument/2006/relationships/image" Target="../media/image31.png"/><Relationship Id="rId30" Type="http://schemas.openxmlformats.org/officeDocument/2006/relationships/image" Target="../media/image32.png"/><Relationship Id="rId31" Type="http://schemas.openxmlformats.org/officeDocument/2006/relationships/image" Target="../media/image33.png"/><Relationship Id="rId32" Type="http://schemas.openxmlformats.org/officeDocument/2006/relationships/image" Target="../media/image34.png"/><Relationship Id="rId33" Type="http://schemas.openxmlformats.org/officeDocument/2006/relationships/image" Target="../media/image35.png"/><Relationship Id="rId34" Type="http://schemas.openxmlformats.org/officeDocument/2006/relationships/image" Target="../media/image36.png"/><Relationship Id="rId35" Type="http://schemas.openxmlformats.org/officeDocument/2006/relationships/image" Target="../media/image37.png"/><Relationship Id="rId36" Type="http://schemas.openxmlformats.org/officeDocument/2006/relationships/image" Target="../media/image38.png"/><Relationship Id="rId37" Type="http://schemas.openxmlformats.org/officeDocument/2006/relationships/image" Target="../media/image39.png"/><Relationship Id="rId38" Type="http://schemas.openxmlformats.org/officeDocument/2006/relationships/image" Target="../media/image40.png"/><Relationship Id="rId39" Type="http://schemas.openxmlformats.org/officeDocument/2006/relationships/image" Target="../media/image41.png"/><Relationship Id="rId40" Type="http://schemas.openxmlformats.org/officeDocument/2006/relationships/image" Target="../media/image42.png"/><Relationship Id="rId41" Type="http://schemas.openxmlformats.org/officeDocument/2006/relationships/image" Target="../media/image43.png"/><Relationship Id="rId42" Type="http://schemas.openxmlformats.org/officeDocument/2006/relationships/image" Target="../media/image44.png"/><Relationship Id="rId43" Type="http://schemas.openxmlformats.org/officeDocument/2006/relationships/image" Target="../media/image45.png"/><Relationship Id="rId44" Type="http://schemas.openxmlformats.org/officeDocument/2006/relationships/image" Target="../media/image46.png"/><Relationship Id="rId45" Type="http://schemas.openxmlformats.org/officeDocument/2006/relationships/image" Target="../media/image47.png"/><Relationship Id="rId46" Type="http://schemas.openxmlformats.org/officeDocument/2006/relationships/image" Target="../media/image48.png"/><Relationship Id="rId47" Type="http://schemas.openxmlformats.org/officeDocument/2006/relationships/image" Target="../media/image49.png"/><Relationship Id="rId48" Type="http://schemas.openxmlformats.org/officeDocument/2006/relationships/image" Target="../media/image50.png"/><Relationship Id="rId49" Type="http://schemas.openxmlformats.org/officeDocument/2006/relationships/image" Target="../media/image51.png"/><Relationship Id="rId50" Type="http://schemas.openxmlformats.org/officeDocument/2006/relationships/image" Target="../media/image52.png"/><Relationship Id="rId51" Type="http://schemas.openxmlformats.org/officeDocument/2006/relationships/image" Target="../media/image53.png"/><Relationship Id="rId52" Type="http://schemas.openxmlformats.org/officeDocument/2006/relationships/image" Target="../media/image54.png"/><Relationship Id="rId53" Type="http://schemas.openxmlformats.org/officeDocument/2006/relationships/image" Target="../media/image55.png"/><Relationship Id="rId5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6.png"/><Relationship Id="rId4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0.png"/><Relationship Id="rId4" Type="http://schemas.openxmlformats.org/officeDocument/2006/relationships/notesSlide" Target="../notesSlides/notes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8.png"/><Relationship Id="rId4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exec-9a6a57ec-3208-4fcd-a1d9-d5c6780c8605.png" descr="exec-9a6a57ec-3208-4fcd-a1d9-d5c6780c8605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/ image5.png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4" name="Text / HR-ХОЛДИНГ / 2026"/>
          <p:cNvSpPr txBox="1"/>
          <p:nvPr/>
        </p:nvSpPr>
        <p:spPr>
          <a:xfrm>
            <a:off x="11155680" y="731520"/>
            <a:ext cx="2834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HR-ХОЛДИНГ / 2026</a:t>
            </a:r>
          </a:p>
        </p:txBody>
      </p:sp>
      <p:sp>
        <p:nvSpPr>
          <p:cNvPr id="5" name="Text / Бизнес&#10;двигают&#10;люди."/>
          <p:cNvSpPr txBox="1"/>
          <p:nvPr/>
        </p:nvSpPr>
        <p:spPr>
          <a:xfrm>
            <a:off x="640080" y="2240280"/>
            <a:ext cx="804672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009"/>
              </a:lnSpc>
              <a:spcBef>
                <a:spcPts val="0"/>
              </a:spcBef>
              <a:spcAft>
                <a:spcPts val="0"/>
              </a:spcAft>
              <a:defRPr sz="91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Бизнес</a:t>
            </a:r>
          </a:p>
          <a:p>
            <a:pPr>
              <a:lnSpc>
                <a:spcPts val="9009"/>
              </a:lnSpc>
              <a:spcBef>
                <a:spcPts val="0"/>
              </a:spcBef>
              <a:spcAft>
                <a:spcPts val="0"/>
              </a:spcAft>
              <a:defRPr sz="91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двигают</a:t>
            </a:r>
          </a:p>
          <a:p>
            <a:pPr>
              <a:lnSpc>
                <a:spcPts val="9009"/>
              </a:lnSpc>
              <a:spcBef>
                <a:spcPts val="0"/>
              </a:spcBef>
              <a:spcAft>
                <a:spcPts val="0"/>
              </a:spcAft>
              <a:defRPr sz="91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люди.</a:t>
            </a:r>
          </a:p>
        </p:txBody>
      </p:sp>
      <p:sp>
        <p:nvSpPr>
          <p:cNvPr id="6" name="Colour field / FF6600"/>
          <p:cNvSpPr/>
          <p:nvPr/>
        </p:nvSpPr>
        <p:spPr>
          <a:xfrm>
            <a:off x="640080" y="6720840"/>
            <a:ext cx="5029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/ Подбор. Управление. Технологии."/>
          <p:cNvSpPr txBox="1"/>
          <p:nvPr/>
        </p:nvSpPr>
        <p:spPr>
          <a:xfrm>
            <a:off x="1417320" y="6601968"/>
            <a:ext cx="795527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Подбор. Управление. Технологии.</a:t>
            </a:r>
          </a:p>
        </p:txBody>
      </p:sp>
      <p:sp>
        <p:nvSpPr>
          <p:cNvPr id="8" name="Text / О КОМПАНИИ"/>
          <p:cNvSpPr txBox="1"/>
          <p:nvPr/>
        </p:nvSpPr>
        <p:spPr>
          <a:xfrm>
            <a:off x="640080" y="75895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О КОМПАНИИ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01 / О ХОЛДИНГ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01 / О ХОЛДИНГЕ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6" name="Text / Там, где бизнесу&#10;нужны люди, —&#10;нужна Ventra."/>
          <p:cNvSpPr txBox="1"/>
          <p:nvPr/>
        </p:nvSpPr>
        <p:spPr>
          <a:xfrm>
            <a:off x="640080" y="1874519"/>
            <a:ext cx="13533120" cy="3154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Там, где бизнесу</a:t>
            </a:r>
          </a:p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нужны люди, —</a:t>
            </a:r>
          </a:p>
          <a:p>
            <a:pPr>
              <a:lnSpc>
                <a:spcPts val="6534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нужна Ventra.</a:t>
            </a:r>
          </a:p>
        </p:txBody>
      </p:sp>
      <p:sp>
        <p:nvSpPr>
          <p:cNvPr id="7" name="Colour field / FF6600"/>
          <p:cNvSpPr/>
          <p:nvPr/>
        </p:nvSpPr>
        <p:spPr>
          <a:xfrm>
            <a:off x="640080" y="5943600"/>
            <a:ext cx="82296" cy="105156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От ключевого назначения —&#10;до команды в нескол"/>
          <p:cNvSpPr txBox="1"/>
          <p:nvPr/>
        </p:nvSpPr>
        <p:spPr>
          <a:xfrm>
            <a:off x="960120" y="5961888"/>
            <a:ext cx="77724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0"/>
                </a:solidFill>
                <a:latin typeface="Manrope"/>
              </a:defRPr>
            </a:pPr>
            <a:r>
              <a:t>От ключевого назначения —</a:t>
            </a:r>
          </a:p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11110"/>
                </a:solidFill>
                <a:latin typeface="Manrope"/>
              </a:defRPr>
            </a:pPr>
            <a:r>
              <a:t>до команды в несколько тысяч человек.</a:t>
            </a:r>
          </a:p>
        </p:txBody>
      </p:sp>
      <p:pic>
        <p:nvPicPr>
          <p:cNvPr id="9" name="Image / image91.png" descr="image91.png"/>
          <p:cNvPicPr>
            <a:picLocks noChangeAspect="1"/>
          </p:cNvPicPr>
          <p:nvPr/>
        </p:nvPicPr>
        <p:blipFill>
          <a:blip r:embed="rId3"/>
          <a:srcRect t="13303" b="13303"/>
          <a:stretch>
            <a:fillRect/>
          </a:stretch>
        </p:blipFill>
        <p:spPr>
          <a:xfrm>
            <a:off x="10149840" y="5394960"/>
            <a:ext cx="3840480" cy="18745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ЭКОСИСТЕМ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ЭКОСИСТЕМА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6" name="Text / Одна система.&#10;Весь контур&#10;работы&#10;с людьми."/>
          <p:cNvSpPr txBox="1"/>
          <p:nvPr/>
        </p:nvSpPr>
        <p:spPr>
          <a:xfrm>
            <a:off x="640080" y="1691640"/>
            <a:ext cx="5669280" cy="3566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49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Одна система.</a:t>
            </a:r>
          </a:p>
          <a:p>
            <a:pPr>
              <a:lnSpc>
                <a:spcPts val="5049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Весь контур</a:t>
            </a:r>
          </a:p>
          <a:p>
            <a:pPr>
              <a:lnSpc>
                <a:spcPts val="5049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работы</a:t>
            </a:r>
          </a:p>
          <a:p>
            <a:pPr>
              <a:lnSpc>
                <a:spcPts val="5049"/>
              </a:lnSpc>
              <a:spcBef>
                <a:spcPts val="0"/>
              </a:spcBef>
              <a:spcAft>
                <a:spcPts val="0"/>
              </a:spcAft>
              <a:defRPr sz="5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с людьми.</a:t>
            </a:r>
          </a:p>
        </p:txBody>
      </p:sp>
      <p:sp>
        <p:nvSpPr>
          <p:cNvPr id="7" name="Text / ШЕСТЬ НАПРАВЛЕНИЙ. ОДИН ПАРТНЁР."/>
          <p:cNvSpPr txBox="1"/>
          <p:nvPr/>
        </p:nvSpPr>
        <p:spPr>
          <a:xfrm>
            <a:off x="640080" y="676656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ШЕСТЬ НАПРАВЛЕНИЙ. ОДИН ПАРТНЁР.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537960" y="17190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01"/>
          <p:cNvSpPr txBox="1"/>
          <p:nvPr/>
        </p:nvSpPr>
        <p:spPr>
          <a:xfrm>
            <a:off x="6537960" y="19202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0" name="Text / Подбор и HR-сервисы"/>
          <p:cNvSpPr txBox="1"/>
          <p:nvPr/>
        </p:nvSpPr>
        <p:spPr>
          <a:xfrm>
            <a:off x="7315200" y="184708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Подбор и HR-сервисы</a:t>
            </a:r>
          </a:p>
        </p:txBody>
      </p:sp>
      <p:sp>
        <p:nvSpPr>
          <p:cNvPr id="11" name="Text / Рекрутмент, Executive search, RPO, консалтинг"/>
          <p:cNvSpPr txBox="1"/>
          <p:nvPr/>
        </p:nvSpPr>
        <p:spPr>
          <a:xfrm>
            <a:off x="7315200" y="2304288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Рекрутмент, Executive search, RPO, консалтинг</a:t>
            </a:r>
          </a:p>
        </p:txBody>
      </p:sp>
      <p:sp>
        <p:nvSpPr>
          <p:cNvPr id="12" name="Colour field / FF6600"/>
          <p:cNvSpPr/>
          <p:nvPr/>
        </p:nvSpPr>
        <p:spPr>
          <a:xfrm>
            <a:off x="13825728" y="1901952"/>
            <a:ext cx="109728" cy="457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olour field / D2D2CB"/>
          <p:cNvSpPr/>
          <p:nvPr/>
        </p:nvSpPr>
        <p:spPr>
          <a:xfrm>
            <a:off x="6537960" y="26334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02"/>
          <p:cNvSpPr txBox="1"/>
          <p:nvPr/>
        </p:nvSpPr>
        <p:spPr>
          <a:xfrm>
            <a:off x="6537960" y="28346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5" name="Text / Административные функции"/>
          <p:cNvSpPr txBox="1"/>
          <p:nvPr/>
        </p:nvSpPr>
        <p:spPr>
          <a:xfrm>
            <a:off x="7315200" y="276148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Административные функции</a:t>
            </a:r>
          </a:p>
        </p:txBody>
      </p:sp>
      <p:sp>
        <p:nvSpPr>
          <p:cNvPr id="16" name="Text / Офис, закупки, поставщики и документы"/>
          <p:cNvSpPr txBox="1"/>
          <p:nvPr/>
        </p:nvSpPr>
        <p:spPr>
          <a:xfrm>
            <a:off x="7315200" y="3218688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Офис, закупки, поставщики и документы</a:t>
            </a:r>
          </a:p>
        </p:txBody>
      </p:sp>
      <p:sp>
        <p:nvSpPr>
          <p:cNvPr id="17" name="Colour field / FF6600"/>
          <p:cNvSpPr/>
          <p:nvPr/>
        </p:nvSpPr>
        <p:spPr>
          <a:xfrm>
            <a:off x="13825728" y="2816352"/>
            <a:ext cx="109728" cy="457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olour field / D2D2CB"/>
          <p:cNvSpPr/>
          <p:nvPr/>
        </p:nvSpPr>
        <p:spPr>
          <a:xfrm>
            <a:off x="6537960" y="35478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/ 03"/>
          <p:cNvSpPr txBox="1"/>
          <p:nvPr/>
        </p:nvSpPr>
        <p:spPr>
          <a:xfrm>
            <a:off x="6537960" y="3749039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20" name="Text / Продажи"/>
          <p:cNvSpPr txBox="1"/>
          <p:nvPr/>
        </p:nvSpPr>
        <p:spPr>
          <a:xfrm>
            <a:off x="7315200" y="3675887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Продажи</a:t>
            </a:r>
          </a:p>
        </p:txBody>
      </p:sp>
      <p:sp>
        <p:nvSpPr>
          <p:cNvPr id="21" name="Text / Розница, field force, мерчандайзинг, BTL"/>
          <p:cNvSpPr txBox="1"/>
          <p:nvPr/>
        </p:nvSpPr>
        <p:spPr>
          <a:xfrm>
            <a:off x="7315200" y="4133087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Розница, field force, мерчандайзинг, BTL</a:t>
            </a:r>
          </a:p>
        </p:txBody>
      </p:sp>
      <p:sp>
        <p:nvSpPr>
          <p:cNvPr id="22" name="Colour field / FF3333"/>
          <p:cNvSpPr/>
          <p:nvPr/>
        </p:nvSpPr>
        <p:spPr>
          <a:xfrm>
            <a:off x="13825728" y="3730752"/>
            <a:ext cx="109728" cy="4572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our field / D2D2CB"/>
          <p:cNvSpPr/>
          <p:nvPr/>
        </p:nvSpPr>
        <p:spPr>
          <a:xfrm>
            <a:off x="6537960" y="44622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 / 04"/>
          <p:cNvSpPr txBox="1"/>
          <p:nvPr/>
        </p:nvSpPr>
        <p:spPr>
          <a:xfrm>
            <a:off x="6537960" y="46634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5" name="Text / Производство и склад"/>
          <p:cNvSpPr txBox="1"/>
          <p:nvPr/>
        </p:nvSpPr>
        <p:spPr>
          <a:xfrm>
            <a:off x="7315200" y="459028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Производство и склад</a:t>
            </a:r>
          </a:p>
        </p:txBody>
      </p:sp>
      <p:sp>
        <p:nvSpPr>
          <p:cNvPr id="26" name="Text / Процессы, логистика, вахта и клининг"/>
          <p:cNvSpPr txBox="1"/>
          <p:nvPr/>
        </p:nvSpPr>
        <p:spPr>
          <a:xfrm>
            <a:off x="7315200" y="5047488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Процессы, логистика, вахта и клининг</a:t>
            </a:r>
          </a:p>
        </p:txBody>
      </p:sp>
      <p:sp>
        <p:nvSpPr>
          <p:cNvPr id="27" name="Colour field / FF3333"/>
          <p:cNvSpPr/>
          <p:nvPr/>
        </p:nvSpPr>
        <p:spPr>
          <a:xfrm>
            <a:off x="13825728" y="4645152"/>
            <a:ext cx="109728" cy="4572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olour field / D2D2CB"/>
          <p:cNvSpPr/>
          <p:nvPr/>
        </p:nvSpPr>
        <p:spPr>
          <a:xfrm>
            <a:off x="6537960" y="53766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/ 05"/>
          <p:cNvSpPr txBox="1"/>
          <p:nvPr/>
        </p:nvSpPr>
        <p:spPr>
          <a:xfrm>
            <a:off x="6537960" y="5577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30" name="Text / ИТ"/>
          <p:cNvSpPr txBox="1"/>
          <p:nvPr/>
        </p:nvSpPr>
        <p:spPr>
          <a:xfrm>
            <a:off x="7315200" y="550468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ИТ</a:t>
            </a:r>
          </a:p>
        </p:txBody>
      </p:sp>
      <p:sp>
        <p:nvSpPr>
          <p:cNvPr id="31" name="Text / Разработка, ИТ-команды и 1С-консалтинг"/>
          <p:cNvSpPr txBox="1"/>
          <p:nvPr/>
        </p:nvSpPr>
        <p:spPr>
          <a:xfrm>
            <a:off x="7315200" y="5961888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Разработка, ИТ-команды и 1С-консалтинг</a:t>
            </a:r>
          </a:p>
        </p:txBody>
      </p:sp>
      <p:sp>
        <p:nvSpPr>
          <p:cNvPr id="32" name="Colour field / FFCC00"/>
          <p:cNvSpPr/>
          <p:nvPr/>
        </p:nvSpPr>
        <p:spPr>
          <a:xfrm>
            <a:off x="13825728" y="5559552"/>
            <a:ext cx="109728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olour field / D2D2CB"/>
          <p:cNvSpPr/>
          <p:nvPr/>
        </p:nvSpPr>
        <p:spPr>
          <a:xfrm>
            <a:off x="6537960" y="6291072"/>
            <a:ext cx="74066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 / 06"/>
          <p:cNvSpPr txBox="1"/>
          <p:nvPr/>
        </p:nvSpPr>
        <p:spPr>
          <a:xfrm>
            <a:off x="6537960" y="64922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5" name="Text / Ventra Go!"/>
          <p:cNvSpPr txBox="1"/>
          <p:nvPr/>
        </p:nvSpPr>
        <p:spPr>
          <a:xfrm>
            <a:off x="7315200" y="6419088"/>
            <a:ext cx="6035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Ventra Go!</a:t>
            </a:r>
          </a:p>
        </p:txBody>
      </p:sp>
      <p:sp>
        <p:nvSpPr>
          <p:cNvPr id="36" name="Text / Платформенная и гибкая занятость"/>
          <p:cNvSpPr txBox="1"/>
          <p:nvPr/>
        </p:nvSpPr>
        <p:spPr>
          <a:xfrm>
            <a:off x="7315200" y="6876288"/>
            <a:ext cx="62179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96A65"/>
                </a:solidFill>
                <a:latin typeface="Manrope"/>
              </a:defRPr>
            </a:pPr>
            <a:r>
              <a:t>Платформенная и гибкая занятость</a:t>
            </a:r>
          </a:p>
        </p:txBody>
      </p:sp>
      <p:sp>
        <p:nvSpPr>
          <p:cNvPr id="37" name="Colour field / 66CC00"/>
          <p:cNvSpPr/>
          <p:nvPr/>
        </p:nvSpPr>
        <p:spPr>
          <a:xfrm>
            <a:off x="13825728" y="6473952"/>
            <a:ext cx="109728" cy="457200"/>
          </a:xfrm>
          <a:prstGeom prst="rect">
            <a:avLst/>
          </a:prstGeom>
          <a:solidFill>
            <a:srgbClr val="66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МАСШТАБ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МАСШТАБ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6" name="Text / 25"/>
          <p:cNvSpPr txBox="1"/>
          <p:nvPr/>
        </p:nvSpPr>
        <p:spPr>
          <a:xfrm>
            <a:off x="347472" y="1463040"/>
            <a:ext cx="758952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225"/>
              </a:lnSpc>
              <a:spcBef>
                <a:spcPts val="0"/>
              </a:spcBef>
              <a:spcAft>
                <a:spcPts val="0"/>
              </a:spcAft>
              <a:defRPr sz="25500" b="1">
                <a:solidFill>
                  <a:srgbClr val="FFFFFF"/>
                </a:solidFill>
                <a:latin typeface="Manrope"/>
              </a:defRPr>
            </a:pPr>
            <a:r>
              <a:rPr spc="-1000"/>
              <a:t>25</a:t>
            </a:r>
          </a:p>
        </p:txBody>
      </p:sp>
      <p:sp>
        <p:nvSpPr>
          <p:cNvPr id="7" name="Text / лет на рынке"/>
          <p:cNvSpPr txBox="1"/>
          <p:nvPr/>
        </p:nvSpPr>
        <p:spPr>
          <a:xfrm>
            <a:off x="731520" y="4937760"/>
            <a:ext cx="6583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0">
                <a:solidFill>
                  <a:srgbClr val="FFFFFF"/>
                </a:solidFill>
                <a:latin typeface="Manrope"/>
              </a:defRPr>
            </a:pPr>
            <a:r>
              <a:t>лет на рынке</a:t>
            </a:r>
          </a:p>
        </p:txBody>
      </p:sp>
      <p:sp>
        <p:nvSpPr>
          <p:cNvPr id="8" name="Colour field / 44443F"/>
          <p:cNvSpPr/>
          <p:nvPr/>
        </p:nvSpPr>
        <p:spPr>
          <a:xfrm>
            <a:off x="8503920" y="1691640"/>
            <a:ext cx="544068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850+"/>
          <p:cNvSpPr txBox="1"/>
          <p:nvPr/>
        </p:nvSpPr>
        <p:spPr>
          <a:xfrm>
            <a:off x="8503920" y="1929384"/>
            <a:ext cx="5394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5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rPr spc="-100"/>
              <a:t>850+</a:t>
            </a:r>
          </a:p>
        </p:txBody>
      </p:sp>
      <p:sp>
        <p:nvSpPr>
          <p:cNvPr id="10" name="Text / клиентов — крупнейших компаний"/>
          <p:cNvSpPr txBox="1"/>
          <p:nvPr/>
        </p:nvSpPr>
        <p:spPr>
          <a:xfrm>
            <a:off x="8503920" y="2788920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клиентов — крупнейших компаний</a:t>
            </a:r>
          </a:p>
        </p:txBody>
      </p:sp>
      <p:sp>
        <p:nvSpPr>
          <p:cNvPr id="11" name="Colour field / 44443F"/>
          <p:cNvSpPr/>
          <p:nvPr/>
        </p:nvSpPr>
        <p:spPr>
          <a:xfrm>
            <a:off x="8503920" y="3429000"/>
            <a:ext cx="544068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42"/>
          <p:cNvSpPr txBox="1"/>
          <p:nvPr/>
        </p:nvSpPr>
        <p:spPr>
          <a:xfrm>
            <a:off x="8503920" y="3666744"/>
            <a:ext cx="5394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5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rPr spc="-100"/>
              <a:t>42</a:t>
            </a:r>
          </a:p>
        </p:txBody>
      </p:sp>
      <p:sp>
        <p:nvSpPr>
          <p:cNvPr id="13" name="Text / города: офисы и инфраструктура"/>
          <p:cNvSpPr txBox="1"/>
          <p:nvPr/>
        </p:nvSpPr>
        <p:spPr>
          <a:xfrm>
            <a:off x="8503920" y="4526280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города: офисы и инфраструктура</a:t>
            </a:r>
          </a:p>
        </p:txBody>
      </p:sp>
      <p:sp>
        <p:nvSpPr>
          <p:cNvPr id="14" name="Colour field / 44443F"/>
          <p:cNvSpPr/>
          <p:nvPr/>
        </p:nvSpPr>
        <p:spPr>
          <a:xfrm>
            <a:off x="8503920" y="5166360"/>
            <a:ext cx="544068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/ 10 000+"/>
          <p:cNvSpPr txBox="1"/>
          <p:nvPr/>
        </p:nvSpPr>
        <p:spPr>
          <a:xfrm>
            <a:off x="8503920" y="5404104"/>
            <a:ext cx="53949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5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rPr spc="-100"/>
              <a:t>10 000+</a:t>
            </a:r>
          </a:p>
        </p:txBody>
      </p:sp>
      <p:sp>
        <p:nvSpPr>
          <p:cNvPr id="16" name="Text / трудоустроенных в год"/>
          <p:cNvSpPr txBox="1"/>
          <p:nvPr/>
        </p:nvSpPr>
        <p:spPr>
          <a:xfrm>
            <a:off x="8503920" y="6263640"/>
            <a:ext cx="53949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Manrope"/>
              </a:defRPr>
            </a:pPr>
            <a:r>
              <a:t>трудоустроенных в год</a:t>
            </a:r>
          </a:p>
        </p:txBody>
      </p:sp>
      <p:sp>
        <p:nvSpPr>
          <p:cNvPr id="17" name="Text / В 2022 году Ventra приобрела бизнес Kelly в Р"/>
          <p:cNvSpPr txBox="1"/>
          <p:nvPr/>
        </p:nvSpPr>
        <p:spPr>
          <a:xfrm>
            <a:off x="731520" y="6537960"/>
            <a:ext cx="96012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1B2A8"/>
                </a:solidFill>
                <a:latin typeface="Manrope"/>
              </a:defRPr>
            </a:pPr>
            <a:r>
              <a:t>В 2022 году Ventra приобрела бизнес Kelly в России,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B1B2A8"/>
                </a:solidFill>
                <a:latin typeface="Manrope"/>
              </a:defRPr>
            </a:pPr>
            <a:r>
              <a:t>объединив команды в HR и аутсорсинге.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ОМАНДА И ПЛАТФОРМ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КОМАНДА И ПЛАТФОРМА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6" name="Text / За масштабом —&#10;люди."/>
          <p:cNvSpPr txBox="1"/>
          <p:nvPr/>
        </p:nvSpPr>
        <p:spPr>
          <a:xfrm>
            <a:off x="640080" y="1691640"/>
            <a:ext cx="1325880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45"/>
              </a:lnSpc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За масштабом —</a:t>
            </a:r>
          </a:p>
          <a:p>
            <a:pPr>
              <a:lnSpc>
                <a:spcPts val="5445"/>
              </a:lnSpc>
              <a:spcBef>
                <a:spcPts val="0"/>
              </a:spcBef>
              <a:spcAft>
                <a:spcPts val="0"/>
              </a:spcAft>
              <a:defRPr sz="5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люди.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70332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900"/>
          <p:cNvSpPr txBox="1"/>
          <p:nvPr/>
        </p:nvSpPr>
        <p:spPr>
          <a:xfrm>
            <a:off x="640080" y="4160520"/>
            <a:ext cx="429768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70"/>
              <a:t>900</a:t>
            </a:r>
          </a:p>
        </p:txBody>
      </p:sp>
      <p:sp>
        <p:nvSpPr>
          <p:cNvPr id="9" name="Text / сотрудников&#10;внутренней команды"/>
          <p:cNvSpPr txBox="1"/>
          <p:nvPr/>
        </p:nvSpPr>
        <p:spPr>
          <a:xfrm>
            <a:off x="640080" y="5715000"/>
            <a:ext cx="4114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сотрудников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внутренней команды</a:t>
            </a:r>
          </a:p>
        </p:txBody>
      </p:sp>
      <p:sp>
        <p:nvSpPr>
          <p:cNvPr id="10" name="Colour field / FF6600"/>
          <p:cNvSpPr/>
          <p:nvPr/>
        </p:nvSpPr>
        <p:spPr>
          <a:xfrm>
            <a:off x="640080" y="7086600"/>
            <a:ext cx="2743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olour field / D2D2CB"/>
          <p:cNvSpPr/>
          <p:nvPr/>
        </p:nvSpPr>
        <p:spPr>
          <a:xfrm>
            <a:off x="5212080" y="370332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15 000"/>
          <p:cNvSpPr txBox="1"/>
          <p:nvPr/>
        </p:nvSpPr>
        <p:spPr>
          <a:xfrm>
            <a:off x="5212080" y="4160520"/>
            <a:ext cx="429768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70"/>
              <a:t>15 000</a:t>
            </a:r>
          </a:p>
        </p:txBody>
      </p:sp>
      <p:sp>
        <p:nvSpPr>
          <p:cNvPr id="13" name="Text / работников&#10;на проектах"/>
          <p:cNvSpPr txBox="1"/>
          <p:nvPr/>
        </p:nvSpPr>
        <p:spPr>
          <a:xfrm>
            <a:off x="5212080" y="5715000"/>
            <a:ext cx="4114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работников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на проектах</a:t>
            </a:r>
          </a:p>
        </p:txBody>
      </p:sp>
      <p:sp>
        <p:nvSpPr>
          <p:cNvPr id="14" name="Colour field / FF3333"/>
          <p:cNvSpPr/>
          <p:nvPr/>
        </p:nvSpPr>
        <p:spPr>
          <a:xfrm>
            <a:off x="5212080" y="7086600"/>
            <a:ext cx="274320" cy="73152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lour field / D2D2CB"/>
          <p:cNvSpPr/>
          <p:nvPr/>
        </p:nvSpPr>
        <p:spPr>
          <a:xfrm>
            <a:off x="9784080" y="370332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2 млн"/>
          <p:cNvSpPr txBox="1"/>
          <p:nvPr/>
        </p:nvSpPr>
        <p:spPr>
          <a:xfrm>
            <a:off x="9784080" y="4160520"/>
            <a:ext cx="429768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111110"/>
                </a:solidFill>
                <a:latin typeface="Manrope"/>
              </a:defRPr>
            </a:pPr>
            <a:r>
              <a:rPr spc="-170"/>
              <a:t>2 млн</a:t>
            </a:r>
          </a:p>
        </p:txBody>
      </p:sp>
      <p:sp>
        <p:nvSpPr>
          <p:cNvPr id="17" name="Text / исполнителей&#10;на Ventra Go!"/>
          <p:cNvSpPr txBox="1"/>
          <p:nvPr/>
        </p:nvSpPr>
        <p:spPr>
          <a:xfrm>
            <a:off x="9784080" y="5715000"/>
            <a:ext cx="4114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исполнителей</a:t>
            </a:r>
          </a:p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696A65"/>
                </a:solidFill>
                <a:latin typeface="Manrope"/>
              </a:defRPr>
            </a:pPr>
            <a:r>
              <a:t>на Ventra Go!</a:t>
            </a:r>
          </a:p>
        </p:txBody>
      </p:sp>
      <p:sp>
        <p:nvSpPr>
          <p:cNvPr id="18" name="Colour field / 66CC00"/>
          <p:cNvSpPr/>
          <p:nvPr/>
        </p:nvSpPr>
        <p:spPr>
          <a:xfrm>
            <a:off x="9784080" y="7086600"/>
            <a:ext cx="274320" cy="73152"/>
          </a:xfrm>
          <a:prstGeom prst="rect">
            <a:avLst/>
          </a:prstGeom>
          <a:solidFill>
            <a:srgbClr val="66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ДХОД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ПОДХОД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6" name="Text / От задачи —&#10;к результату."/>
          <p:cNvSpPr txBox="1"/>
          <p:nvPr/>
        </p:nvSpPr>
        <p:spPr>
          <a:xfrm>
            <a:off x="640080" y="1691640"/>
            <a:ext cx="612648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От задачи —</a:t>
            </a:r>
          </a:p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к результату.</a:t>
            </a:r>
          </a:p>
        </p:txBody>
      </p:sp>
      <p:sp>
        <p:nvSpPr>
          <p:cNvPr id="7" name="Text / SLA / KPI"/>
          <p:cNvSpPr txBox="1"/>
          <p:nvPr/>
        </p:nvSpPr>
        <p:spPr>
          <a:xfrm>
            <a:off x="640080" y="5212080"/>
            <a:ext cx="57607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488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6600"/>
                </a:solidFill>
                <a:latin typeface="Manrope"/>
              </a:defRPr>
            </a:pPr>
            <a:r>
              <a:rPr spc="-120"/>
              <a:t>SLA / KPI</a:t>
            </a:r>
          </a:p>
        </p:txBody>
      </p:sp>
      <p:sp>
        <p:nvSpPr>
          <p:cNvPr id="8" name="Text / Ответственность —&#10;в измеримых целях."/>
          <p:cNvSpPr txBox="1"/>
          <p:nvPr/>
        </p:nvSpPr>
        <p:spPr>
          <a:xfrm>
            <a:off x="640080" y="6400800"/>
            <a:ext cx="54864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96A65"/>
                </a:solidFill>
                <a:latin typeface="Manrope"/>
              </a:defRPr>
            </a:pPr>
            <a:r>
              <a:t>Ответственность —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96A65"/>
                </a:solidFill>
                <a:latin typeface="Manrope"/>
              </a:defRPr>
            </a:pPr>
            <a:r>
              <a:t>в измеримых целях.</a:t>
            </a:r>
          </a:p>
        </p:txBody>
      </p:sp>
      <p:sp>
        <p:nvSpPr>
          <p:cNvPr id="9" name="Colour field / D2D2CB"/>
          <p:cNvSpPr/>
          <p:nvPr/>
        </p:nvSpPr>
        <p:spPr>
          <a:xfrm>
            <a:off x="6949440" y="179222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01"/>
          <p:cNvSpPr txBox="1"/>
          <p:nvPr/>
        </p:nvSpPr>
        <p:spPr>
          <a:xfrm>
            <a:off x="6949440" y="196596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1" name="Text / Качество"/>
          <p:cNvSpPr txBox="1"/>
          <p:nvPr/>
        </p:nvSpPr>
        <p:spPr>
          <a:xfrm>
            <a:off x="6949440" y="2377440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Качество</a:t>
            </a:r>
          </a:p>
        </p:txBody>
      </p:sp>
      <p:sp>
        <p:nvSpPr>
          <p:cNvPr id="12" name="Text / Работаем по SLA и KPI, отвечаем за бизнес-цел"/>
          <p:cNvSpPr txBox="1"/>
          <p:nvPr/>
        </p:nvSpPr>
        <p:spPr>
          <a:xfrm>
            <a:off x="6949440" y="2907791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Работаем по SLA и KPI, отвечаем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за бизнес-цели.</a:t>
            </a:r>
          </a:p>
        </p:txBody>
      </p:sp>
      <p:sp>
        <p:nvSpPr>
          <p:cNvPr id="13" name="Colour field / D2D2CB"/>
          <p:cNvSpPr/>
          <p:nvPr/>
        </p:nvSpPr>
        <p:spPr>
          <a:xfrm>
            <a:off x="10561320" y="179222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02"/>
          <p:cNvSpPr txBox="1"/>
          <p:nvPr/>
        </p:nvSpPr>
        <p:spPr>
          <a:xfrm>
            <a:off x="10561320" y="196596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5" name="Text / Безопасность"/>
          <p:cNvSpPr txBox="1"/>
          <p:nvPr/>
        </p:nvSpPr>
        <p:spPr>
          <a:xfrm>
            <a:off x="10561320" y="2377440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Безопасность</a:t>
            </a:r>
          </a:p>
        </p:txBody>
      </p:sp>
      <p:sp>
        <p:nvSpPr>
          <p:cNvPr id="16" name="Text / Берём на себя юридический контур работы с пер"/>
          <p:cNvSpPr txBox="1"/>
          <p:nvPr/>
        </p:nvSpPr>
        <p:spPr>
          <a:xfrm>
            <a:off x="10561320" y="2907791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Берём на себя юридический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контур работы с персоналом.</a:t>
            </a:r>
          </a:p>
        </p:txBody>
      </p:sp>
      <p:sp>
        <p:nvSpPr>
          <p:cNvPr id="17" name="Colour field / D2D2CB"/>
          <p:cNvSpPr/>
          <p:nvPr/>
        </p:nvSpPr>
        <p:spPr>
          <a:xfrm>
            <a:off x="6949440" y="366674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/ 03"/>
          <p:cNvSpPr txBox="1"/>
          <p:nvPr/>
        </p:nvSpPr>
        <p:spPr>
          <a:xfrm>
            <a:off x="6949440" y="384048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9" name="Text / Экспертиза"/>
          <p:cNvSpPr txBox="1"/>
          <p:nvPr/>
        </p:nvSpPr>
        <p:spPr>
          <a:xfrm>
            <a:off x="6949440" y="4251959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Экспертиза</a:t>
            </a:r>
          </a:p>
        </p:txBody>
      </p:sp>
      <p:sp>
        <p:nvSpPr>
          <p:cNvPr id="20" name="Text / Доступ к сильным кандидатам и знанию рынка."/>
          <p:cNvSpPr txBox="1"/>
          <p:nvPr/>
        </p:nvSpPr>
        <p:spPr>
          <a:xfrm>
            <a:off x="6949440" y="4782312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Доступ к сильным кандидатам и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знанию рынка.</a:t>
            </a:r>
          </a:p>
        </p:txBody>
      </p:sp>
      <p:sp>
        <p:nvSpPr>
          <p:cNvPr id="21" name="Colour field / D2D2CB"/>
          <p:cNvSpPr/>
          <p:nvPr/>
        </p:nvSpPr>
        <p:spPr>
          <a:xfrm>
            <a:off x="10561320" y="366674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/ 04"/>
          <p:cNvSpPr txBox="1"/>
          <p:nvPr/>
        </p:nvSpPr>
        <p:spPr>
          <a:xfrm>
            <a:off x="10561320" y="384048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3" name="Text / Партнёрство"/>
          <p:cNvSpPr txBox="1"/>
          <p:nvPr/>
        </p:nvSpPr>
        <p:spPr>
          <a:xfrm>
            <a:off x="10561320" y="4251959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Партнёрство</a:t>
            </a:r>
          </a:p>
        </p:txBody>
      </p:sp>
      <p:sp>
        <p:nvSpPr>
          <p:cNvPr id="24" name="Text / От C-level и ИТ до платформенной занятости."/>
          <p:cNvSpPr txBox="1"/>
          <p:nvPr/>
        </p:nvSpPr>
        <p:spPr>
          <a:xfrm>
            <a:off x="10561320" y="4782312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От C-level и ИТ до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платформенной занятости.</a:t>
            </a:r>
          </a:p>
        </p:txBody>
      </p:sp>
      <p:sp>
        <p:nvSpPr>
          <p:cNvPr id="25" name="Colour field / D2D2CB"/>
          <p:cNvSpPr/>
          <p:nvPr/>
        </p:nvSpPr>
        <p:spPr>
          <a:xfrm>
            <a:off x="6949440" y="554126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 / 05"/>
          <p:cNvSpPr txBox="1"/>
          <p:nvPr/>
        </p:nvSpPr>
        <p:spPr>
          <a:xfrm>
            <a:off x="6949440" y="571500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27" name="Text / Скорость"/>
          <p:cNvSpPr txBox="1"/>
          <p:nvPr/>
        </p:nvSpPr>
        <p:spPr>
          <a:xfrm>
            <a:off x="6949440" y="6126479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Скорость</a:t>
            </a:r>
          </a:p>
        </p:txBody>
      </p:sp>
      <p:sp>
        <p:nvSpPr>
          <p:cNvPr id="28" name="Text / Формируем и масштабируем команды быстрее рынк"/>
          <p:cNvSpPr txBox="1"/>
          <p:nvPr/>
        </p:nvSpPr>
        <p:spPr>
          <a:xfrm>
            <a:off x="6949440" y="6656831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Формируем и масштабируем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команды быстрее рынка.</a:t>
            </a:r>
          </a:p>
        </p:txBody>
      </p:sp>
      <p:sp>
        <p:nvSpPr>
          <p:cNvPr id="29" name="Colour field / D2D2CB"/>
          <p:cNvSpPr/>
          <p:nvPr/>
        </p:nvSpPr>
        <p:spPr>
          <a:xfrm>
            <a:off x="10561320" y="5541264"/>
            <a:ext cx="338328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/ 06"/>
          <p:cNvSpPr txBox="1"/>
          <p:nvPr/>
        </p:nvSpPr>
        <p:spPr>
          <a:xfrm>
            <a:off x="10561320" y="571500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1" name="Text / Масштаб"/>
          <p:cNvSpPr txBox="1"/>
          <p:nvPr/>
        </p:nvSpPr>
        <p:spPr>
          <a:xfrm>
            <a:off x="10561320" y="6126479"/>
            <a:ext cx="3383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Масштаб</a:t>
            </a:r>
          </a:p>
        </p:txBody>
      </p:sp>
      <p:sp>
        <p:nvSpPr>
          <p:cNvPr id="32" name="Text / От одной позиции до нескольких тысяч сотрудни"/>
          <p:cNvSpPr txBox="1"/>
          <p:nvPr/>
        </p:nvSpPr>
        <p:spPr>
          <a:xfrm>
            <a:off x="10561320" y="6656831"/>
            <a:ext cx="32461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От одной позиции до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696A65"/>
                </a:solidFill>
                <a:latin typeface="Manrope"/>
              </a:defRPr>
            </a:pPr>
            <a:r>
              <a:t>нескольких тысяч сотрудников.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ГЕОГРАФИЯ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ГЕОГРАФИЯ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6" name="Text / Возможности&#10;шире границ."/>
          <p:cNvSpPr txBox="1"/>
          <p:nvPr/>
        </p:nvSpPr>
        <p:spPr>
          <a:xfrm>
            <a:off x="640080" y="1737360"/>
            <a:ext cx="65836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51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Возможности</a:t>
            </a:r>
          </a:p>
          <a:p>
            <a:pPr>
              <a:lnSpc>
                <a:spcPts val="4851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шире границ.</a:t>
            </a:r>
          </a:p>
        </p:txBody>
      </p:sp>
      <p:sp>
        <p:nvSpPr>
          <p:cNvPr id="7" name="Freeform 6"/>
          <p:cNvSpPr/>
          <p:nvPr/>
        </p:nvSpPr>
        <p:spPr>
          <a:xfrm>
            <a:off x="5212080" y="3154680"/>
            <a:ext cx="192028" cy="76827"/>
          </a:xfrm>
          <a:custGeom>
            <a:avLst/>
            <a:gdLst/>
            <a:ahLst/>
            <a:cxnLst/>
            <a:rect l="l" t="t" r="r" b="b"/>
            <a:pathLst>
              <a:path w="192028" h="76827">
                <a:moveTo>
                  <a:pt x="0" y="0"/>
                </a:moveTo>
                <a:lnTo>
                  <a:pt x="181528" y="0"/>
                </a:lnTo>
                <a:lnTo>
                  <a:pt x="192028" y="2645"/>
                </a:lnTo>
                <a:lnTo>
                  <a:pt x="55669" y="26360"/>
                </a:lnTo>
                <a:lnTo>
                  <a:pt x="25560" y="70712"/>
                </a:lnTo>
                <a:lnTo>
                  <a:pt x="0" y="7682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212080" y="3625640"/>
            <a:ext cx="720326" cy="167439"/>
          </a:xfrm>
          <a:custGeom>
            <a:avLst/>
            <a:gdLst/>
            <a:ahLst/>
            <a:cxnLst/>
            <a:rect l="l" t="t" r="r" b="b"/>
            <a:pathLst>
              <a:path w="720326" h="167439">
                <a:moveTo>
                  <a:pt x="709901" y="98077"/>
                </a:moveTo>
                <a:lnTo>
                  <a:pt x="617703" y="122255"/>
                </a:lnTo>
                <a:lnTo>
                  <a:pt x="573941" y="127808"/>
                </a:lnTo>
                <a:lnTo>
                  <a:pt x="596897" y="85518"/>
                </a:lnTo>
                <a:lnTo>
                  <a:pt x="527360" y="61549"/>
                </a:lnTo>
                <a:lnTo>
                  <a:pt x="443226" y="81974"/>
                </a:lnTo>
                <a:lnTo>
                  <a:pt x="416652" y="126161"/>
                </a:lnTo>
                <a:lnTo>
                  <a:pt x="364983" y="152832"/>
                </a:lnTo>
                <a:lnTo>
                  <a:pt x="306807" y="138266"/>
                </a:lnTo>
                <a:lnTo>
                  <a:pt x="236050" y="141250"/>
                </a:lnTo>
                <a:lnTo>
                  <a:pt x="175832" y="109387"/>
                </a:lnTo>
                <a:lnTo>
                  <a:pt x="143355" y="125309"/>
                </a:lnTo>
                <a:lnTo>
                  <a:pt x="109742" y="127786"/>
                </a:lnTo>
                <a:lnTo>
                  <a:pt x="101792" y="167439"/>
                </a:lnTo>
                <a:lnTo>
                  <a:pt x="0" y="157816"/>
                </a:lnTo>
                <a:lnTo>
                  <a:pt x="0" y="115015"/>
                </a:lnTo>
                <a:lnTo>
                  <a:pt x="64158" y="82447"/>
                </a:lnTo>
                <a:lnTo>
                  <a:pt x="183065" y="56067"/>
                </a:lnTo>
                <a:lnTo>
                  <a:pt x="272219" y="59267"/>
                </a:lnTo>
                <a:lnTo>
                  <a:pt x="354735" y="9340"/>
                </a:lnTo>
                <a:lnTo>
                  <a:pt x="453545" y="12006"/>
                </a:lnTo>
                <a:lnTo>
                  <a:pt x="550837" y="0"/>
                </a:lnTo>
                <a:lnTo>
                  <a:pt x="720326" y="44096"/>
                </a:lnTo>
                <a:lnTo>
                  <a:pt x="650534" y="60220"/>
                </a:lnTo>
                <a:lnTo>
                  <a:pt x="709901" y="9807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359793" y="3187529"/>
            <a:ext cx="216644" cy="60870"/>
          </a:xfrm>
          <a:custGeom>
            <a:avLst/>
            <a:gdLst/>
            <a:ahLst/>
            <a:cxnLst/>
            <a:rect l="l" t="t" r="r" b="b"/>
            <a:pathLst>
              <a:path w="216644" h="60870">
                <a:moveTo>
                  <a:pt x="216644" y="36226"/>
                </a:moveTo>
                <a:lnTo>
                  <a:pt x="95602" y="60870"/>
                </a:lnTo>
                <a:lnTo>
                  <a:pt x="0" y="46882"/>
                </a:lnTo>
                <a:lnTo>
                  <a:pt x="37394" y="31333"/>
                </a:lnTo>
                <a:lnTo>
                  <a:pt x="4654" y="12072"/>
                </a:lnTo>
                <a:lnTo>
                  <a:pt x="116948" y="0"/>
                </a:lnTo>
                <a:lnTo>
                  <a:pt x="138465" y="22624"/>
                </a:lnTo>
                <a:lnTo>
                  <a:pt x="216644" y="36226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468539" y="5662686"/>
            <a:ext cx="268992" cy="143754"/>
          </a:xfrm>
          <a:custGeom>
            <a:avLst/>
            <a:gdLst/>
            <a:ahLst/>
            <a:cxnLst/>
            <a:rect l="l" t="t" r="r" b="b"/>
            <a:pathLst>
              <a:path w="268992" h="143754">
                <a:moveTo>
                  <a:pt x="0" y="143754"/>
                </a:moveTo>
                <a:lnTo>
                  <a:pt x="10640" y="105887"/>
                </a:lnTo>
                <a:lnTo>
                  <a:pt x="5532" y="61861"/>
                </a:lnTo>
                <a:lnTo>
                  <a:pt x="35192" y="46973"/>
                </a:lnTo>
                <a:lnTo>
                  <a:pt x="62964" y="9365"/>
                </a:lnTo>
                <a:lnTo>
                  <a:pt x="86239" y="0"/>
                </a:lnTo>
                <a:lnTo>
                  <a:pt x="149265" y="7777"/>
                </a:lnTo>
                <a:lnTo>
                  <a:pt x="168295" y="23128"/>
                </a:lnTo>
                <a:lnTo>
                  <a:pt x="194263" y="12947"/>
                </a:lnTo>
                <a:lnTo>
                  <a:pt x="229372" y="84839"/>
                </a:lnTo>
                <a:lnTo>
                  <a:pt x="264904" y="102929"/>
                </a:lnTo>
                <a:lnTo>
                  <a:pt x="268992" y="138133"/>
                </a:lnTo>
                <a:lnTo>
                  <a:pt x="261622" y="143754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1323252" y="5371309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0970260" y="5325182"/>
            <a:ext cx="352991" cy="320400"/>
          </a:xfrm>
          <a:custGeom>
            <a:avLst/>
            <a:gdLst/>
            <a:ahLst/>
            <a:cxnLst/>
            <a:rect l="l" t="t" r="r" b="b"/>
            <a:pathLst>
              <a:path w="352991" h="320400">
                <a:moveTo>
                  <a:pt x="345406" y="35580"/>
                </a:moveTo>
                <a:lnTo>
                  <a:pt x="345406" y="35581"/>
                </a:lnTo>
                <a:lnTo>
                  <a:pt x="352991" y="46127"/>
                </a:lnTo>
                <a:lnTo>
                  <a:pt x="332403" y="42512"/>
                </a:lnTo>
                <a:lnTo>
                  <a:pt x="308881" y="62920"/>
                </a:lnTo>
                <a:lnTo>
                  <a:pt x="292702" y="83427"/>
                </a:lnTo>
                <a:lnTo>
                  <a:pt x="294751" y="126716"/>
                </a:lnTo>
                <a:lnTo>
                  <a:pt x="266733" y="140036"/>
                </a:lnTo>
                <a:lnTo>
                  <a:pt x="257103" y="150665"/>
                </a:lnTo>
                <a:lnTo>
                  <a:pt x="236673" y="168480"/>
                </a:lnTo>
                <a:lnTo>
                  <a:pt x="200587" y="178390"/>
                </a:lnTo>
                <a:lnTo>
                  <a:pt x="177071" y="194575"/>
                </a:lnTo>
                <a:lnTo>
                  <a:pt x="175374" y="220666"/>
                </a:lnTo>
                <a:lnTo>
                  <a:pt x="169052" y="227323"/>
                </a:lnTo>
                <a:lnTo>
                  <a:pt x="190613" y="237121"/>
                </a:lnTo>
                <a:lnTo>
                  <a:pt x="221303" y="263557"/>
                </a:lnTo>
                <a:lnTo>
                  <a:pt x="213502" y="278133"/>
                </a:lnTo>
                <a:lnTo>
                  <a:pt x="190434" y="282102"/>
                </a:lnTo>
                <a:lnTo>
                  <a:pt x="152139" y="285020"/>
                </a:lnTo>
                <a:lnTo>
                  <a:pt x="131028" y="312221"/>
                </a:lnTo>
                <a:lnTo>
                  <a:pt x="106840" y="310076"/>
                </a:lnTo>
                <a:lnTo>
                  <a:pt x="103449" y="315541"/>
                </a:lnTo>
                <a:lnTo>
                  <a:pt x="77133" y="304071"/>
                </a:lnTo>
                <a:lnTo>
                  <a:pt x="70595" y="315397"/>
                </a:lnTo>
                <a:lnTo>
                  <a:pt x="54712" y="320400"/>
                </a:lnTo>
                <a:lnTo>
                  <a:pt x="52802" y="309060"/>
                </a:lnTo>
                <a:lnTo>
                  <a:pt x="38765" y="303540"/>
                </a:lnTo>
                <a:lnTo>
                  <a:pt x="24196" y="293926"/>
                </a:lnTo>
                <a:lnTo>
                  <a:pt x="39034" y="267401"/>
                </a:lnTo>
                <a:lnTo>
                  <a:pt x="51820" y="260326"/>
                </a:lnTo>
                <a:lnTo>
                  <a:pt x="46992" y="249315"/>
                </a:lnTo>
                <a:lnTo>
                  <a:pt x="60741" y="216807"/>
                </a:lnTo>
                <a:lnTo>
                  <a:pt x="57193" y="206958"/>
                </a:lnTo>
                <a:lnTo>
                  <a:pt x="25568" y="200391"/>
                </a:lnTo>
                <a:lnTo>
                  <a:pt x="0" y="184231"/>
                </a:lnTo>
                <a:lnTo>
                  <a:pt x="44125" y="145579"/>
                </a:lnTo>
                <a:lnTo>
                  <a:pt x="103844" y="113185"/>
                </a:lnTo>
                <a:lnTo>
                  <a:pt x="141072" y="70441"/>
                </a:lnTo>
                <a:lnTo>
                  <a:pt x="166795" y="89330"/>
                </a:lnTo>
                <a:lnTo>
                  <a:pt x="213647" y="91523"/>
                </a:lnTo>
                <a:lnTo>
                  <a:pt x="205182" y="59731"/>
                </a:lnTo>
                <a:lnTo>
                  <a:pt x="288871" y="33774"/>
                </a:lnTo>
                <a:lnTo>
                  <a:pt x="310416" y="0"/>
                </a:lnTo>
                <a:lnTo>
                  <a:pt x="345406" y="3558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070601" y="5588739"/>
            <a:ext cx="181574" cy="217701"/>
          </a:xfrm>
          <a:custGeom>
            <a:avLst/>
            <a:gdLst/>
            <a:ahLst/>
            <a:cxnLst/>
            <a:rect l="l" t="t" r="r" b="b"/>
            <a:pathLst>
              <a:path w="181574" h="217701">
                <a:moveTo>
                  <a:pt x="3108" y="51984"/>
                </a:moveTo>
                <a:lnTo>
                  <a:pt x="6499" y="46519"/>
                </a:lnTo>
                <a:lnTo>
                  <a:pt x="30687" y="48664"/>
                </a:lnTo>
                <a:lnTo>
                  <a:pt x="51798" y="21463"/>
                </a:lnTo>
                <a:lnTo>
                  <a:pt x="90093" y="18545"/>
                </a:lnTo>
                <a:lnTo>
                  <a:pt x="113161" y="14576"/>
                </a:lnTo>
                <a:lnTo>
                  <a:pt x="120962" y="0"/>
                </a:lnTo>
                <a:lnTo>
                  <a:pt x="167736" y="71107"/>
                </a:lnTo>
                <a:lnTo>
                  <a:pt x="181149" y="110172"/>
                </a:lnTo>
                <a:lnTo>
                  <a:pt x="181574" y="179603"/>
                </a:lnTo>
                <a:lnTo>
                  <a:pt x="161150" y="212729"/>
                </a:lnTo>
                <a:lnTo>
                  <a:pt x="140082" y="217701"/>
                </a:lnTo>
                <a:lnTo>
                  <a:pt x="14776" y="217701"/>
                </a:lnTo>
                <a:lnTo>
                  <a:pt x="23941" y="176445"/>
                </a:lnTo>
                <a:lnTo>
                  <a:pt x="0" y="113710"/>
                </a:lnTo>
                <a:lnTo>
                  <a:pt x="40247" y="103559"/>
                </a:lnTo>
                <a:lnTo>
                  <a:pt x="3108" y="51984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991668" y="4779041"/>
            <a:ext cx="1735142" cy="629791"/>
          </a:xfrm>
          <a:custGeom>
            <a:avLst/>
            <a:gdLst/>
            <a:ahLst/>
            <a:cxnLst/>
            <a:rect l="l" t="t" r="r" b="b"/>
            <a:pathLst>
              <a:path w="1735142" h="629791">
                <a:moveTo>
                  <a:pt x="0" y="165745"/>
                </a:moveTo>
                <a:lnTo>
                  <a:pt x="57129" y="155300"/>
                </a:lnTo>
                <a:lnTo>
                  <a:pt x="160523" y="103392"/>
                </a:lnTo>
                <a:lnTo>
                  <a:pt x="242943" y="75045"/>
                </a:lnTo>
                <a:lnTo>
                  <a:pt x="290058" y="93540"/>
                </a:lnTo>
                <a:lnTo>
                  <a:pt x="346594" y="94429"/>
                </a:lnTo>
                <a:lnTo>
                  <a:pt x="382812" y="122580"/>
                </a:lnTo>
                <a:lnTo>
                  <a:pt x="436894" y="124748"/>
                </a:lnTo>
                <a:lnTo>
                  <a:pt x="515234" y="139900"/>
                </a:lnTo>
                <a:lnTo>
                  <a:pt x="567903" y="97932"/>
                </a:lnTo>
                <a:lnTo>
                  <a:pt x="545902" y="62459"/>
                </a:lnTo>
                <a:lnTo>
                  <a:pt x="602026" y="0"/>
                </a:lnTo>
                <a:lnTo>
                  <a:pt x="662728" y="24912"/>
                </a:lnTo>
                <a:lnTo>
                  <a:pt x="711916" y="31973"/>
                </a:lnTo>
                <a:lnTo>
                  <a:pt x="775625" y="47458"/>
                </a:lnTo>
                <a:lnTo>
                  <a:pt x="785957" y="92619"/>
                </a:lnTo>
                <a:lnTo>
                  <a:pt x="862938" y="117967"/>
                </a:lnTo>
                <a:lnTo>
                  <a:pt x="914146" y="106797"/>
                </a:lnTo>
                <a:lnTo>
                  <a:pt x="982693" y="98920"/>
                </a:lnTo>
                <a:lnTo>
                  <a:pt x="1036999" y="106858"/>
                </a:lnTo>
                <a:lnTo>
                  <a:pt x="1090068" y="135822"/>
                </a:lnTo>
                <a:lnTo>
                  <a:pt x="1122959" y="166628"/>
                </a:lnTo>
                <a:lnTo>
                  <a:pt x="1173206" y="166001"/>
                </a:lnTo>
                <a:lnTo>
                  <a:pt x="1241457" y="175814"/>
                </a:lnTo>
                <a:lnTo>
                  <a:pt x="1291266" y="160878"/>
                </a:lnTo>
                <a:lnTo>
                  <a:pt x="1362604" y="150898"/>
                </a:lnTo>
                <a:lnTo>
                  <a:pt x="1441972" y="108425"/>
                </a:lnTo>
                <a:lnTo>
                  <a:pt x="1474465" y="114937"/>
                </a:lnTo>
                <a:lnTo>
                  <a:pt x="1502836" y="135131"/>
                </a:lnTo>
                <a:lnTo>
                  <a:pt x="1567487" y="130107"/>
                </a:lnTo>
                <a:lnTo>
                  <a:pt x="1541098" y="175545"/>
                </a:lnTo>
                <a:lnTo>
                  <a:pt x="1502814" y="235765"/>
                </a:lnTo>
                <a:lnTo>
                  <a:pt x="1516770" y="260404"/>
                </a:lnTo>
                <a:lnTo>
                  <a:pt x="1547446" y="252759"/>
                </a:lnTo>
                <a:lnTo>
                  <a:pt x="1600904" y="262142"/>
                </a:lnTo>
                <a:lnTo>
                  <a:pt x="1642554" y="239902"/>
                </a:lnTo>
                <a:lnTo>
                  <a:pt x="1686035" y="259168"/>
                </a:lnTo>
                <a:lnTo>
                  <a:pt x="1735142" y="301295"/>
                </a:lnTo>
                <a:lnTo>
                  <a:pt x="1729205" y="322713"/>
                </a:lnTo>
                <a:lnTo>
                  <a:pt x="1686455" y="315919"/>
                </a:lnTo>
                <a:lnTo>
                  <a:pt x="1607742" y="323915"/>
                </a:lnTo>
                <a:lnTo>
                  <a:pt x="1569604" y="341063"/>
                </a:lnTo>
                <a:lnTo>
                  <a:pt x="1529897" y="380897"/>
                </a:lnTo>
                <a:lnTo>
                  <a:pt x="1447275" y="404246"/>
                </a:lnTo>
                <a:lnTo>
                  <a:pt x="1393282" y="436243"/>
                </a:lnTo>
                <a:lnTo>
                  <a:pt x="1337587" y="424024"/>
                </a:lnTo>
                <a:lnTo>
                  <a:pt x="1307093" y="418574"/>
                </a:lnTo>
                <a:lnTo>
                  <a:pt x="1278649" y="457424"/>
                </a:lnTo>
                <a:lnTo>
                  <a:pt x="1295954" y="480583"/>
                </a:lnTo>
                <a:lnTo>
                  <a:pt x="1304724" y="500475"/>
                </a:lnTo>
                <a:lnTo>
                  <a:pt x="1266799" y="520742"/>
                </a:lnTo>
                <a:lnTo>
                  <a:pt x="1227915" y="553021"/>
                </a:lnTo>
                <a:lnTo>
                  <a:pt x="1164598" y="574222"/>
                </a:lnTo>
                <a:lnTo>
                  <a:pt x="1083382" y="576508"/>
                </a:lnTo>
                <a:lnTo>
                  <a:pt x="995845" y="597432"/>
                </a:lnTo>
                <a:lnTo>
                  <a:pt x="932755" y="629791"/>
                </a:lnTo>
                <a:lnTo>
                  <a:pt x="908766" y="611051"/>
                </a:lnTo>
                <a:lnTo>
                  <a:pt x="843199" y="611104"/>
                </a:lnTo>
                <a:lnTo>
                  <a:pt x="763044" y="574498"/>
                </a:lnTo>
                <a:lnTo>
                  <a:pt x="709553" y="565522"/>
                </a:lnTo>
                <a:lnTo>
                  <a:pt x="637482" y="573906"/>
                </a:lnTo>
                <a:lnTo>
                  <a:pt x="525637" y="560394"/>
                </a:lnTo>
                <a:lnTo>
                  <a:pt x="465904" y="561796"/>
                </a:lnTo>
                <a:lnTo>
                  <a:pt x="434100" y="526008"/>
                </a:lnTo>
                <a:lnTo>
                  <a:pt x="409413" y="470449"/>
                </a:lnTo>
                <a:lnTo>
                  <a:pt x="375929" y="463759"/>
                </a:lnTo>
                <a:lnTo>
                  <a:pt x="310461" y="426204"/>
                </a:lnTo>
                <a:lnTo>
                  <a:pt x="237480" y="417790"/>
                </a:lnTo>
                <a:lnTo>
                  <a:pt x="173087" y="407485"/>
                </a:lnTo>
                <a:lnTo>
                  <a:pt x="153592" y="381350"/>
                </a:lnTo>
                <a:lnTo>
                  <a:pt x="174456" y="310932"/>
                </a:lnTo>
                <a:lnTo>
                  <a:pt x="137069" y="262393"/>
                </a:lnTo>
                <a:lnTo>
                  <a:pt x="59770" y="239761"/>
                </a:lnTo>
                <a:lnTo>
                  <a:pt x="14228" y="207796"/>
                </a:lnTo>
                <a:lnTo>
                  <a:pt x="0" y="165745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423713" y="5776667"/>
            <a:ext cx="55306" cy="29773"/>
          </a:xfrm>
          <a:custGeom>
            <a:avLst/>
            <a:gdLst/>
            <a:ahLst/>
            <a:cxnLst/>
            <a:rect l="l" t="t" r="r" b="b"/>
            <a:pathLst>
              <a:path w="55306" h="29773">
                <a:moveTo>
                  <a:pt x="0" y="29773"/>
                </a:moveTo>
                <a:lnTo>
                  <a:pt x="30759" y="0"/>
                </a:lnTo>
                <a:lnTo>
                  <a:pt x="55306" y="29773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098189" y="5677888"/>
            <a:ext cx="356283" cy="128552"/>
          </a:xfrm>
          <a:custGeom>
            <a:avLst/>
            <a:gdLst/>
            <a:ahLst/>
            <a:cxnLst/>
            <a:rect l="l" t="t" r="r" b="b"/>
            <a:pathLst>
              <a:path w="356283" h="128552">
                <a:moveTo>
                  <a:pt x="356283" y="98779"/>
                </a:moveTo>
                <a:lnTo>
                  <a:pt x="325524" y="128552"/>
                </a:lnTo>
                <a:lnTo>
                  <a:pt x="9162" y="128552"/>
                </a:lnTo>
                <a:lnTo>
                  <a:pt x="19004" y="119318"/>
                </a:lnTo>
                <a:lnTo>
                  <a:pt x="12810" y="89344"/>
                </a:lnTo>
                <a:lnTo>
                  <a:pt x="0" y="63801"/>
                </a:lnTo>
                <a:lnTo>
                  <a:pt x="31642" y="37551"/>
                </a:lnTo>
                <a:lnTo>
                  <a:pt x="89824" y="24891"/>
                </a:lnTo>
                <a:lnTo>
                  <a:pt x="152004" y="17890"/>
                </a:lnTo>
                <a:lnTo>
                  <a:pt x="179550" y="6761"/>
                </a:lnTo>
                <a:lnTo>
                  <a:pt x="211094" y="0"/>
                </a:lnTo>
                <a:lnTo>
                  <a:pt x="251130" y="28098"/>
                </a:lnTo>
                <a:lnTo>
                  <a:pt x="267167" y="74407"/>
                </a:lnTo>
                <a:lnTo>
                  <a:pt x="356283" y="9877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542006" y="5596331"/>
            <a:ext cx="767277" cy="210109"/>
          </a:xfrm>
          <a:custGeom>
            <a:avLst/>
            <a:gdLst/>
            <a:ahLst/>
            <a:cxnLst/>
            <a:rect l="l" t="t" r="r" b="b"/>
            <a:pathLst>
              <a:path w="767277" h="210109">
                <a:moveTo>
                  <a:pt x="299135" y="67710"/>
                </a:moveTo>
                <a:lnTo>
                  <a:pt x="329327" y="68110"/>
                </a:lnTo>
                <a:lnTo>
                  <a:pt x="370195" y="80836"/>
                </a:lnTo>
                <a:lnTo>
                  <a:pt x="386752" y="88181"/>
                </a:lnTo>
                <a:lnTo>
                  <a:pt x="425977" y="68822"/>
                </a:lnTo>
                <a:lnTo>
                  <a:pt x="444229" y="80465"/>
                </a:lnTo>
                <a:lnTo>
                  <a:pt x="461705" y="52871"/>
                </a:lnTo>
                <a:lnTo>
                  <a:pt x="494097" y="54123"/>
                </a:lnTo>
                <a:lnTo>
                  <a:pt x="502442" y="45268"/>
                </a:lnTo>
                <a:lnTo>
                  <a:pt x="508171" y="20966"/>
                </a:lnTo>
                <a:lnTo>
                  <a:pt x="531499" y="0"/>
                </a:lnTo>
                <a:lnTo>
                  <a:pt x="560831" y="13703"/>
                </a:lnTo>
                <a:lnTo>
                  <a:pt x="554939" y="32123"/>
                </a:lnTo>
                <a:lnTo>
                  <a:pt x="571332" y="34985"/>
                </a:lnTo>
                <a:lnTo>
                  <a:pt x="566280" y="85618"/>
                </a:lnTo>
                <a:lnTo>
                  <a:pt x="587735" y="105354"/>
                </a:lnTo>
                <a:lnTo>
                  <a:pt x="606614" y="92690"/>
                </a:lnTo>
                <a:lnTo>
                  <a:pt x="630664" y="86708"/>
                </a:lnTo>
                <a:lnTo>
                  <a:pt x="664432" y="59726"/>
                </a:lnTo>
                <a:lnTo>
                  <a:pt x="701747" y="64167"/>
                </a:lnTo>
                <a:lnTo>
                  <a:pt x="757630" y="64262"/>
                </a:lnTo>
                <a:lnTo>
                  <a:pt x="767277" y="81557"/>
                </a:lnTo>
                <a:lnTo>
                  <a:pt x="735733" y="88318"/>
                </a:lnTo>
                <a:lnTo>
                  <a:pt x="708187" y="99447"/>
                </a:lnTo>
                <a:lnTo>
                  <a:pt x="646007" y="106448"/>
                </a:lnTo>
                <a:lnTo>
                  <a:pt x="587825" y="119108"/>
                </a:lnTo>
                <a:lnTo>
                  <a:pt x="556183" y="145358"/>
                </a:lnTo>
                <a:lnTo>
                  <a:pt x="568993" y="170901"/>
                </a:lnTo>
                <a:lnTo>
                  <a:pt x="575187" y="200875"/>
                </a:lnTo>
                <a:lnTo>
                  <a:pt x="565345" y="210109"/>
                </a:lnTo>
                <a:lnTo>
                  <a:pt x="0" y="210109"/>
                </a:lnTo>
                <a:lnTo>
                  <a:pt x="11524" y="170930"/>
                </a:lnTo>
                <a:lnTo>
                  <a:pt x="66785" y="193796"/>
                </a:lnTo>
                <a:lnTo>
                  <a:pt x="107642" y="185758"/>
                </a:lnTo>
                <a:lnTo>
                  <a:pt x="118961" y="158449"/>
                </a:lnTo>
                <a:lnTo>
                  <a:pt x="161733" y="149362"/>
                </a:lnTo>
                <a:lnTo>
                  <a:pt x="192272" y="131033"/>
                </a:lnTo>
                <a:lnTo>
                  <a:pt x="203089" y="82835"/>
                </a:lnTo>
                <a:lnTo>
                  <a:pt x="248760" y="71179"/>
                </a:lnTo>
                <a:lnTo>
                  <a:pt x="257250" y="49727"/>
                </a:lnTo>
                <a:lnTo>
                  <a:pt x="282813" y="65841"/>
                </a:lnTo>
                <a:lnTo>
                  <a:pt x="299135" y="6771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891189" y="5447234"/>
            <a:ext cx="408447" cy="254451"/>
          </a:xfrm>
          <a:custGeom>
            <a:avLst/>
            <a:gdLst/>
            <a:ahLst/>
            <a:cxnLst/>
            <a:rect l="l" t="t" r="r" b="b"/>
            <a:pathLst>
              <a:path w="408447" h="254451">
                <a:moveTo>
                  <a:pt x="21012" y="229933"/>
                </a:moveTo>
                <a:lnTo>
                  <a:pt x="51467" y="168940"/>
                </a:lnTo>
                <a:lnTo>
                  <a:pt x="39762" y="124070"/>
                </a:lnTo>
                <a:lnTo>
                  <a:pt x="0" y="109690"/>
                </a:lnTo>
                <a:lnTo>
                  <a:pt x="14045" y="83153"/>
                </a:lnTo>
                <a:lnTo>
                  <a:pt x="59290" y="85987"/>
                </a:lnTo>
                <a:lnTo>
                  <a:pt x="85041" y="52677"/>
                </a:lnTo>
                <a:lnTo>
                  <a:pt x="102265" y="14005"/>
                </a:lnTo>
                <a:lnTo>
                  <a:pt x="174719" y="0"/>
                </a:lnTo>
                <a:lnTo>
                  <a:pt x="163423" y="27947"/>
                </a:lnTo>
                <a:lnTo>
                  <a:pt x="171185" y="44699"/>
                </a:lnTo>
                <a:lnTo>
                  <a:pt x="193553" y="43142"/>
                </a:lnTo>
                <a:lnTo>
                  <a:pt x="173711" y="61741"/>
                </a:lnTo>
                <a:lnTo>
                  <a:pt x="114734" y="51649"/>
                </a:lnTo>
                <a:lnTo>
                  <a:pt x="109601" y="86395"/>
                </a:lnTo>
                <a:lnTo>
                  <a:pt x="168354" y="81723"/>
                </a:lnTo>
                <a:lnTo>
                  <a:pt x="235304" y="101294"/>
                </a:lnTo>
                <a:lnTo>
                  <a:pt x="337754" y="92147"/>
                </a:lnTo>
                <a:lnTo>
                  <a:pt x="351489" y="147920"/>
                </a:lnTo>
                <a:lnTo>
                  <a:pt x="369298" y="141851"/>
                </a:lnTo>
                <a:lnTo>
                  <a:pt x="402205" y="155572"/>
                </a:lnTo>
                <a:lnTo>
                  <a:pt x="400318" y="179006"/>
                </a:lnTo>
                <a:lnTo>
                  <a:pt x="408447" y="213359"/>
                </a:lnTo>
                <a:lnTo>
                  <a:pt x="352564" y="213264"/>
                </a:lnTo>
                <a:lnTo>
                  <a:pt x="315249" y="208823"/>
                </a:lnTo>
                <a:lnTo>
                  <a:pt x="281481" y="235805"/>
                </a:lnTo>
                <a:lnTo>
                  <a:pt x="257431" y="241787"/>
                </a:lnTo>
                <a:lnTo>
                  <a:pt x="238552" y="254451"/>
                </a:lnTo>
                <a:lnTo>
                  <a:pt x="217097" y="234715"/>
                </a:lnTo>
                <a:lnTo>
                  <a:pt x="222149" y="184082"/>
                </a:lnTo>
                <a:lnTo>
                  <a:pt x="205756" y="181220"/>
                </a:lnTo>
                <a:lnTo>
                  <a:pt x="211648" y="162800"/>
                </a:lnTo>
                <a:lnTo>
                  <a:pt x="182316" y="149097"/>
                </a:lnTo>
                <a:lnTo>
                  <a:pt x="158988" y="170063"/>
                </a:lnTo>
                <a:lnTo>
                  <a:pt x="153259" y="194365"/>
                </a:lnTo>
                <a:lnTo>
                  <a:pt x="144914" y="203220"/>
                </a:lnTo>
                <a:lnTo>
                  <a:pt x="112522" y="201968"/>
                </a:lnTo>
                <a:lnTo>
                  <a:pt x="95046" y="229562"/>
                </a:lnTo>
                <a:lnTo>
                  <a:pt x="76794" y="217919"/>
                </a:lnTo>
                <a:lnTo>
                  <a:pt x="37569" y="237278"/>
                </a:lnTo>
                <a:lnTo>
                  <a:pt x="21012" y="229933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000790" y="5306321"/>
            <a:ext cx="584951" cy="242207"/>
          </a:xfrm>
          <a:custGeom>
            <a:avLst/>
            <a:gdLst/>
            <a:ahLst/>
            <a:cxnLst/>
            <a:rect l="l" t="t" r="r" b="b"/>
            <a:pathLst>
              <a:path w="584951" h="242207">
                <a:moveTo>
                  <a:pt x="81141" y="62207"/>
                </a:moveTo>
                <a:lnTo>
                  <a:pt x="93277" y="35802"/>
                </a:lnTo>
                <a:lnTo>
                  <a:pt x="128951" y="27298"/>
                </a:lnTo>
                <a:lnTo>
                  <a:pt x="218095" y="48060"/>
                </a:lnTo>
                <a:lnTo>
                  <a:pt x="226523" y="12480"/>
                </a:lnTo>
                <a:lnTo>
                  <a:pt x="257277" y="0"/>
                </a:lnTo>
                <a:lnTo>
                  <a:pt x="334445" y="25339"/>
                </a:lnTo>
                <a:lnTo>
                  <a:pt x="354135" y="18702"/>
                </a:lnTo>
                <a:lnTo>
                  <a:pt x="443979" y="20350"/>
                </a:lnTo>
                <a:lnTo>
                  <a:pt x="524380" y="26653"/>
                </a:lnTo>
                <a:lnTo>
                  <a:pt x="551553" y="48314"/>
                </a:lnTo>
                <a:lnTo>
                  <a:pt x="584951" y="57154"/>
                </a:lnTo>
                <a:lnTo>
                  <a:pt x="577334" y="70778"/>
                </a:lnTo>
                <a:lnTo>
                  <a:pt x="491949" y="103425"/>
                </a:lnTo>
                <a:lnTo>
                  <a:pt x="472633" y="127346"/>
                </a:lnTo>
                <a:lnTo>
                  <a:pt x="403127" y="134508"/>
                </a:lnTo>
                <a:lnTo>
                  <a:pt x="382638" y="172991"/>
                </a:lnTo>
                <a:lnTo>
                  <a:pt x="325280" y="164908"/>
                </a:lnTo>
                <a:lnTo>
                  <a:pt x="287838" y="176699"/>
                </a:lnTo>
                <a:lnTo>
                  <a:pt x="236111" y="205172"/>
                </a:lnTo>
                <a:lnTo>
                  <a:pt x="243576" y="219273"/>
                </a:lnTo>
                <a:lnTo>
                  <a:pt x="228153" y="233060"/>
                </a:lnTo>
                <a:lnTo>
                  <a:pt x="125703" y="242207"/>
                </a:lnTo>
                <a:lnTo>
                  <a:pt x="58753" y="222636"/>
                </a:lnTo>
                <a:lnTo>
                  <a:pt x="0" y="227308"/>
                </a:lnTo>
                <a:lnTo>
                  <a:pt x="5133" y="192562"/>
                </a:lnTo>
                <a:lnTo>
                  <a:pt x="64110" y="202654"/>
                </a:lnTo>
                <a:lnTo>
                  <a:pt x="83952" y="184055"/>
                </a:lnTo>
                <a:lnTo>
                  <a:pt x="125171" y="189993"/>
                </a:lnTo>
                <a:lnTo>
                  <a:pt x="194559" y="146589"/>
                </a:lnTo>
                <a:lnTo>
                  <a:pt x="130331" y="114836"/>
                </a:lnTo>
                <a:lnTo>
                  <a:pt x="91737" y="129861"/>
                </a:lnTo>
                <a:lnTo>
                  <a:pt x="51756" y="107176"/>
                </a:lnTo>
                <a:lnTo>
                  <a:pt x="97231" y="68140"/>
                </a:lnTo>
                <a:lnTo>
                  <a:pt x="81141" y="6220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081653" y="5339275"/>
            <a:ext cx="760981" cy="450852"/>
          </a:xfrm>
          <a:custGeom>
            <a:avLst/>
            <a:gdLst/>
            <a:ahLst/>
            <a:cxnLst/>
            <a:rect l="l" t="t" r="r" b="b"/>
            <a:pathLst>
              <a:path w="760981" h="450852">
                <a:moveTo>
                  <a:pt x="0" y="58353"/>
                </a:moveTo>
                <a:lnTo>
                  <a:pt x="23941" y="38301"/>
                </a:lnTo>
                <a:lnTo>
                  <a:pt x="85450" y="25760"/>
                </a:lnTo>
                <a:lnTo>
                  <a:pt x="122076" y="42644"/>
                </a:lnTo>
                <a:lnTo>
                  <a:pt x="160002" y="89900"/>
                </a:lnTo>
                <a:lnTo>
                  <a:pt x="187796" y="86960"/>
                </a:lnTo>
                <a:lnTo>
                  <a:pt x="248930" y="86136"/>
                </a:lnTo>
                <a:lnTo>
                  <a:pt x="240033" y="55779"/>
                </a:lnTo>
                <a:lnTo>
                  <a:pt x="286326" y="35015"/>
                </a:lnTo>
                <a:lnTo>
                  <a:pt x="331977" y="0"/>
                </a:lnTo>
                <a:lnTo>
                  <a:pt x="404989" y="31849"/>
                </a:lnTo>
                <a:lnTo>
                  <a:pt x="410782" y="79938"/>
                </a:lnTo>
                <a:lnTo>
                  <a:pt x="431515" y="92282"/>
                </a:lnTo>
                <a:lnTo>
                  <a:pt x="490103" y="89507"/>
                </a:lnTo>
                <a:lnTo>
                  <a:pt x="508284" y="100447"/>
                </a:lnTo>
                <a:lnTo>
                  <a:pt x="534920" y="162581"/>
                </a:lnTo>
                <a:lnTo>
                  <a:pt x="596896" y="204203"/>
                </a:lnTo>
                <a:lnTo>
                  <a:pt x="632237" y="232580"/>
                </a:lnTo>
                <a:lnTo>
                  <a:pt x="688904" y="262093"/>
                </a:lnTo>
                <a:lnTo>
                  <a:pt x="760981" y="287888"/>
                </a:lnTo>
                <a:lnTo>
                  <a:pt x="759488" y="324766"/>
                </a:lnTo>
                <a:lnTo>
                  <a:pt x="743166" y="322897"/>
                </a:lnTo>
                <a:lnTo>
                  <a:pt x="717603" y="306783"/>
                </a:lnTo>
                <a:lnTo>
                  <a:pt x="709113" y="328235"/>
                </a:lnTo>
                <a:lnTo>
                  <a:pt x="663442" y="339891"/>
                </a:lnTo>
                <a:lnTo>
                  <a:pt x="652625" y="388089"/>
                </a:lnTo>
                <a:lnTo>
                  <a:pt x="622086" y="406418"/>
                </a:lnTo>
                <a:lnTo>
                  <a:pt x="579314" y="415505"/>
                </a:lnTo>
                <a:lnTo>
                  <a:pt x="567995" y="442814"/>
                </a:lnTo>
                <a:lnTo>
                  <a:pt x="527138" y="450852"/>
                </a:lnTo>
                <a:lnTo>
                  <a:pt x="471877" y="427986"/>
                </a:lnTo>
                <a:lnTo>
                  <a:pt x="467122" y="377270"/>
                </a:lnTo>
                <a:lnTo>
                  <a:pt x="426729" y="375113"/>
                </a:lnTo>
                <a:lnTo>
                  <a:pt x="364801" y="321740"/>
                </a:lnTo>
                <a:lnTo>
                  <a:pt x="321527" y="315152"/>
                </a:lnTo>
                <a:lnTo>
                  <a:pt x="261612" y="284601"/>
                </a:lnTo>
                <a:lnTo>
                  <a:pt x="223081" y="279047"/>
                </a:lnTo>
                <a:lnTo>
                  <a:pt x="199294" y="290272"/>
                </a:lnTo>
                <a:lnTo>
                  <a:pt x="163054" y="288525"/>
                </a:lnTo>
                <a:lnTo>
                  <a:pt x="124512" y="322980"/>
                </a:lnTo>
                <a:lnTo>
                  <a:pt x="76898" y="334642"/>
                </a:lnTo>
                <a:lnTo>
                  <a:pt x="66815" y="292020"/>
                </a:lnTo>
                <a:lnTo>
                  <a:pt x="74694" y="228983"/>
                </a:lnTo>
                <a:lnTo>
                  <a:pt x="32434" y="208583"/>
                </a:lnTo>
                <a:lnTo>
                  <a:pt x="46348" y="167318"/>
                </a:lnTo>
                <a:lnTo>
                  <a:pt x="10377" y="163801"/>
                </a:lnTo>
                <a:lnTo>
                  <a:pt x="22368" y="113002"/>
                </a:lnTo>
                <a:lnTo>
                  <a:pt x="73460" y="127797"/>
                </a:lnTo>
                <a:lnTo>
                  <a:pt x="121074" y="108513"/>
                </a:lnTo>
                <a:lnTo>
                  <a:pt x="81597" y="72341"/>
                </a:lnTo>
                <a:lnTo>
                  <a:pt x="66067" y="37869"/>
                </a:lnTo>
                <a:lnTo>
                  <a:pt x="22449" y="53242"/>
                </a:lnTo>
                <a:lnTo>
                  <a:pt x="16918" y="97402"/>
                </a:lnTo>
                <a:lnTo>
                  <a:pt x="0" y="58353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626851" y="5522400"/>
            <a:ext cx="926679" cy="284040"/>
          </a:xfrm>
          <a:custGeom>
            <a:avLst/>
            <a:gdLst/>
            <a:ahLst/>
            <a:cxnLst/>
            <a:rect l="l" t="t" r="r" b="b"/>
            <a:pathLst>
              <a:path w="926679" h="284040">
                <a:moveTo>
                  <a:pt x="103310" y="284040"/>
                </a:moveTo>
                <a:lnTo>
                  <a:pt x="110680" y="278419"/>
                </a:lnTo>
                <a:lnTo>
                  <a:pt x="106592" y="243215"/>
                </a:lnTo>
                <a:lnTo>
                  <a:pt x="71060" y="225125"/>
                </a:lnTo>
                <a:lnTo>
                  <a:pt x="35951" y="153233"/>
                </a:lnTo>
                <a:lnTo>
                  <a:pt x="35950" y="153232"/>
                </a:lnTo>
                <a:lnTo>
                  <a:pt x="6315" y="104950"/>
                </a:lnTo>
                <a:lnTo>
                  <a:pt x="16916" y="86286"/>
                </a:lnTo>
                <a:lnTo>
                  <a:pt x="0" y="17168"/>
                </a:lnTo>
                <a:lnTo>
                  <a:pt x="37106" y="0"/>
                </a:lnTo>
                <a:lnTo>
                  <a:pt x="45705" y="22735"/>
                </a:lnTo>
                <a:lnTo>
                  <a:pt x="73071" y="50556"/>
                </a:lnTo>
                <a:lnTo>
                  <a:pt x="110238" y="58568"/>
                </a:lnTo>
                <a:lnTo>
                  <a:pt x="129858" y="56795"/>
                </a:lnTo>
                <a:lnTo>
                  <a:pt x="193764" y="12333"/>
                </a:lnTo>
                <a:lnTo>
                  <a:pt x="214085" y="7881"/>
                </a:lnTo>
                <a:lnTo>
                  <a:pt x="230093" y="25567"/>
                </a:lnTo>
                <a:lnTo>
                  <a:pt x="211411" y="55385"/>
                </a:lnTo>
                <a:lnTo>
                  <a:pt x="245203" y="86943"/>
                </a:lnTo>
                <a:lnTo>
                  <a:pt x="258689" y="83937"/>
                </a:lnTo>
                <a:lnTo>
                  <a:pt x="275831" y="128377"/>
                </a:lnTo>
                <a:lnTo>
                  <a:pt x="327209" y="140931"/>
                </a:lnTo>
                <a:lnTo>
                  <a:pt x="364846" y="171170"/>
                </a:lnTo>
                <a:lnTo>
                  <a:pt x="441882" y="181560"/>
                </a:lnTo>
                <a:lnTo>
                  <a:pt x="526509" y="165612"/>
                </a:lnTo>
                <a:lnTo>
                  <a:pt x="531700" y="151517"/>
                </a:lnTo>
                <a:lnTo>
                  <a:pt x="579314" y="139855"/>
                </a:lnTo>
                <a:lnTo>
                  <a:pt x="617856" y="105400"/>
                </a:lnTo>
                <a:lnTo>
                  <a:pt x="654096" y="107147"/>
                </a:lnTo>
                <a:lnTo>
                  <a:pt x="677883" y="95922"/>
                </a:lnTo>
                <a:lnTo>
                  <a:pt x="716414" y="101476"/>
                </a:lnTo>
                <a:lnTo>
                  <a:pt x="776329" y="132027"/>
                </a:lnTo>
                <a:lnTo>
                  <a:pt x="819603" y="138615"/>
                </a:lnTo>
                <a:lnTo>
                  <a:pt x="881531" y="191988"/>
                </a:lnTo>
                <a:lnTo>
                  <a:pt x="921924" y="194145"/>
                </a:lnTo>
                <a:lnTo>
                  <a:pt x="926679" y="244861"/>
                </a:lnTo>
                <a:lnTo>
                  <a:pt x="915155" y="28404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182293" y="5672051"/>
            <a:ext cx="349210" cy="134389"/>
          </a:xfrm>
          <a:custGeom>
            <a:avLst/>
            <a:gdLst/>
            <a:ahLst/>
            <a:cxnLst/>
            <a:rect l="l" t="t" r="r" b="b"/>
            <a:pathLst>
              <a:path w="349210" h="134389">
                <a:moveTo>
                  <a:pt x="2712" y="134389"/>
                </a:moveTo>
                <a:lnTo>
                  <a:pt x="0" y="109678"/>
                </a:lnTo>
                <a:lnTo>
                  <a:pt x="13262" y="84877"/>
                </a:lnTo>
                <a:lnTo>
                  <a:pt x="27772" y="71673"/>
                </a:lnTo>
                <a:lnTo>
                  <a:pt x="42285" y="58470"/>
                </a:lnTo>
                <a:lnTo>
                  <a:pt x="45217" y="24852"/>
                </a:lnTo>
                <a:lnTo>
                  <a:pt x="62951" y="36573"/>
                </a:lnTo>
                <a:lnTo>
                  <a:pt x="122608" y="19808"/>
                </a:lnTo>
                <a:lnTo>
                  <a:pt x="151445" y="31155"/>
                </a:lnTo>
                <a:lnTo>
                  <a:pt x="196023" y="30967"/>
                </a:lnTo>
                <a:lnTo>
                  <a:pt x="258375" y="8353"/>
                </a:lnTo>
                <a:lnTo>
                  <a:pt x="287572" y="9373"/>
                </a:lnTo>
                <a:lnTo>
                  <a:pt x="349210" y="0"/>
                </a:lnTo>
                <a:lnTo>
                  <a:pt x="321438" y="37608"/>
                </a:lnTo>
                <a:lnTo>
                  <a:pt x="291778" y="52496"/>
                </a:lnTo>
                <a:lnTo>
                  <a:pt x="296886" y="96522"/>
                </a:lnTo>
                <a:lnTo>
                  <a:pt x="286246" y="13438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598323" y="5429882"/>
            <a:ext cx="158386" cy="151086"/>
          </a:xfrm>
          <a:custGeom>
            <a:avLst/>
            <a:gdLst/>
            <a:ahLst/>
            <a:cxnLst/>
            <a:rect l="l" t="t" r="r" b="b"/>
            <a:pathLst>
              <a:path w="158386" h="151086">
                <a:moveTo>
                  <a:pt x="158386" y="149313"/>
                </a:moveTo>
                <a:lnTo>
                  <a:pt x="138766" y="151086"/>
                </a:lnTo>
                <a:lnTo>
                  <a:pt x="116644" y="116220"/>
                </a:lnTo>
                <a:lnTo>
                  <a:pt x="116893" y="106922"/>
                </a:lnTo>
                <a:lnTo>
                  <a:pt x="92952" y="107057"/>
                </a:lnTo>
                <a:lnTo>
                  <a:pt x="76904" y="90890"/>
                </a:lnTo>
                <a:lnTo>
                  <a:pt x="65634" y="92518"/>
                </a:lnTo>
                <a:lnTo>
                  <a:pt x="44285" y="74920"/>
                </a:lnTo>
                <a:lnTo>
                  <a:pt x="3993" y="59940"/>
                </a:lnTo>
                <a:lnTo>
                  <a:pt x="9207" y="30611"/>
                </a:lnTo>
                <a:lnTo>
                  <a:pt x="0" y="9401"/>
                </a:lnTo>
                <a:lnTo>
                  <a:pt x="75305" y="0"/>
                </a:lnTo>
                <a:lnTo>
                  <a:pt x="86523" y="15837"/>
                </a:lnTo>
                <a:lnTo>
                  <a:pt x="107160" y="26267"/>
                </a:lnTo>
                <a:lnTo>
                  <a:pt x="96259" y="41381"/>
                </a:lnTo>
                <a:lnTo>
                  <a:pt x="125126" y="62054"/>
                </a:lnTo>
                <a:lnTo>
                  <a:pt x="109851" y="81248"/>
                </a:lnTo>
                <a:lnTo>
                  <a:pt x="132854" y="97639"/>
                </a:lnTo>
                <a:lnTo>
                  <a:pt x="157182" y="107515"/>
                </a:lnTo>
                <a:lnTo>
                  <a:pt x="158386" y="149313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212080" y="3750949"/>
            <a:ext cx="319884" cy="602182"/>
          </a:xfrm>
          <a:custGeom>
            <a:avLst/>
            <a:gdLst/>
            <a:ahLst/>
            <a:cxnLst/>
            <a:rect l="l" t="t" r="r" b="b"/>
            <a:pathLst>
              <a:path w="319884" h="602182">
                <a:moveTo>
                  <a:pt x="0" y="32507"/>
                </a:moveTo>
                <a:lnTo>
                  <a:pt x="101792" y="42130"/>
                </a:lnTo>
                <a:lnTo>
                  <a:pt x="109742" y="2477"/>
                </a:lnTo>
                <a:lnTo>
                  <a:pt x="143355" y="0"/>
                </a:lnTo>
                <a:lnTo>
                  <a:pt x="215583" y="29495"/>
                </a:lnTo>
                <a:lnTo>
                  <a:pt x="300165" y="70527"/>
                </a:lnTo>
                <a:lnTo>
                  <a:pt x="301596" y="163336"/>
                </a:lnTo>
                <a:lnTo>
                  <a:pt x="319884" y="186788"/>
                </a:lnTo>
                <a:lnTo>
                  <a:pt x="226672" y="203854"/>
                </a:lnTo>
                <a:lnTo>
                  <a:pt x="174129" y="245905"/>
                </a:lnTo>
                <a:lnTo>
                  <a:pt x="182589" y="282814"/>
                </a:lnTo>
                <a:lnTo>
                  <a:pt x="96391" y="331271"/>
                </a:lnTo>
                <a:lnTo>
                  <a:pt x="0" y="379024"/>
                </a:lnTo>
                <a:lnTo>
                  <a:pt x="0" y="516339"/>
                </a:lnTo>
                <a:lnTo>
                  <a:pt x="42684" y="543872"/>
                </a:lnTo>
                <a:lnTo>
                  <a:pt x="0" y="602182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433465" y="4761702"/>
            <a:ext cx="975099" cy="424388"/>
          </a:xfrm>
          <a:custGeom>
            <a:avLst/>
            <a:gdLst/>
            <a:ahLst/>
            <a:cxnLst/>
            <a:rect l="l" t="t" r="r" b="b"/>
            <a:pathLst>
              <a:path w="975099" h="424388">
                <a:moveTo>
                  <a:pt x="525631" y="14066"/>
                </a:moveTo>
                <a:lnTo>
                  <a:pt x="545867" y="16502"/>
                </a:lnTo>
                <a:lnTo>
                  <a:pt x="559556" y="2795"/>
                </a:lnTo>
                <a:lnTo>
                  <a:pt x="576013" y="5822"/>
                </a:lnTo>
                <a:lnTo>
                  <a:pt x="632201" y="0"/>
                </a:lnTo>
                <a:lnTo>
                  <a:pt x="666828" y="34123"/>
                </a:lnTo>
                <a:lnTo>
                  <a:pt x="653294" y="46325"/>
                </a:lnTo>
                <a:lnTo>
                  <a:pt x="657783" y="65033"/>
                </a:lnTo>
                <a:lnTo>
                  <a:pt x="700990" y="67951"/>
                </a:lnTo>
                <a:lnTo>
                  <a:pt x="720266" y="94085"/>
                </a:lnTo>
                <a:lnTo>
                  <a:pt x="719085" y="105942"/>
                </a:lnTo>
                <a:lnTo>
                  <a:pt x="787904" y="127133"/>
                </a:lnTo>
                <a:lnTo>
                  <a:pt x="829481" y="117589"/>
                </a:lnTo>
                <a:lnTo>
                  <a:pt x="862924" y="145811"/>
                </a:lnTo>
                <a:lnTo>
                  <a:pt x="894588" y="145160"/>
                </a:lnTo>
                <a:lnTo>
                  <a:pt x="974462" y="164772"/>
                </a:lnTo>
                <a:lnTo>
                  <a:pt x="975099" y="182468"/>
                </a:lnTo>
                <a:lnTo>
                  <a:pt x="953092" y="214024"/>
                </a:lnTo>
                <a:lnTo>
                  <a:pt x="965065" y="247256"/>
                </a:lnTo>
                <a:lnTo>
                  <a:pt x="956539" y="267354"/>
                </a:lnTo>
                <a:lnTo>
                  <a:pt x="904102" y="271772"/>
                </a:lnTo>
                <a:lnTo>
                  <a:pt x="876172" y="288600"/>
                </a:lnTo>
                <a:lnTo>
                  <a:pt x="874461" y="315372"/>
                </a:lnTo>
                <a:lnTo>
                  <a:pt x="831198" y="320191"/>
                </a:lnTo>
                <a:lnTo>
                  <a:pt x="795149" y="339689"/>
                </a:lnTo>
                <a:lnTo>
                  <a:pt x="744421" y="342867"/>
                </a:lnTo>
                <a:lnTo>
                  <a:pt x="697747" y="365333"/>
                </a:lnTo>
                <a:lnTo>
                  <a:pt x="700474" y="397604"/>
                </a:lnTo>
                <a:lnTo>
                  <a:pt x="692299" y="395769"/>
                </a:lnTo>
                <a:lnTo>
                  <a:pt x="685267" y="383867"/>
                </a:lnTo>
                <a:lnTo>
                  <a:pt x="667839" y="381486"/>
                </a:lnTo>
                <a:lnTo>
                  <a:pt x="629316" y="368564"/>
                </a:lnTo>
                <a:lnTo>
                  <a:pt x="615039" y="383490"/>
                </a:lnTo>
                <a:lnTo>
                  <a:pt x="607593" y="376940"/>
                </a:lnTo>
                <a:lnTo>
                  <a:pt x="523364" y="361708"/>
                </a:lnTo>
                <a:lnTo>
                  <a:pt x="519634" y="339234"/>
                </a:lnTo>
                <a:lnTo>
                  <a:pt x="469427" y="346656"/>
                </a:lnTo>
                <a:lnTo>
                  <a:pt x="449316" y="379844"/>
                </a:lnTo>
                <a:lnTo>
                  <a:pt x="407358" y="424388"/>
                </a:lnTo>
                <a:lnTo>
                  <a:pt x="382781" y="414045"/>
                </a:lnTo>
                <a:lnTo>
                  <a:pt x="357316" y="423742"/>
                </a:lnTo>
                <a:lnTo>
                  <a:pt x="333137" y="412637"/>
                </a:lnTo>
                <a:lnTo>
                  <a:pt x="346776" y="406091"/>
                </a:lnTo>
                <a:lnTo>
                  <a:pt x="356244" y="385414"/>
                </a:lnTo>
                <a:lnTo>
                  <a:pt x="371076" y="366199"/>
                </a:lnTo>
                <a:lnTo>
                  <a:pt x="367243" y="355407"/>
                </a:lnTo>
                <a:lnTo>
                  <a:pt x="378575" y="350598"/>
                </a:lnTo>
                <a:lnTo>
                  <a:pt x="383915" y="358940"/>
                </a:lnTo>
                <a:lnTo>
                  <a:pt x="415848" y="360705"/>
                </a:lnTo>
                <a:lnTo>
                  <a:pt x="430191" y="356248"/>
                </a:lnTo>
                <a:lnTo>
                  <a:pt x="420088" y="350138"/>
                </a:lnTo>
                <a:lnTo>
                  <a:pt x="423915" y="341156"/>
                </a:lnTo>
                <a:lnTo>
                  <a:pt x="404995" y="325834"/>
                </a:lnTo>
                <a:lnTo>
                  <a:pt x="397163" y="300639"/>
                </a:lnTo>
                <a:lnTo>
                  <a:pt x="377424" y="290780"/>
                </a:lnTo>
                <a:lnTo>
                  <a:pt x="381316" y="270358"/>
                </a:lnTo>
                <a:lnTo>
                  <a:pt x="356835" y="254142"/>
                </a:lnTo>
                <a:lnTo>
                  <a:pt x="334545" y="251888"/>
                </a:lnTo>
                <a:lnTo>
                  <a:pt x="294609" y="233111"/>
                </a:lnTo>
                <a:lnTo>
                  <a:pt x="258590" y="239072"/>
                </a:lnTo>
                <a:lnTo>
                  <a:pt x="245668" y="247960"/>
                </a:lnTo>
                <a:lnTo>
                  <a:pt x="222807" y="247951"/>
                </a:lnTo>
                <a:lnTo>
                  <a:pt x="209179" y="262037"/>
                </a:lnTo>
                <a:lnTo>
                  <a:pt x="169178" y="267829"/>
                </a:lnTo>
                <a:lnTo>
                  <a:pt x="150677" y="277082"/>
                </a:lnTo>
                <a:lnTo>
                  <a:pt x="125521" y="262355"/>
                </a:lnTo>
                <a:lnTo>
                  <a:pt x="90782" y="262131"/>
                </a:lnTo>
                <a:lnTo>
                  <a:pt x="57255" y="255457"/>
                </a:lnTo>
                <a:lnTo>
                  <a:pt x="33862" y="268363"/>
                </a:lnTo>
                <a:lnTo>
                  <a:pt x="30085" y="252208"/>
                </a:lnTo>
                <a:lnTo>
                  <a:pt x="0" y="235814"/>
                </a:lnTo>
                <a:lnTo>
                  <a:pt x="10579" y="211519"/>
                </a:lnTo>
                <a:lnTo>
                  <a:pt x="25605" y="195828"/>
                </a:lnTo>
                <a:lnTo>
                  <a:pt x="37433" y="199345"/>
                </a:lnTo>
                <a:lnTo>
                  <a:pt x="23454" y="172262"/>
                </a:lnTo>
                <a:lnTo>
                  <a:pt x="72659" y="122136"/>
                </a:lnTo>
                <a:lnTo>
                  <a:pt x="99549" y="115122"/>
                </a:lnTo>
                <a:lnTo>
                  <a:pt x="105359" y="98215"/>
                </a:lnTo>
                <a:lnTo>
                  <a:pt x="78108" y="45599"/>
                </a:lnTo>
                <a:lnTo>
                  <a:pt x="104010" y="43249"/>
                </a:lnTo>
                <a:lnTo>
                  <a:pt x="133705" y="26916"/>
                </a:lnTo>
                <a:lnTo>
                  <a:pt x="175683" y="25578"/>
                </a:lnTo>
                <a:lnTo>
                  <a:pt x="230421" y="30301"/>
                </a:lnTo>
                <a:lnTo>
                  <a:pt x="290899" y="44765"/>
                </a:lnTo>
                <a:lnTo>
                  <a:pt x="333573" y="45975"/>
                </a:lnTo>
                <a:lnTo>
                  <a:pt x="353948" y="54684"/>
                </a:lnTo>
                <a:lnTo>
                  <a:pt x="374280" y="44178"/>
                </a:lnTo>
                <a:lnTo>
                  <a:pt x="388482" y="58269"/>
                </a:lnTo>
                <a:lnTo>
                  <a:pt x="437382" y="55382"/>
                </a:lnTo>
                <a:lnTo>
                  <a:pt x="458934" y="61206"/>
                </a:lnTo>
                <a:lnTo>
                  <a:pt x="462421" y="30873"/>
                </a:lnTo>
                <a:lnTo>
                  <a:pt x="479115" y="17641"/>
                </a:lnTo>
                <a:lnTo>
                  <a:pt x="525631" y="14066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5212080" y="4613889"/>
            <a:ext cx="326744" cy="347158"/>
          </a:xfrm>
          <a:custGeom>
            <a:avLst/>
            <a:gdLst/>
            <a:ahLst/>
            <a:cxnLst/>
            <a:rect l="l" t="t" r="r" b="b"/>
            <a:pathLst>
              <a:path w="326744" h="347158">
                <a:moveTo>
                  <a:pt x="297166" y="52746"/>
                </a:moveTo>
                <a:lnTo>
                  <a:pt x="299518" y="79407"/>
                </a:lnTo>
                <a:lnTo>
                  <a:pt x="314550" y="102332"/>
                </a:lnTo>
                <a:lnTo>
                  <a:pt x="314239" y="126356"/>
                </a:lnTo>
                <a:lnTo>
                  <a:pt x="281743" y="138658"/>
                </a:lnTo>
                <a:lnTo>
                  <a:pt x="298460" y="166582"/>
                </a:lnTo>
                <a:lnTo>
                  <a:pt x="299493" y="193412"/>
                </a:lnTo>
                <a:lnTo>
                  <a:pt x="326744" y="246028"/>
                </a:lnTo>
                <a:lnTo>
                  <a:pt x="320934" y="262935"/>
                </a:lnTo>
                <a:lnTo>
                  <a:pt x="294044" y="269949"/>
                </a:lnTo>
                <a:lnTo>
                  <a:pt x="244839" y="320075"/>
                </a:lnTo>
                <a:lnTo>
                  <a:pt x="258818" y="347158"/>
                </a:lnTo>
                <a:lnTo>
                  <a:pt x="246990" y="343641"/>
                </a:lnTo>
                <a:lnTo>
                  <a:pt x="195495" y="320477"/>
                </a:lnTo>
                <a:lnTo>
                  <a:pt x="156488" y="328994"/>
                </a:lnTo>
                <a:lnTo>
                  <a:pt x="130906" y="322806"/>
                </a:lnTo>
                <a:lnTo>
                  <a:pt x="98891" y="335723"/>
                </a:lnTo>
                <a:lnTo>
                  <a:pt x="71565" y="314361"/>
                </a:lnTo>
                <a:lnTo>
                  <a:pt x="49286" y="322541"/>
                </a:lnTo>
                <a:lnTo>
                  <a:pt x="46229" y="318902"/>
                </a:lnTo>
                <a:lnTo>
                  <a:pt x="21290" y="289227"/>
                </a:lnTo>
                <a:lnTo>
                  <a:pt x="0" y="287303"/>
                </a:lnTo>
                <a:lnTo>
                  <a:pt x="0" y="0"/>
                </a:lnTo>
                <a:lnTo>
                  <a:pt x="33642" y="6334"/>
                </a:lnTo>
                <a:lnTo>
                  <a:pt x="37727" y="21032"/>
                </a:lnTo>
                <a:lnTo>
                  <a:pt x="89984" y="21793"/>
                </a:lnTo>
                <a:lnTo>
                  <a:pt x="156721" y="28637"/>
                </a:lnTo>
                <a:lnTo>
                  <a:pt x="256362" y="27733"/>
                </a:lnTo>
                <a:lnTo>
                  <a:pt x="284154" y="34179"/>
                </a:lnTo>
                <a:lnTo>
                  <a:pt x="297166" y="52746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5212080" y="4985367"/>
            <a:ext cx="255247" cy="172628"/>
          </a:xfrm>
          <a:custGeom>
            <a:avLst/>
            <a:gdLst/>
            <a:ahLst/>
            <a:cxnLst/>
            <a:rect l="l" t="t" r="r" b="b"/>
            <a:pathLst>
              <a:path w="255247" h="172628">
                <a:moveTo>
                  <a:pt x="221385" y="12149"/>
                </a:moveTo>
                <a:lnTo>
                  <a:pt x="251470" y="28543"/>
                </a:lnTo>
                <a:lnTo>
                  <a:pt x="255247" y="44698"/>
                </a:lnTo>
                <a:lnTo>
                  <a:pt x="222152" y="57339"/>
                </a:lnTo>
                <a:lnTo>
                  <a:pt x="196508" y="98212"/>
                </a:lnTo>
                <a:lnTo>
                  <a:pt x="163749" y="139083"/>
                </a:lnTo>
                <a:lnTo>
                  <a:pt x="120304" y="150450"/>
                </a:lnTo>
                <a:lnTo>
                  <a:pt x="86484" y="147783"/>
                </a:lnTo>
                <a:lnTo>
                  <a:pt x="44966" y="163624"/>
                </a:lnTo>
                <a:lnTo>
                  <a:pt x="44965" y="163625"/>
                </a:lnTo>
                <a:lnTo>
                  <a:pt x="24712" y="172628"/>
                </a:lnTo>
                <a:lnTo>
                  <a:pt x="0" y="166229"/>
                </a:lnTo>
                <a:lnTo>
                  <a:pt x="0" y="50900"/>
                </a:lnTo>
                <a:lnTo>
                  <a:pt x="37741" y="44773"/>
                </a:lnTo>
                <a:lnTo>
                  <a:pt x="42104" y="32670"/>
                </a:lnTo>
                <a:lnTo>
                  <a:pt x="63634" y="30885"/>
                </a:lnTo>
                <a:lnTo>
                  <a:pt x="90023" y="21530"/>
                </a:lnTo>
                <a:lnTo>
                  <a:pt x="95881" y="25382"/>
                </a:lnTo>
                <a:lnTo>
                  <a:pt x="121326" y="17856"/>
                </a:lnTo>
                <a:lnTo>
                  <a:pt x="134034" y="3677"/>
                </a:lnTo>
                <a:lnTo>
                  <a:pt x="151792" y="0"/>
                </a:lnTo>
                <a:lnTo>
                  <a:pt x="209823" y="18314"/>
                </a:lnTo>
                <a:lnTo>
                  <a:pt x="221385" y="1214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679133" y="4994813"/>
            <a:ext cx="184523" cy="179526"/>
          </a:xfrm>
          <a:custGeom>
            <a:avLst/>
            <a:gdLst/>
            <a:ahLst/>
            <a:cxnLst/>
            <a:rect l="l" t="t" r="r" b="b"/>
            <a:pathLst>
              <a:path w="184523" h="179526">
                <a:moveTo>
                  <a:pt x="0" y="14849"/>
                </a:moveTo>
                <a:lnTo>
                  <a:pt x="12922" y="5961"/>
                </a:lnTo>
                <a:lnTo>
                  <a:pt x="48941" y="0"/>
                </a:lnTo>
                <a:lnTo>
                  <a:pt x="88877" y="18777"/>
                </a:lnTo>
                <a:lnTo>
                  <a:pt x="111167" y="21031"/>
                </a:lnTo>
                <a:lnTo>
                  <a:pt x="135648" y="37247"/>
                </a:lnTo>
                <a:lnTo>
                  <a:pt x="131756" y="57669"/>
                </a:lnTo>
                <a:lnTo>
                  <a:pt x="151495" y="67528"/>
                </a:lnTo>
                <a:lnTo>
                  <a:pt x="159327" y="92723"/>
                </a:lnTo>
                <a:lnTo>
                  <a:pt x="178247" y="108045"/>
                </a:lnTo>
                <a:lnTo>
                  <a:pt x="174420" y="117027"/>
                </a:lnTo>
                <a:lnTo>
                  <a:pt x="184523" y="123137"/>
                </a:lnTo>
                <a:lnTo>
                  <a:pt x="170180" y="127594"/>
                </a:lnTo>
                <a:lnTo>
                  <a:pt x="138247" y="125829"/>
                </a:lnTo>
                <a:lnTo>
                  <a:pt x="132907" y="117487"/>
                </a:lnTo>
                <a:lnTo>
                  <a:pt x="121575" y="122296"/>
                </a:lnTo>
                <a:lnTo>
                  <a:pt x="125408" y="133088"/>
                </a:lnTo>
                <a:lnTo>
                  <a:pt x="110576" y="152303"/>
                </a:lnTo>
                <a:lnTo>
                  <a:pt x="101108" y="172980"/>
                </a:lnTo>
                <a:lnTo>
                  <a:pt x="87469" y="179526"/>
                </a:lnTo>
                <a:lnTo>
                  <a:pt x="77763" y="152026"/>
                </a:lnTo>
                <a:lnTo>
                  <a:pt x="83484" y="126293"/>
                </a:lnTo>
                <a:lnTo>
                  <a:pt x="81751" y="99841"/>
                </a:lnTo>
                <a:lnTo>
                  <a:pt x="50492" y="64004"/>
                </a:lnTo>
                <a:lnTo>
                  <a:pt x="33299" y="38592"/>
                </a:lnTo>
                <a:lnTo>
                  <a:pt x="16518" y="20723"/>
                </a:lnTo>
                <a:lnTo>
                  <a:pt x="0" y="1484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332384" y="5009653"/>
            <a:ext cx="509699" cy="273158"/>
          </a:xfrm>
          <a:custGeom>
            <a:avLst/>
            <a:gdLst/>
            <a:ahLst/>
            <a:cxnLst/>
            <a:rect l="l" t="t" r="r" b="b"/>
            <a:pathLst>
              <a:path w="509699" h="273158">
                <a:moveTo>
                  <a:pt x="434218" y="164686"/>
                </a:moveTo>
                <a:lnTo>
                  <a:pt x="458397" y="175791"/>
                </a:lnTo>
                <a:lnTo>
                  <a:pt x="483862" y="166094"/>
                </a:lnTo>
                <a:lnTo>
                  <a:pt x="508439" y="176437"/>
                </a:lnTo>
                <a:lnTo>
                  <a:pt x="509699" y="191981"/>
                </a:lnTo>
                <a:lnTo>
                  <a:pt x="483422" y="204949"/>
                </a:lnTo>
                <a:lnTo>
                  <a:pt x="466963" y="199304"/>
                </a:lnTo>
                <a:lnTo>
                  <a:pt x="451803" y="272012"/>
                </a:lnTo>
                <a:lnTo>
                  <a:pt x="419942" y="265683"/>
                </a:lnTo>
                <a:lnTo>
                  <a:pt x="380510" y="243775"/>
                </a:lnTo>
                <a:lnTo>
                  <a:pt x="316720" y="257787"/>
                </a:lnTo>
                <a:lnTo>
                  <a:pt x="289849" y="273158"/>
                </a:lnTo>
                <a:lnTo>
                  <a:pt x="210271" y="269987"/>
                </a:lnTo>
                <a:lnTo>
                  <a:pt x="168635" y="260588"/>
                </a:lnTo>
                <a:lnTo>
                  <a:pt x="147639" y="265001"/>
                </a:lnTo>
                <a:lnTo>
                  <a:pt x="132051" y="240223"/>
                </a:lnTo>
                <a:lnTo>
                  <a:pt x="122127" y="229718"/>
                </a:lnTo>
                <a:lnTo>
                  <a:pt x="134683" y="219546"/>
                </a:lnTo>
                <a:lnTo>
                  <a:pt x="121315" y="212042"/>
                </a:lnTo>
                <a:lnTo>
                  <a:pt x="104304" y="225548"/>
                </a:lnTo>
                <a:lnTo>
                  <a:pt x="72710" y="208039"/>
                </a:lnTo>
                <a:lnTo>
                  <a:pt x="68456" y="183195"/>
                </a:lnTo>
                <a:lnTo>
                  <a:pt x="35445" y="169020"/>
                </a:lnTo>
                <a:lnTo>
                  <a:pt x="29369" y="149843"/>
                </a:lnTo>
                <a:lnTo>
                  <a:pt x="0" y="126164"/>
                </a:lnTo>
                <a:lnTo>
                  <a:pt x="43445" y="114797"/>
                </a:lnTo>
                <a:lnTo>
                  <a:pt x="76204" y="73926"/>
                </a:lnTo>
                <a:lnTo>
                  <a:pt x="101848" y="33053"/>
                </a:lnTo>
                <a:lnTo>
                  <a:pt x="134943" y="20412"/>
                </a:lnTo>
                <a:lnTo>
                  <a:pt x="158336" y="7506"/>
                </a:lnTo>
                <a:lnTo>
                  <a:pt x="191863" y="14180"/>
                </a:lnTo>
                <a:lnTo>
                  <a:pt x="226602" y="14404"/>
                </a:lnTo>
                <a:lnTo>
                  <a:pt x="251758" y="29131"/>
                </a:lnTo>
                <a:lnTo>
                  <a:pt x="270259" y="19878"/>
                </a:lnTo>
                <a:lnTo>
                  <a:pt x="310260" y="14086"/>
                </a:lnTo>
                <a:lnTo>
                  <a:pt x="323888" y="0"/>
                </a:lnTo>
                <a:lnTo>
                  <a:pt x="346749" y="9"/>
                </a:lnTo>
                <a:lnTo>
                  <a:pt x="363267" y="5883"/>
                </a:lnTo>
                <a:lnTo>
                  <a:pt x="380048" y="23752"/>
                </a:lnTo>
                <a:lnTo>
                  <a:pt x="397241" y="49164"/>
                </a:lnTo>
                <a:lnTo>
                  <a:pt x="428500" y="85001"/>
                </a:lnTo>
                <a:lnTo>
                  <a:pt x="430233" y="111453"/>
                </a:lnTo>
                <a:lnTo>
                  <a:pt x="424512" y="137186"/>
                </a:lnTo>
                <a:lnTo>
                  <a:pt x="434218" y="164686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377663" y="4518376"/>
            <a:ext cx="299787" cy="148668"/>
          </a:xfrm>
          <a:custGeom>
            <a:avLst/>
            <a:gdLst/>
            <a:ahLst/>
            <a:cxnLst/>
            <a:rect l="l" t="t" r="r" b="b"/>
            <a:pathLst>
              <a:path w="299787" h="148668">
                <a:moveTo>
                  <a:pt x="294696" y="45647"/>
                </a:moveTo>
                <a:lnTo>
                  <a:pt x="299787" y="72643"/>
                </a:lnTo>
                <a:lnTo>
                  <a:pt x="255362" y="91941"/>
                </a:lnTo>
                <a:lnTo>
                  <a:pt x="242786" y="125964"/>
                </a:lnTo>
                <a:lnTo>
                  <a:pt x="183958" y="148668"/>
                </a:lnTo>
                <a:lnTo>
                  <a:pt x="131583" y="148259"/>
                </a:lnTo>
                <a:lnTo>
                  <a:pt x="118571" y="129692"/>
                </a:lnTo>
                <a:lnTo>
                  <a:pt x="90779" y="123246"/>
                </a:lnTo>
                <a:lnTo>
                  <a:pt x="86442" y="107865"/>
                </a:lnTo>
                <a:lnTo>
                  <a:pt x="92224" y="91362"/>
                </a:lnTo>
                <a:lnTo>
                  <a:pt x="68271" y="81796"/>
                </a:lnTo>
                <a:lnTo>
                  <a:pt x="11523" y="71238"/>
                </a:lnTo>
                <a:lnTo>
                  <a:pt x="0" y="20578"/>
                </a:lnTo>
                <a:lnTo>
                  <a:pt x="62063" y="2092"/>
                </a:lnTo>
                <a:lnTo>
                  <a:pt x="152940" y="5957"/>
                </a:lnTo>
                <a:lnTo>
                  <a:pt x="206174" y="0"/>
                </a:lnTo>
                <a:lnTo>
                  <a:pt x="213774" y="12535"/>
                </a:lnTo>
                <a:lnTo>
                  <a:pt x="242607" y="16406"/>
                </a:lnTo>
                <a:lnTo>
                  <a:pt x="294696" y="4564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77663" y="4422091"/>
            <a:ext cx="385858" cy="141932"/>
          </a:xfrm>
          <a:custGeom>
            <a:avLst/>
            <a:gdLst/>
            <a:ahLst/>
            <a:cxnLst/>
            <a:rect l="l" t="t" r="r" b="b"/>
            <a:pathLst>
              <a:path w="385858" h="141932">
                <a:moveTo>
                  <a:pt x="337712" y="29870"/>
                </a:moveTo>
                <a:lnTo>
                  <a:pt x="363821" y="43748"/>
                </a:lnTo>
                <a:lnTo>
                  <a:pt x="368441" y="72973"/>
                </a:lnTo>
                <a:lnTo>
                  <a:pt x="385858" y="108543"/>
                </a:lnTo>
                <a:lnTo>
                  <a:pt x="327648" y="131795"/>
                </a:lnTo>
                <a:lnTo>
                  <a:pt x="294696" y="141932"/>
                </a:lnTo>
                <a:lnTo>
                  <a:pt x="242607" y="112691"/>
                </a:lnTo>
                <a:lnTo>
                  <a:pt x="213774" y="108820"/>
                </a:lnTo>
                <a:lnTo>
                  <a:pt x="206174" y="96285"/>
                </a:lnTo>
                <a:lnTo>
                  <a:pt x="152940" y="102242"/>
                </a:lnTo>
                <a:lnTo>
                  <a:pt x="62063" y="98377"/>
                </a:lnTo>
                <a:lnTo>
                  <a:pt x="0" y="116863"/>
                </a:lnTo>
                <a:lnTo>
                  <a:pt x="1876" y="71494"/>
                </a:lnTo>
                <a:lnTo>
                  <a:pt x="28506" y="33646"/>
                </a:lnTo>
                <a:lnTo>
                  <a:pt x="79575" y="13065"/>
                </a:lnTo>
                <a:lnTo>
                  <a:pt x="122606" y="58093"/>
                </a:lnTo>
                <a:lnTo>
                  <a:pt x="166078" y="56920"/>
                </a:lnTo>
                <a:lnTo>
                  <a:pt x="176490" y="10651"/>
                </a:lnTo>
                <a:lnTo>
                  <a:pt x="222642" y="0"/>
                </a:lnTo>
                <a:lnTo>
                  <a:pt x="246387" y="7390"/>
                </a:lnTo>
                <a:lnTo>
                  <a:pt x="293027" y="29758"/>
                </a:lnTo>
                <a:lnTo>
                  <a:pt x="337712" y="2987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01425" y="4323196"/>
            <a:ext cx="259657" cy="128765"/>
          </a:xfrm>
          <a:custGeom>
            <a:avLst/>
            <a:gdLst/>
            <a:ahLst/>
            <a:cxnLst/>
            <a:rect l="l" t="t" r="r" b="b"/>
            <a:pathLst>
              <a:path w="259657" h="128765">
                <a:moveTo>
                  <a:pt x="251499" y="8180"/>
                </a:moveTo>
                <a:lnTo>
                  <a:pt x="251498" y="8180"/>
                </a:lnTo>
                <a:lnTo>
                  <a:pt x="259657" y="18699"/>
                </a:lnTo>
                <a:lnTo>
                  <a:pt x="221101" y="53428"/>
                </a:lnTo>
                <a:lnTo>
                  <a:pt x="237169" y="109638"/>
                </a:lnTo>
                <a:lnTo>
                  <a:pt x="213950" y="128765"/>
                </a:lnTo>
                <a:lnTo>
                  <a:pt x="169265" y="128653"/>
                </a:lnTo>
                <a:lnTo>
                  <a:pt x="122625" y="106285"/>
                </a:lnTo>
                <a:lnTo>
                  <a:pt x="98880" y="98895"/>
                </a:lnTo>
                <a:lnTo>
                  <a:pt x="52728" y="109546"/>
                </a:lnTo>
                <a:lnTo>
                  <a:pt x="59017" y="73989"/>
                </a:lnTo>
                <a:lnTo>
                  <a:pt x="39091" y="81585"/>
                </a:lnTo>
                <a:lnTo>
                  <a:pt x="4702" y="60167"/>
                </a:lnTo>
                <a:lnTo>
                  <a:pt x="0" y="25545"/>
                </a:lnTo>
                <a:lnTo>
                  <a:pt x="68515" y="8753"/>
                </a:lnTo>
                <a:lnTo>
                  <a:pt x="136789" y="0"/>
                </a:lnTo>
                <a:lnTo>
                  <a:pt x="195578" y="9962"/>
                </a:lnTo>
                <a:lnTo>
                  <a:pt x="251498" y="8179"/>
                </a:lnTo>
                <a:lnTo>
                  <a:pt x="251499" y="818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449446" y="5249876"/>
            <a:ext cx="334741" cy="180828"/>
          </a:xfrm>
          <a:custGeom>
            <a:avLst/>
            <a:gdLst/>
            <a:ahLst/>
            <a:cxnLst/>
            <a:rect l="l" t="t" r="r" b="b"/>
            <a:pathLst>
              <a:path w="334741" h="180828">
                <a:moveTo>
                  <a:pt x="14989" y="0"/>
                </a:moveTo>
                <a:lnTo>
                  <a:pt x="30577" y="24778"/>
                </a:lnTo>
                <a:lnTo>
                  <a:pt x="51573" y="20365"/>
                </a:lnTo>
                <a:lnTo>
                  <a:pt x="93209" y="29764"/>
                </a:lnTo>
                <a:lnTo>
                  <a:pt x="172787" y="32935"/>
                </a:lnTo>
                <a:lnTo>
                  <a:pt x="199658" y="17564"/>
                </a:lnTo>
                <a:lnTo>
                  <a:pt x="263448" y="3552"/>
                </a:lnTo>
                <a:lnTo>
                  <a:pt x="302880" y="25460"/>
                </a:lnTo>
                <a:lnTo>
                  <a:pt x="334741" y="31789"/>
                </a:lnTo>
                <a:lnTo>
                  <a:pt x="306619" y="56757"/>
                </a:lnTo>
                <a:lnTo>
                  <a:pt x="286830" y="99865"/>
                </a:lnTo>
                <a:lnTo>
                  <a:pt x="304322" y="134249"/>
                </a:lnTo>
                <a:lnTo>
                  <a:pt x="257669" y="126166"/>
                </a:lnTo>
                <a:lnTo>
                  <a:pt x="202469" y="145125"/>
                </a:lnTo>
                <a:lnTo>
                  <a:pt x="201878" y="175138"/>
                </a:lnTo>
                <a:lnTo>
                  <a:pt x="152626" y="180828"/>
                </a:lnTo>
                <a:lnTo>
                  <a:pt x="114448" y="159770"/>
                </a:lnTo>
                <a:lnTo>
                  <a:pt x="71068" y="176332"/>
                </a:lnTo>
                <a:lnTo>
                  <a:pt x="30986" y="174590"/>
                </a:lnTo>
                <a:lnTo>
                  <a:pt x="27139" y="134735"/>
                </a:lnTo>
                <a:lnTo>
                  <a:pt x="0" y="115391"/>
                </a:lnTo>
                <a:lnTo>
                  <a:pt x="8913" y="106888"/>
                </a:lnTo>
                <a:lnTo>
                  <a:pt x="3038" y="99718"/>
                </a:lnTo>
                <a:lnTo>
                  <a:pt x="12152" y="80541"/>
                </a:lnTo>
                <a:lnTo>
                  <a:pt x="32809" y="61699"/>
                </a:lnTo>
                <a:lnTo>
                  <a:pt x="6482" y="35685"/>
                </a:lnTo>
                <a:lnTo>
                  <a:pt x="1621" y="13672"/>
                </a:lnTo>
                <a:lnTo>
                  <a:pt x="14989" y="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510918" y="5763951"/>
            <a:ext cx="150369" cy="42489"/>
          </a:xfrm>
          <a:custGeom>
            <a:avLst/>
            <a:gdLst/>
            <a:ahLst/>
            <a:cxnLst/>
            <a:rect l="l" t="t" r="r" b="b"/>
            <a:pathLst>
              <a:path w="150369" h="42489">
                <a:moveTo>
                  <a:pt x="150369" y="24409"/>
                </a:moveTo>
                <a:lnTo>
                  <a:pt x="143596" y="42187"/>
                </a:lnTo>
                <a:lnTo>
                  <a:pt x="139011" y="42489"/>
                </a:lnTo>
                <a:lnTo>
                  <a:pt x="65829" y="42489"/>
                </a:lnTo>
                <a:lnTo>
                  <a:pt x="66109" y="37366"/>
                </a:lnTo>
                <a:lnTo>
                  <a:pt x="0" y="25614"/>
                </a:lnTo>
                <a:lnTo>
                  <a:pt x="10024" y="0"/>
                </a:lnTo>
                <a:lnTo>
                  <a:pt x="39647" y="20309"/>
                </a:lnTo>
                <a:lnTo>
                  <a:pt x="81824" y="16875"/>
                </a:lnTo>
                <a:lnTo>
                  <a:pt x="122149" y="21153"/>
                </a:lnTo>
                <a:lnTo>
                  <a:pt x="120838" y="31641"/>
                </a:lnTo>
                <a:lnTo>
                  <a:pt x="150369" y="2440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328582" y="5395001"/>
            <a:ext cx="349730" cy="326462"/>
          </a:xfrm>
          <a:custGeom>
            <a:avLst/>
            <a:gdLst/>
            <a:ahLst/>
            <a:cxnLst/>
            <a:rect l="l" t="t" r="r" b="b"/>
            <a:pathLst>
              <a:path w="349730" h="326462">
                <a:moveTo>
                  <a:pt x="151850" y="29465"/>
                </a:moveTo>
                <a:lnTo>
                  <a:pt x="191932" y="31207"/>
                </a:lnTo>
                <a:lnTo>
                  <a:pt x="235312" y="14645"/>
                </a:lnTo>
                <a:lnTo>
                  <a:pt x="273490" y="35703"/>
                </a:lnTo>
                <a:lnTo>
                  <a:pt x="322742" y="30013"/>
                </a:lnTo>
                <a:lnTo>
                  <a:pt x="323333" y="0"/>
                </a:lnTo>
                <a:lnTo>
                  <a:pt x="349730" y="15958"/>
                </a:lnTo>
                <a:lnTo>
                  <a:pt x="332954" y="53676"/>
                </a:lnTo>
                <a:lnTo>
                  <a:pt x="320076" y="60434"/>
                </a:lnTo>
                <a:lnTo>
                  <a:pt x="287062" y="58722"/>
                </a:lnTo>
                <a:lnTo>
                  <a:pt x="258786" y="53025"/>
                </a:lnTo>
                <a:lnTo>
                  <a:pt x="193164" y="68691"/>
                </a:lnTo>
                <a:lnTo>
                  <a:pt x="230726" y="102569"/>
                </a:lnTo>
                <a:lnTo>
                  <a:pt x="203197" y="112392"/>
                </a:lnTo>
                <a:lnTo>
                  <a:pt x="173017" y="112453"/>
                </a:lnTo>
                <a:lnTo>
                  <a:pt x="144351" y="81415"/>
                </a:lnTo>
                <a:lnTo>
                  <a:pt x="134181" y="94640"/>
                </a:lnTo>
                <a:lnTo>
                  <a:pt x="146289" y="130635"/>
                </a:lnTo>
                <a:lnTo>
                  <a:pt x="173398" y="158918"/>
                </a:lnTo>
                <a:lnTo>
                  <a:pt x="152973" y="172123"/>
                </a:lnTo>
                <a:lnTo>
                  <a:pt x="183151" y="199900"/>
                </a:lnTo>
                <a:lnTo>
                  <a:pt x="209974" y="217378"/>
                </a:lnTo>
                <a:lnTo>
                  <a:pt x="210786" y="251428"/>
                </a:lnTo>
                <a:lnTo>
                  <a:pt x="160662" y="235457"/>
                </a:lnTo>
                <a:lnTo>
                  <a:pt x="176646" y="266195"/>
                </a:lnTo>
                <a:lnTo>
                  <a:pt x="142237" y="272522"/>
                </a:lnTo>
                <a:lnTo>
                  <a:pt x="162788" y="325708"/>
                </a:lnTo>
                <a:lnTo>
                  <a:pt x="126797" y="326462"/>
                </a:lnTo>
                <a:lnTo>
                  <a:pt x="82364" y="300246"/>
                </a:lnTo>
                <a:lnTo>
                  <a:pt x="62043" y="252032"/>
                </a:lnTo>
                <a:lnTo>
                  <a:pt x="52562" y="211934"/>
                </a:lnTo>
                <a:lnTo>
                  <a:pt x="31429" y="184232"/>
                </a:lnTo>
                <a:lnTo>
                  <a:pt x="3668" y="149864"/>
                </a:lnTo>
                <a:lnTo>
                  <a:pt x="0" y="132702"/>
                </a:lnTo>
                <a:lnTo>
                  <a:pt x="25196" y="103472"/>
                </a:lnTo>
                <a:lnTo>
                  <a:pt x="28447" y="83886"/>
                </a:lnTo>
                <a:lnTo>
                  <a:pt x="46057" y="75147"/>
                </a:lnTo>
                <a:lnTo>
                  <a:pt x="47143" y="59313"/>
                </a:lnTo>
                <a:lnTo>
                  <a:pt x="82588" y="53977"/>
                </a:lnTo>
                <a:lnTo>
                  <a:pt x="103245" y="40803"/>
                </a:lnTo>
                <a:lnTo>
                  <a:pt x="132610" y="41971"/>
                </a:lnTo>
                <a:lnTo>
                  <a:pt x="141522" y="31465"/>
                </a:lnTo>
                <a:lnTo>
                  <a:pt x="151850" y="29465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654827" y="5382144"/>
            <a:ext cx="1009130" cy="374784"/>
          </a:xfrm>
          <a:custGeom>
            <a:avLst/>
            <a:gdLst/>
            <a:ahLst/>
            <a:cxnLst/>
            <a:rect l="l" t="t" r="r" b="b"/>
            <a:pathLst>
              <a:path w="1009130" h="374784">
                <a:moveTo>
                  <a:pt x="1007975" y="293489"/>
                </a:moveTo>
                <a:lnTo>
                  <a:pt x="982007" y="303670"/>
                </a:lnTo>
                <a:lnTo>
                  <a:pt x="962977" y="288319"/>
                </a:lnTo>
                <a:lnTo>
                  <a:pt x="899951" y="280542"/>
                </a:lnTo>
                <a:lnTo>
                  <a:pt x="876676" y="289907"/>
                </a:lnTo>
                <a:lnTo>
                  <a:pt x="815038" y="299280"/>
                </a:lnTo>
                <a:lnTo>
                  <a:pt x="785841" y="298260"/>
                </a:lnTo>
                <a:lnTo>
                  <a:pt x="723489" y="320874"/>
                </a:lnTo>
                <a:lnTo>
                  <a:pt x="678911" y="321062"/>
                </a:lnTo>
                <a:lnTo>
                  <a:pt x="650074" y="309715"/>
                </a:lnTo>
                <a:lnTo>
                  <a:pt x="590417" y="326480"/>
                </a:lnTo>
                <a:lnTo>
                  <a:pt x="572683" y="314759"/>
                </a:lnTo>
                <a:lnTo>
                  <a:pt x="569751" y="348377"/>
                </a:lnTo>
                <a:lnTo>
                  <a:pt x="555238" y="361580"/>
                </a:lnTo>
                <a:lnTo>
                  <a:pt x="540728" y="374784"/>
                </a:lnTo>
                <a:lnTo>
                  <a:pt x="520804" y="347455"/>
                </a:lnTo>
                <a:lnTo>
                  <a:pt x="541327" y="324818"/>
                </a:lnTo>
                <a:lnTo>
                  <a:pt x="508279" y="329951"/>
                </a:lnTo>
                <a:lnTo>
                  <a:pt x="462958" y="316084"/>
                </a:lnTo>
                <a:lnTo>
                  <a:pt x="425697" y="350772"/>
                </a:lnTo>
                <a:lnTo>
                  <a:pt x="343455" y="357546"/>
                </a:lnTo>
                <a:lnTo>
                  <a:pt x="299588" y="325200"/>
                </a:lnTo>
                <a:lnTo>
                  <a:pt x="241176" y="323175"/>
                </a:lnTo>
                <a:lnTo>
                  <a:pt x="228685" y="348179"/>
                </a:lnTo>
                <a:lnTo>
                  <a:pt x="191235" y="355328"/>
                </a:lnTo>
                <a:lnTo>
                  <a:pt x="138833" y="323237"/>
                </a:lnTo>
                <a:lnTo>
                  <a:pt x="79676" y="324323"/>
                </a:lnTo>
                <a:lnTo>
                  <a:pt x="47575" y="264385"/>
                </a:lnTo>
                <a:lnTo>
                  <a:pt x="7989" y="230950"/>
                </a:lnTo>
                <a:lnTo>
                  <a:pt x="34350" y="184085"/>
                </a:lnTo>
                <a:lnTo>
                  <a:pt x="0" y="155286"/>
                </a:lnTo>
                <a:lnTo>
                  <a:pt x="60106" y="97646"/>
                </a:lnTo>
                <a:lnTo>
                  <a:pt x="143551" y="95236"/>
                </a:lnTo>
                <a:lnTo>
                  <a:pt x="166311" y="49434"/>
                </a:lnTo>
                <a:lnTo>
                  <a:pt x="269587" y="57411"/>
                </a:lnTo>
                <a:lnTo>
                  <a:pt x="334722" y="18319"/>
                </a:lnTo>
                <a:lnTo>
                  <a:pt x="397866" y="1282"/>
                </a:lnTo>
                <a:lnTo>
                  <a:pt x="487513" y="0"/>
                </a:lnTo>
                <a:lnTo>
                  <a:pt x="582092" y="42481"/>
                </a:lnTo>
                <a:lnTo>
                  <a:pt x="659825" y="65790"/>
                </a:lnTo>
                <a:lnTo>
                  <a:pt x="722949" y="56499"/>
                </a:lnTo>
                <a:lnTo>
                  <a:pt x="769594" y="61868"/>
                </a:lnTo>
                <a:lnTo>
                  <a:pt x="833570" y="30409"/>
                </a:lnTo>
                <a:lnTo>
                  <a:pt x="891304" y="27546"/>
                </a:lnTo>
                <a:lnTo>
                  <a:pt x="943496" y="57139"/>
                </a:lnTo>
                <a:lnTo>
                  <a:pt x="952703" y="78349"/>
                </a:lnTo>
                <a:lnTo>
                  <a:pt x="947489" y="107678"/>
                </a:lnTo>
                <a:lnTo>
                  <a:pt x="987781" y="122658"/>
                </a:lnTo>
                <a:lnTo>
                  <a:pt x="1009130" y="140256"/>
                </a:lnTo>
                <a:lnTo>
                  <a:pt x="972024" y="157424"/>
                </a:lnTo>
                <a:lnTo>
                  <a:pt x="988940" y="226542"/>
                </a:lnTo>
                <a:lnTo>
                  <a:pt x="978339" y="245206"/>
                </a:lnTo>
                <a:lnTo>
                  <a:pt x="1007974" y="293488"/>
                </a:lnTo>
                <a:lnTo>
                  <a:pt x="1007975" y="29348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647922" y="5376042"/>
            <a:ext cx="159585" cy="119901"/>
          </a:xfrm>
          <a:custGeom>
            <a:avLst/>
            <a:gdLst/>
            <a:ahLst/>
            <a:cxnLst/>
            <a:rect l="l" t="t" r="r" b="b"/>
            <a:pathLst>
              <a:path w="159585" h="119901">
                <a:moveTo>
                  <a:pt x="3993" y="18959"/>
                </a:moveTo>
                <a:lnTo>
                  <a:pt x="59193" y="0"/>
                </a:lnTo>
                <a:lnTo>
                  <a:pt x="105846" y="8083"/>
                </a:lnTo>
                <a:lnTo>
                  <a:pt x="112284" y="31254"/>
                </a:lnTo>
                <a:lnTo>
                  <a:pt x="159585" y="50718"/>
                </a:lnTo>
                <a:lnTo>
                  <a:pt x="149722" y="65481"/>
                </a:lnTo>
                <a:lnTo>
                  <a:pt x="85380" y="68805"/>
                </a:lnTo>
                <a:lnTo>
                  <a:pt x="62262" y="87443"/>
                </a:lnTo>
                <a:lnTo>
                  <a:pt x="17050" y="119901"/>
                </a:lnTo>
                <a:lnTo>
                  <a:pt x="0" y="91831"/>
                </a:lnTo>
                <a:lnTo>
                  <a:pt x="736" y="79393"/>
                </a:lnTo>
                <a:lnTo>
                  <a:pt x="13614" y="72635"/>
                </a:lnTo>
                <a:lnTo>
                  <a:pt x="30390" y="34917"/>
                </a:lnTo>
                <a:lnTo>
                  <a:pt x="3993" y="1895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5282765" y="5343090"/>
            <a:ext cx="92960" cy="184613"/>
          </a:xfrm>
          <a:custGeom>
            <a:avLst/>
            <a:gdLst/>
            <a:ahLst/>
            <a:cxnLst/>
            <a:rect l="l" t="t" r="r" b="b"/>
            <a:pathLst>
              <a:path w="92960" h="184613">
                <a:moveTo>
                  <a:pt x="92960" y="111224"/>
                </a:moveTo>
                <a:lnTo>
                  <a:pt x="91874" y="127058"/>
                </a:lnTo>
                <a:lnTo>
                  <a:pt x="74264" y="135797"/>
                </a:lnTo>
                <a:lnTo>
                  <a:pt x="71013" y="155383"/>
                </a:lnTo>
                <a:lnTo>
                  <a:pt x="45817" y="184613"/>
                </a:lnTo>
                <a:lnTo>
                  <a:pt x="36604" y="180395"/>
                </a:lnTo>
                <a:lnTo>
                  <a:pt x="35520" y="167135"/>
                </a:lnTo>
                <a:lnTo>
                  <a:pt x="5505" y="146900"/>
                </a:lnTo>
                <a:lnTo>
                  <a:pt x="790" y="118185"/>
                </a:lnTo>
                <a:lnTo>
                  <a:pt x="5368" y="77062"/>
                </a:lnTo>
                <a:lnTo>
                  <a:pt x="12763" y="58354"/>
                </a:lnTo>
                <a:lnTo>
                  <a:pt x="3646" y="48858"/>
                </a:lnTo>
                <a:lnTo>
                  <a:pt x="3646" y="48858"/>
                </a:lnTo>
                <a:lnTo>
                  <a:pt x="0" y="29682"/>
                </a:lnTo>
                <a:lnTo>
                  <a:pt x="23494" y="0"/>
                </a:lnTo>
                <a:lnTo>
                  <a:pt x="26938" y="11339"/>
                </a:lnTo>
                <a:lnTo>
                  <a:pt x="41519" y="6003"/>
                </a:lnTo>
                <a:lnTo>
                  <a:pt x="53064" y="22177"/>
                </a:lnTo>
                <a:lnTo>
                  <a:pt x="66025" y="28348"/>
                </a:lnTo>
                <a:lnTo>
                  <a:pt x="69671" y="50193"/>
                </a:lnTo>
                <a:lnTo>
                  <a:pt x="69671" y="50193"/>
                </a:lnTo>
                <a:lnTo>
                  <a:pt x="62786" y="70703"/>
                </a:lnTo>
                <a:lnTo>
                  <a:pt x="70481" y="96549"/>
                </a:lnTo>
                <a:lnTo>
                  <a:pt x="92960" y="111224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5212080" y="5148992"/>
            <a:ext cx="75345" cy="206649"/>
          </a:xfrm>
          <a:custGeom>
            <a:avLst/>
            <a:gdLst/>
            <a:ahLst/>
            <a:cxnLst/>
            <a:rect l="l" t="t" r="r" b="b"/>
            <a:pathLst>
              <a:path w="75345" h="206649">
                <a:moveTo>
                  <a:pt x="0" y="2604"/>
                </a:moveTo>
                <a:lnTo>
                  <a:pt x="24712" y="9003"/>
                </a:lnTo>
                <a:lnTo>
                  <a:pt x="44965" y="0"/>
                </a:lnTo>
                <a:lnTo>
                  <a:pt x="58129" y="23345"/>
                </a:lnTo>
                <a:lnTo>
                  <a:pt x="75345" y="40521"/>
                </a:lnTo>
                <a:lnTo>
                  <a:pt x="54483" y="63198"/>
                </a:lnTo>
                <a:lnTo>
                  <a:pt x="29976" y="49858"/>
                </a:lnTo>
                <a:lnTo>
                  <a:pt x="0" y="50525"/>
                </a:lnTo>
                <a:lnTo>
                  <a:pt x="0" y="181968"/>
                </a:lnTo>
                <a:lnTo>
                  <a:pt x="30344" y="196403"/>
                </a:lnTo>
                <a:lnTo>
                  <a:pt x="24384" y="206649"/>
                </a:lnTo>
                <a:lnTo>
                  <a:pt x="24384" y="206649"/>
                </a:lnTo>
                <a:lnTo>
                  <a:pt x="0" y="195974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228943" y="4693978"/>
            <a:ext cx="3324402" cy="1112462"/>
          </a:xfrm>
          <a:custGeom>
            <a:avLst/>
            <a:gdLst/>
            <a:ahLst/>
            <a:cxnLst/>
            <a:rect l="l" t="t" r="r" b="b"/>
            <a:pathLst>
              <a:path w="3324402" h="1112462">
                <a:moveTo>
                  <a:pt x="356798" y="669497"/>
                </a:moveTo>
                <a:lnTo>
                  <a:pt x="352472" y="635141"/>
                </a:lnTo>
                <a:lnTo>
                  <a:pt x="389647" y="619453"/>
                </a:lnTo>
                <a:lnTo>
                  <a:pt x="340873" y="514760"/>
                </a:lnTo>
                <a:lnTo>
                  <a:pt x="448215" y="490682"/>
                </a:lnTo>
                <a:lnTo>
                  <a:pt x="475951" y="477266"/>
                </a:lnTo>
                <a:lnTo>
                  <a:pt x="515050" y="369364"/>
                </a:lnTo>
                <a:lnTo>
                  <a:pt x="622545" y="389197"/>
                </a:lnTo>
                <a:lnTo>
                  <a:pt x="652684" y="361955"/>
                </a:lnTo>
                <a:lnTo>
                  <a:pt x="655271" y="301520"/>
                </a:lnTo>
                <a:lnTo>
                  <a:pt x="700276" y="295889"/>
                </a:lnTo>
                <a:lnTo>
                  <a:pt x="741522" y="255763"/>
                </a:lnTo>
                <a:lnTo>
                  <a:pt x="762725" y="250808"/>
                </a:lnTo>
                <a:lnTo>
                  <a:pt x="776953" y="292859"/>
                </a:lnTo>
                <a:lnTo>
                  <a:pt x="822495" y="324824"/>
                </a:lnTo>
                <a:lnTo>
                  <a:pt x="899794" y="347456"/>
                </a:lnTo>
                <a:lnTo>
                  <a:pt x="937181" y="395995"/>
                </a:lnTo>
                <a:lnTo>
                  <a:pt x="916317" y="466413"/>
                </a:lnTo>
                <a:lnTo>
                  <a:pt x="935812" y="492548"/>
                </a:lnTo>
                <a:lnTo>
                  <a:pt x="1000205" y="502853"/>
                </a:lnTo>
                <a:lnTo>
                  <a:pt x="1073186" y="511267"/>
                </a:lnTo>
                <a:lnTo>
                  <a:pt x="1138654" y="548822"/>
                </a:lnTo>
                <a:lnTo>
                  <a:pt x="1172138" y="555512"/>
                </a:lnTo>
                <a:lnTo>
                  <a:pt x="1196825" y="611071"/>
                </a:lnTo>
                <a:lnTo>
                  <a:pt x="1228629" y="646859"/>
                </a:lnTo>
                <a:lnTo>
                  <a:pt x="1288362" y="645457"/>
                </a:lnTo>
                <a:lnTo>
                  <a:pt x="1400207" y="658969"/>
                </a:lnTo>
                <a:lnTo>
                  <a:pt x="1472278" y="650585"/>
                </a:lnTo>
                <a:lnTo>
                  <a:pt x="1525769" y="659561"/>
                </a:lnTo>
                <a:lnTo>
                  <a:pt x="1605924" y="696167"/>
                </a:lnTo>
                <a:lnTo>
                  <a:pt x="1671491" y="696114"/>
                </a:lnTo>
                <a:lnTo>
                  <a:pt x="1695480" y="714854"/>
                </a:lnTo>
                <a:lnTo>
                  <a:pt x="1758570" y="682495"/>
                </a:lnTo>
                <a:lnTo>
                  <a:pt x="1846107" y="661571"/>
                </a:lnTo>
                <a:lnTo>
                  <a:pt x="1927323" y="659285"/>
                </a:lnTo>
                <a:lnTo>
                  <a:pt x="1990640" y="638084"/>
                </a:lnTo>
                <a:lnTo>
                  <a:pt x="2029524" y="605805"/>
                </a:lnTo>
                <a:lnTo>
                  <a:pt x="2067449" y="585538"/>
                </a:lnTo>
                <a:lnTo>
                  <a:pt x="2058679" y="565646"/>
                </a:lnTo>
                <a:lnTo>
                  <a:pt x="2041374" y="542487"/>
                </a:lnTo>
                <a:lnTo>
                  <a:pt x="2069818" y="503637"/>
                </a:lnTo>
                <a:lnTo>
                  <a:pt x="2100312" y="509087"/>
                </a:lnTo>
                <a:lnTo>
                  <a:pt x="2156007" y="521306"/>
                </a:lnTo>
                <a:lnTo>
                  <a:pt x="2210000" y="489309"/>
                </a:lnTo>
                <a:lnTo>
                  <a:pt x="2292622" y="465960"/>
                </a:lnTo>
                <a:lnTo>
                  <a:pt x="2332329" y="426126"/>
                </a:lnTo>
                <a:lnTo>
                  <a:pt x="2370467" y="408978"/>
                </a:lnTo>
                <a:lnTo>
                  <a:pt x="2449180" y="400982"/>
                </a:lnTo>
                <a:lnTo>
                  <a:pt x="2491930" y="407776"/>
                </a:lnTo>
                <a:lnTo>
                  <a:pt x="2497867" y="386358"/>
                </a:lnTo>
                <a:lnTo>
                  <a:pt x="2448760" y="344231"/>
                </a:lnTo>
                <a:lnTo>
                  <a:pt x="2405279" y="324965"/>
                </a:lnTo>
                <a:lnTo>
                  <a:pt x="2363629" y="347205"/>
                </a:lnTo>
                <a:lnTo>
                  <a:pt x="2310171" y="337822"/>
                </a:lnTo>
                <a:lnTo>
                  <a:pt x="2279495" y="345467"/>
                </a:lnTo>
                <a:lnTo>
                  <a:pt x="2265539" y="320828"/>
                </a:lnTo>
                <a:lnTo>
                  <a:pt x="2303823" y="260608"/>
                </a:lnTo>
                <a:lnTo>
                  <a:pt x="2330212" y="215170"/>
                </a:lnTo>
                <a:lnTo>
                  <a:pt x="2395260" y="237924"/>
                </a:lnTo>
                <a:lnTo>
                  <a:pt x="2471621" y="199841"/>
                </a:lnTo>
                <a:lnTo>
                  <a:pt x="2471129" y="173321"/>
                </a:lnTo>
                <a:lnTo>
                  <a:pt x="2520043" y="109400"/>
                </a:lnTo>
                <a:lnTo>
                  <a:pt x="2550177" y="90081"/>
                </a:lnTo>
                <a:lnTo>
                  <a:pt x="2549505" y="56806"/>
                </a:lnTo>
                <a:lnTo>
                  <a:pt x="2519772" y="42483"/>
                </a:lnTo>
                <a:lnTo>
                  <a:pt x="2564530" y="12499"/>
                </a:lnTo>
                <a:lnTo>
                  <a:pt x="2631866" y="1632"/>
                </a:lnTo>
                <a:lnTo>
                  <a:pt x="2703703" y="0"/>
                </a:lnTo>
                <a:lnTo>
                  <a:pt x="2784806" y="17945"/>
                </a:lnTo>
                <a:lnTo>
                  <a:pt x="2832389" y="40138"/>
                </a:lnTo>
                <a:lnTo>
                  <a:pt x="2865879" y="100920"/>
                </a:lnTo>
                <a:lnTo>
                  <a:pt x="2886186" y="126857"/>
                </a:lnTo>
                <a:lnTo>
                  <a:pt x="2905059" y="163867"/>
                </a:lnTo>
                <a:lnTo>
                  <a:pt x="2925105" y="222900"/>
                </a:lnTo>
                <a:lnTo>
                  <a:pt x="3019413" y="242166"/>
                </a:lnTo>
                <a:lnTo>
                  <a:pt x="3083596" y="285011"/>
                </a:lnTo>
                <a:lnTo>
                  <a:pt x="3105539" y="341635"/>
                </a:lnTo>
                <a:lnTo>
                  <a:pt x="3187872" y="341706"/>
                </a:lnTo>
                <a:lnTo>
                  <a:pt x="3234847" y="317931"/>
                </a:lnTo>
                <a:lnTo>
                  <a:pt x="3324402" y="300165"/>
                </a:lnTo>
                <a:lnTo>
                  <a:pt x="3295927" y="354393"/>
                </a:lnTo>
                <a:lnTo>
                  <a:pt x="3274878" y="376449"/>
                </a:lnTo>
                <a:lnTo>
                  <a:pt x="3256308" y="442475"/>
                </a:lnTo>
                <a:lnTo>
                  <a:pt x="3219866" y="501105"/>
                </a:lnTo>
                <a:lnTo>
                  <a:pt x="3154101" y="490433"/>
                </a:lnTo>
                <a:lnTo>
                  <a:pt x="3107595" y="511720"/>
                </a:lnTo>
                <a:lnTo>
                  <a:pt x="3121866" y="563335"/>
                </a:lnTo>
                <a:lnTo>
                  <a:pt x="3114070" y="634543"/>
                </a:lnTo>
                <a:lnTo>
                  <a:pt x="3086390" y="636168"/>
                </a:lnTo>
                <a:lnTo>
                  <a:pt x="3086723" y="666784"/>
                </a:lnTo>
                <a:lnTo>
                  <a:pt x="3051733" y="631204"/>
                </a:lnTo>
                <a:lnTo>
                  <a:pt x="3030188" y="664978"/>
                </a:lnTo>
                <a:lnTo>
                  <a:pt x="2946499" y="690935"/>
                </a:lnTo>
                <a:lnTo>
                  <a:pt x="2954964" y="722727"/>
                </a:lnTo>
                <a:lnTo>
                  <a:pt x="2908112" y="720534"/>
                </a:lnTo>
                <a:lnTo>
                  <a:pt x="2882389" y="701645"/>
                </a:lnTo>
                <a:lnTo>
                  <a:pt x="2845161" y="744389"/>
                </a:lnTo>
                <a:lnTo>
                  <a:pt x="2785442" y="776783"/>
                </a:lnTo>
                <a:lnTo>
                  <a:pt x="2741317" y="815435"/>
                </a:lnTo>
                <a:lnTo>
                  <a:pt x="2665561" y="832955"/>
                </a:lnTo>
                <a:lnTo>
                  <a:pt x="2625669" y="861120"/>
                </a:lnTo>
                <a:lnTo>
                  <a:pt x="2567319" y="877572"/>
                </a:lnTo>
                <a:lnTo>
                  <a:pt x="2596116" y="849645"/>
                </a:lnTo>
                <a:lnTo>
                  <a:pt x="2584778" y="826176"/>
                </a:lnTo>
                <a:lnTo>
                  <a:pt x="2627685" y="785666"/>
                </a:lnTo>
                <a:lnTo>
                  <a:pt x="2599062" y="754089"/>
                </a:lnTo>
                <a:lnTo>
                  <a:pt x="2551826" y="775363"/>
                </a:lnTo>
                <a:lnTo>
                  <a:pt x="2490648" y="817269"/>
                </a:lnTo>
                <a:lnTo>
                  <a:pt x="2457261" y="856185"/>
                </a:lnTo>
                <a:lnTo>
                  <a:pt x="2404120" y="859081"/>
                </a:lnTo>
                <a:lnTo>
                  <a:pt x="2376482" y="887204"/>
                </a:lnTo>
                <a:lnTo>
                  <a:pt x="2405038" y="927955"/>
                </a:lnTo>
                <a:lnTo>
                  <a:pt x="2449387" y="937848"/>
                </a:lnTo>
                <a:lnTo>
                  <a:pt x="2451202" y="964899"/>
                </a:lnTo>
                <a:lnTo>
                  <a:pt x="2494072" y="982502"/>
                </a:lnTo>
                <a:lnTo>
                  <a:pt x="2554797" y="939469"/>
                </a:lnTo>
                <a:lnTo>
                  <a:pt x="2602904" y="962931"/>
                </a:lnTo>
                <a:lnTo>
                  <a:pt x="2637945" y="964536"/>
                </a:lnTo>
                <a:lnTo>
                  <a:pt x="2646727" y="996109"/>
                </a:lnTo>
                <a:lnTo>
                  <a:pt x="2570007" y="1012940"/>
                </a:lnTo>
                <a:lnTo>
                  <a:pt x="2544694" y="1045478"/>
                </a:lnTo>
                <a:lnTo>
                  <a:pt x="2492000" y="1075711"/>
                </a:lnTo>
                <a:lnTo>
                  <a:pt x="2467766" y="1112462"/>
                </a:lnTo>
                <a:lnTo>
                  <a:pt x="250076" y="1112462"/>
                </a:lnTo>
                <a:lnTo>
                  <a:pt x="225529" y="1082689"/>
                </a:lnTo>
                <a:lnTo>
                  <a:pt x="136413" y="1058317"/>
                </a:lnTo>
                <a:lnTo>
                  <a:pt x="120376" y="1012008"/>
                </a:lnTo>
                <a:lnTo>
                  <a:pt x="80340" y="983910"/>
                </a:lnTo>
                <a:lnTo>
                  <a:pt x="70693" y="966615"/>
                </a:lnTo>
                <a:lnTo>
                  <a:pt x="62564" y="932262"/>
                </a:lnTo>
                <a:lnTo>
                  <a:pt x="64451" y="908828"/>
                </a:lnTo>
                <a:lnTo>
                  <a:pt x="31544" y="895107"/>
                </a:lnTo>
                <a:lnTo>
                  <a:pt x="13735" y="901176"/>
                </a:lnTo>
                <a:lnTo>
                  <a:pt x="0" y="845403"/>
                </a:lnTo>
                <a:lnTo>
                  <a:pt x="15423" y="831616"/>
                </a:lnTo>
                <a:lnTo>
                  <a:pt x="7958" y="817515"/>
                </a:lnTo>
                <a:lnTo>
                  <a:pt x="59685" y="789042"/>
                </a:lnTo>
                <a:lnTo>
                  <a:pt x="97127" y="777251"/>
                </a:lnTo>
                <a:lnTo>
                  <a:pt x="154485" y="785334"/>
                </a:lnTo>
                <a:lnTo>
                  <a:pt x="174974" y="746851"/>
                </a:lnTo>
                <a:lnTo>
                  <a:pt x="244480" y="739689"/>
                </a:lnTo>
                <a:lnTo>
                  <a:pt x="263796" y="715768"/>
                </a:lnTo>
                <a:lnTo>
                  <a:pt x="349181" y="683121"/>
                </a:lnTo>
                <a:lnTo>
                  <a:pt x="356798" y="66949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212080" y="5469864"/>
            <a:ext cx="26022" cy="46643"/>
          </a:xfrm>
          <a:custGeom>
            <a:avLst/>
            <a:gdLst/>
            <a:ahLst/>
            <a:cxnLst/>
            <a:rect l="l" t="t" r="r" b="b"/>
            <a:pathLst>
              <a:path w="26022" h="46643">
                <a:moveTo>
                  <a:pt x="0" y="0"/>
                </a:moveTo>
                <a:lnTo>
                  <a:pt x="20411" y="13807"/>
                </a:lnTo>
                <a:lnTo>
                  <a:pt x="26022" y="25062"/>
                </a:lnTo>
                <a:lnTo>
                  <a:pt x="15897" y="46643"/>
                </a:lnTo>
                <a:lnTo>
                  <a:pt x="0" y="3176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673628" y="5392965"/>
            <a:ext cx="293710" cy="216378"/>
          </a:xfrm>
          <a:custGeom>
            <a:avLst/>
            <a:gdLst/>
            <a:ahLst/>
            <a:cxnLst/>
            <a:rect l="l" t="t" r="r" b="b"/>
            <a:pathLst>
              <a:path w="293710" h="216378">
                <a:moveTo>
                  <a:pt x="77621" y="0"/>
                </a:moveTo>
                <a:lnTo>
                  <a:pt x="92854" y="2022"/>
                </a:lnTo>
                <a:lnTo>
                  <a:pt x="130094" y="38628"/>
                </a:lnTo>
                <a:lnTo>
                  <a:pt x="154063" y="42745"/>
                </a:lnTo>
                <a:lnTo>
                  <a:pt x="163362" y="27413"/>
                </a:lnTo>
                <a:lnTo>
                  <a:pt x="195716" y="3123"/>
                </a:lnTo>
                <a:lnTo>
                  <a:pt x="224213" y="34858"/>
                </a:lnTo>
                <a:lnTo>
                  <a:pt x="251775" y="77610"/>
                </a:lnTo>
                <a:lnTo>
                  <a:pt x="277021" y="80428"/>
                </a:lnTo>
                <a:lnTo>
                  <a:pt x="293710" y="96676"/>
                </a:lnTo>
                <a:lnTo>
                  <a:pt x="249081" y="101525"/>
                </a:lnTo>
                <a:lnTo>
                  <a:pt x="239656" y="148330"/>
                </a:lnTo>
                <a:lnTo>
                  <a:pt x="230334" y="169439"/>
                </a:lnTo>
                <a:lnTo>
                  <a:pt x="210464" y="183526"/>
                </a:lnTo>
                <a:lnTo>
                  <a:pt x="211912" y="213372"/>
                </a:lnTo>
                <a:lnTo>
                  <a:pt x="198426" y="216378"/>
                </a:lnTo>
                <a:lnTo>
                  <a:pt x="164634" y="184820"/>
                </a:lnTo>
                <a:lnTo>
                  <a:pt x="183316" y="155002"/>
                </a:lnTo>
                <a:lnTo>
                  <a:pt x="167308" y="137316"/>
                </a:lnTo>
                <a:lnTo>
                  <a:pt x="146987" y="141768"/>
                </a:lnTo>
                <a:lnTo>
                  <a:pt x="83081" y="186230"/>
                </a:lnTo>
                <a:lnTo>
                  <a:pt x="81877" y="144432"/>
                </a:lnTo>
                <a:lnTo>
                  <a:pt x="57549" y="134556"/>
                </a:lnTo>
                <a:lnTo>
                  <a:pt x="34546" y="118165"/>
                </a:lnTo>
                <a:lnTo>
                  <a:pt x="49821" y="98971"/>
                </a:lnTo>
                <a:lnTo>
                  <a:pt x="20954" y="78298"/>
                </a:lnTo>
                <a:lnTo>
                  <a:pt x="31855" y="63184"/>
                </a:lnTo>
                <a:lnTo>
                  <a:pt x="11218" y="52754"/>
                </a:lnTo>
                <a:lnTo>
                  <a:pt x="0" y="36917"/>
                </a:lnTo>
                <a:lnTo>
                  <a:pt x="13273" y="27074"/>
                </a:lnTo>
                <a:lnTo>
                  <a:pt x="53652" y="44405"/>
                </a:lnTo>
                <a:lnTo>
                  <a:pt x="82860" y="47987"/>
                </a:lnTo>
                <a:lnTo>
                  <a:pt x="90244" y="40922"/>
                </a:lnTo>
                <a:lnTo>
                  <a:pt x="63559" y="8310"/>
                </a:lnTo>
                <a:lnTo>
                  <a:pt x="77621" y="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663957" y="5520772"/>
            <a:ext cx="73132" cy="60196"/>
          </a:xfrm>
          <a:custGeom>
            <a:avLst/>
            <a:gdLst/>
            <a:ahLst/>
            <a:cxnLst/>
            <a:rect l="l" t="t" r="r" b="b"/>
            <a:pathLst>
              <a:path w="73132" h="60196">
                <a:moveTo>
                  <a:pt x="73132" y="60196"/>
                </a:moveTo>
                <a:lnTo>
                  <a:pt x="35965" y="52184"/>
                </a:lnTo>
                <a:lnTo>
                  <a:pt x="8599" y="24363"/>
                </a:lnTo>
                <a:lnTo>
                  <a:pt x="0" y="1628"/>
                </a:lnTo>
                <a:lnTo>
                  <a:pt x="11270" y="0"/>
                </a:lnTo>
                <a:lnTo>
                  <a:pt x="27318" y="16167"/>
                </a:lnTo>
                <a:lnTo>
                  <a:pt x="51259" y="16032"/>
                </a:lnTo>
                <a:lnTo>
                  <a:pt x="51010" y="25330"/>
                </a:lnTo>
                <a:lnTo>
                  <a:pt x="73132" y="60196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355435" y="3687189"/>
            <a:ext cx="589036" cy="621827"/>
          </a:xfrm>
          <a:custGeom>
            <a:avLst/>
            <a:gdLst/>
            <a:ahLst/>
            <a:cxnLst/>
            <a:rect l="l" t="t" r="r" b="b"/>
            <a:pathLst>
              <a:path w="589036" h="621827">
                <a:moveTo>
                  <a:pt x="430586" y="66259"/>
                </a:moveTo>
                <a:lnTo>
                  <a:pt x="422675" y="108456"/>
                </a:lnTo>
                <a:lnTo>
                  <a:pt x="505661" y="148613"/>
                </a:lnTo>
                <a:lnTo>
                  <a:pt x="455656" y="194056"/>
                </a:lnTo>
                <a:lnTo>
                  <a:pt x="518678" y="262658"/>
                </a:lnTo>
                <a:lnTo>
                  <a:pt x="482199" y="314326"/>
                </a:lnTo>
                <a:lnTo>
                  <a:pt x="530980" y="359178"/>
                </a:lnTo>
                <a:lnTo>
                  <a:pt x="508828" y="398450"/>
                </a:lnTo>
                <a:lnTo>
                  <a:pt x="589036" y="439741"/>
                </a:lnTo>
                <a:lnTo>
                  <a:pt x="568657" y="470477"/>
                </a:lnTo>
                <a:lnTo>
                  <a:pt x="518324" y="505291"/>
                </a:lnTo>
                <a:lnTo>
                  <a:pt x="402304" y="582223"/>
                </a:lnTo>
                <a:lnTo>
                  <a:pt x="402304" y="582223"/>
                </a:lnTo>
                <a:lnTo>
                  <a:pt x="402304" y="582223"/>
                </a:lnTo>
                <a:lnTo>
                  <a:pt x="303965" y="587018"/>
                </a:lnTo>
                <a:lnTo>
                  <a:pt x="208675" y="609114"/>
                </a:lnTo>
                <a:lnTo>
                  <a:pt x="120517" y="621827"/>
                </a:lnTo>
                <a:lnTo>
                  <a:pt x="89147" y="588949"/>
                </a:lnTo>
                <a:lnTo>
                  <a:pt x="36666" y="569166"/>
                </a:lnTo>
                <a:lnTo>
                  <a:pt x="48729" y="509793"/>
                </a:lnTo>
                <a:lnTo>
                  <a:pt x="22413" y="455428"/>
                </a:lnTo>
                <a:lnTo>
                  <a:pt x="48250" y="420332"/>
                </a:lnTo>
                <a:lnTo>
                  <a:pt x="97382" y="382480"/>
                </a:lnTo>
                <a:lnTo>
                  <a:pt x="221349" y="317118"/>
                </a:lnTo>
                <a:lnTo>
                  <a:pt x="257521" y="304517"/>
                </a:lnTo>
                <a:lnTo>
                  <a:pt x="251884" y="279029"/>
                </a:lnTo>
                <a:lnTo>
                  <a:pt x="176529" y="250548"/>
                </a:lnTo>
                <a:lnTo>
                  <a:pt x="158241" y="227096"/>
                </a:lnTo>
                <a:lnTo>
                  <a:pt x="156810" y="134287"/>
                </a:lnTo>
                <a:lnTo>
                  <a:pt x="72228" y="93255"/>
                </a:lnTo>
                <a:lnTo>
                  <a:pt x="0" y="63760"/>
                </a:lnTo>
                <a:lnTo>
                  <a:pt x="32477" y="47838"/>
                </a:lnTo>
                <a:lnTo>
                  <a:pt x="92695" y="79701"/>
                </a:lnTo>
                <a:lnTo>
                  <a:pt x="163452" y="76717"/>
                </a:lnTo>
                <a:lnTo>
                  <a:pt x="221628" y="91283"/>
                </a:lnTo>
                <a:lnTo>
                  <a:pt x="273297" y="64612"/>
                </a:lnTo>
                <a:lnTo>
                  <a:pt x="299871" y="20425"/>
                </a:lnTo>
                <a:lnTo>
                  <a:pt x="384005" y="0"/>
                </a:lnTo>
                <a:lnTo>
                  <a:pt x="453542" y="23969"/>
                </a:lnTo>
                <a:lnTo>
                  <a:pt x="430586" y="6625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212080" y="4928250"/>
            <a:ext cx="246990" cy="108017"/>
          </a:xfrm>
          <a:custGeom>
            <a:avLst/>
            <a:gdLst/>
            <a:ahLst/>
            <a:cxnLst/>
            <a:rect l="l" t="t" r="r" b="b"/>
            <a:pathLst>
              <a:path w="246990" h="108017">
                <a:moveTo>
                  <a:pt x="246990" y="29280"/>
                </a:moveTo>
                <a:lnTo>
                  <a:pt x="231964" y="44971"/>
                </a:lnTo>
                <a:lnTo>
                  <a:pt x="221385" y="69266"/>
                </a:lnTo>
                <a:lnTo>
                  <a:pt x="209823" y="75431"/>
                </a:lnTo>
                <a:lnTo>
                  <a:pt x="151792" y="57117"/>
                </a:lnTo>
                <a:lnTo>
                  <a:pt x="134034" y="60794"/>
                </a:lnTo>
                <a:lnTo>
                  <a:pt x="121326" y="74973"/>
                </a:lnTo>
                <a:lnTo>
                  <a:pt x="95881" y="82499"/>
                </a:lnTo>
                <a:lnTo>
                  <a:pt x="90023" y="78647"/>
                </a:lnTo>
                <a:lnTo>
                  <a:pt x="63634" y="88002"/>
                </a:lnTo>
                <a:lnTo>
                  <a:pt x="42104" y="89787"/>
                </a:lnTo>
                <a:lnTo>
                  <a:pt x="37741" y="101890"/>
                </a:lnTo>
                <a:lnTo>
                  <a:pt x="0" y="108017"/>
                </a:lnTo>
                <a:lnTo>
                  <a:pt x="0" y="33366"/>
                </a:lnTo>
                <a:lnTo>
                  <a:pt x="5688" y="31797"/>
                </a:lnTo>
                <a:lnTo>
                  <a:pt x="9238" y="18084"/>
                </a:lnTo>
                <a:lnTo>
                  <a:pt x="21674" y="15463"/>
                </a:lnTo>
                <a:lnTo>
                  <a:pt x="30072" y="4614"/>
                </a:lnTo>
                <a:lnTo>
                  <a:pt x="46229" y="4541"/>
                </a:lnTo>
                <a:lnTo>
                  <a:pt x="49286" y="8180"/>
                </a:lnTo>
                <a:lnTo>
                  <a:pt x="71565" y="0"/>
                </a:lnTo>
                <a:lnTo>
                  <a:pt x="98891" y="21362"/>
                </a:lnTo>
                <a:lnTo>
                  <a:pt x="130906" y="8445"/>
                </a:lnTo>
                <a:lnTo>
                  <a:pt x="156488" y="14633"/>
                </a:lnTo>
                <a:lnTo>
                  <a:pt x="195495" y="6116"/>
                </a:lnTo>
                <a:lnTo>
                  <a:pt x="246990" y="2928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212080" y="4901192"/>
            <a:ext cx="46229" cy="60424"/>
          </a:xfrm>
          <a:custGeom>
            <a:avLst/>
            <a:gdLst/>
            <a:ahLst/>
            <a:cxnLst/>
            <a:rect l="l" t="t" r="r" b="b"/>
            <a:pathLst>
              <a:path w="46229" h="60424">
                <a:moveTo>
                  <a:pt x="0" y="0"/>
                </a:moveTo>
                <a:lnTo>
                  <a:pt x="21290" y="1924"/>
                </a:lnTo>
                <a:lnTo>
                  <a:pt x="46229" y="31599"/>
                </a:lnTo>
                <a:lnTo>
                  <a:pt x="30072" y="31672"/>
                </a:lnTo>
                <a:lnTo>
                  <a:pt x="21674" y="42521"/>
                </a:lnTo>
                <a:lnTo>
                  <a:pt x="9238" y="45142"/>
                </a:lnTo>
                <a:lnTo>
                  <a:pt x="5688" y="58855"/>
                </a:lnTo>
                <a:lnTo>
                  <a:pt x="0" y="60424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1397636" y="5422021"/>
            <a:ext cx="528944" cy="384419"/>
          </a:xfrm>
          <a:custGeom>
            <a:avLst/>
            <a:gdLst/>
            <a:ahLst/>
            <a:cxnLst/>
            <a:rect l="l" t="t" r="r" b="b"/>
            <a:pathLst>
              <a:path w="528944" h="384419">
                <a:moveTo>
                  <a:pt x="527337" y="132449"/>
                </a:moveTo>
                <a:lnTo>
                  <a:pt x="477208" y="193130"/>
                </a:lnTo>
                <a:lnTo>
                  <a:pt x="478124" y="255322"/>
                </a:lnTo>
                <a:lnTo>
                  <a:pt x="457716" y="303420"/>
                </a:lnTo>
                <a:lnTo>
                  <a:pt x="467161" y="333621"/>
                </a:lnTo>
                <a:lnTo>
                  <a:pt x="438941" y="376095"/>
                </a:lnTo>
                <a:lnTo>
                  <a:pt x="418617" y="384419"/>
                </a:lnTo>
                <a:lnTo>
                  <a:pt x="0" y="384419"/>
                </a:lnTo>
                <a:lnTo>
                  <a:pt x="25193" y="358299"/>
                </a:lnTo>
                <a:lnTo>
                  <a:pt x="133059" y="340326"/>
                </a:lnTo>
                <a:lnTo>
                  <a:pt x="190997" y="352650"/>
                </a:lnTo>
                <a:lnTo>
                  <a:pt x="247692" y="245503"/>
                </a:lnTo>
                <a:lnTo>
                  <a:pt x="283823" y="274287"/>
                </a:lnTo>
                <a:lnTo>
                  <a:pt x="363314" y="214014"/>
                </a:lnTo>
                <a:lnTo>
                  <a:pt x="394136" y="190601"/>
                </a:lnTo>
                <a:lnTo>
                  <a:pt x="428186" y="116904"/>
                </a:lnTo>
                <a:lnTo>
                  <a:pt x="418898" y="49133"/>
                </a:lnTo>
                <a:lnTo>
                  <a:pt x="441786" y="11062"/>
                </a:lnTo>
                <a:lnTo>
                  <a:pt x="499397" y="0"/>
                </a:lnTo>
                <a:lnTo>
                  <a:pt x="528944" y="83587"/>
                </a:lnTo>
                <a:lnTo>
                  <a:pt x="527337" y="132449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1812966" y="5170530"/>
            <a:ext cx="310251" cy="239980"/>
          </a:xfrm>
          <a:custGeom>
            <a:avLst/>
            <a:gdLst/>
            <a:ahLst/>
            <a:cxnLst/>
            <a:rect l="l" t="t" r="r" b="b"/>
            <a:pathLst>
              <a:path w="310251" h="239980">
                <a:moveTo>
                  <a:pt x="259873" y="95862"/>
                </a:moveTo>
                <a:lnTo>
                  <a:pt x="298205" y="70317"/>
                </a:lnTo>
                <a:lnTo>
                  <a:pt x="310251" y="137976"/>
                </a:lnTo>
                <a:lnTo>
                  <a:pt x="229866" y="154473"/>
                </a:lnTo>
                <a:lnTo>
                  <a:pt x="182409" y="214327"/>
                </a:lnTo>
                <a:lnTo>
                  <a:pt x="97208" y="173130"/>
                </a:lnTo>
                <a:lnTo>
                  <a:pt x="67720" y="239074"/>
                </a:lnTo>
                <a:lnTo>
                  <a:pt x="7454" y="239980"/>
                </a:lnTo>
                <a:lnTo>
                  <a:pt x="0" y="180062"/>
                </a:lnTo>
                <a:lnTo>
                  <a:pt x="26798" y="133686"/>
                </a:lnTo>
                <a:lnTo>
                  <a:pt x="84694" y="130338"/>
                </a:lnTo>
                <a:lnTo>
                  <a:pt x="100484" y="46970"/>
                </a:lnTo>
                <a:lnTo>
                  <a:pt x="116507" y="0"/>
                </a:lnTo>
                <a:lnTo>
                  <a:pt x="180188" y="62746"/>
                </a:lnTo>
                <a:lnTo>
                  <a:pt x="221765" y="83012"/>
                </a:lnTo>
                <a:lnTo>
                  <a:pt x="259873" y="95862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6010346" y="5765964"/>
            <a:ext cx="99957" cy="40455"/>
          </a:xfrm>
          <a:custGeom>
            <a:avLst/>
            <a:gdLst/>
            <a:ahLst/>
            <a:cxnLst/>
            <a:rect l="l" t="t" r="r" b="b"/>
            <a:pathLst>
              <a:path w="99957" h="40455">
                <a:moveTo>
                  <a:pt x="0" y="32037"/>
                </a:moveTo>
                <a:lnTo>
                  <a:pt x="3830" y="31706"/>
                </a:lnTo>
                <a:lnTo>
                  <a:pt x="11659" y="17170"/>
                </a:lnTo>
                <a:lnTo>
                  <a:pt x="50688" y="17983"/>
                </a:lnTo>
                <a:lnTo>
                  <a:pt x="99957" y="0"/>
                </a:lnTo>
                <a:lnTo>
                  <a:pt x="63345" y="25664"/>
                </a:lnTo>
                <a:lnTo>
                  <a:pt x="67291" y="36950"/>
                </a:lnTo>
                <a:lnTo>
                  <a:pt x="61483" y="34835"/>
                </a:lnTo>
                <a:lnTo>
                  <a:pt x="51131" y="39399"/>
                </a:lnTo>
                <a:lnTo>
                  <a:pt x="43019" y="38144"/>
                </a:lnTo>
                <a:lnTo>
                  <a:pt x="40316" y="40455"/>
                </a:lnTo>
                <a:lnTo>
                  <a:pt x="39238" y="34363"/>
                </a:lnTo>
                <a:lnTo>
                  <a:pt x="35332" y="30669"/>
                </a:lnTo>
                <a:lnTo>
                  <a:pt x="24882" y="30042"/>
                </a:lnTo>
                <a:lnTo>
                  <a:pt x="10175" y="35182"/>
                </a:lnTo>
                <a:lnTo>
                  <a:pt x="0" y="3203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984601" y="5796006"/>
            <a:ext cx="94268" cy="10434"/>
          </a:xfrm>
          <a:custGeom>
            <a:avLst/>
            <a:gdLst/>
            <a:ahLst/>
            <a:cxnLst/>
            <a:rect l="l" t="t" r="r" b="b"/>
            <a:pathLst>
              <a:path w="94268" h="10434">
                <a:moveTo>
                  <a:pt x="25745" y="1995"/>
                </a:moveTo>
                <a:lnTo>
                  <a:pt x="35920" y="5140"/>
                </a:lnTo>
                <a:lnTo>
                  <a:pt x="50627" y="0"/>
                </a:lnTo>
                <a:lnTo>
                  <a:pt x="61077" y="627"/>
                </a:lnTo>
                <a:lnTo>
                  <a:pt x="64983" y="4321"/>
                </a:lnTo>
                <a:lnTo>
                  <a:pt x="66061" y="10413"/>
                </a:lnTo>
                <a:lnTo>
                  <a:pt x="68764" y="8102"/>
                </a:lnTo>
                <a:lnTo>
                  <a:pt x="76876" y="9357"/>
                </a:lnTo>
                <a:lnTo>
                  <a:pt x="87228" y="4793"/>
                </a:lnTo>
                <a:lnTo>
                  <a:pt x="93036" y="6908"/>
                </a:lnTo>
                <a:lnTo>
                  <a:pt x="94268" y="10434"/>
                </a:lnTo>
                <a:lnTo>
                  <a:pt x="3254" y="10434"/>
                </a:lnTo>
                <a:lnTo>
                  <a:pt x="0" y="4212"/>
                </a:lnTo>
                <a:lnTo>
                  <a:pt x="25745" y="1995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5212080" y="5198850"/>
            <a:ext cx="86685" cy="146545"/>
          </a:xfrm>
          <a:custGeom>
            <a:avLst/>
            <a:gdLst/>
            <a:ahLst/>
            <a:cxnLst/>
            <a:rect l="l" t="t" r="r" b="b"/>
            <a:pathLst>
              <a:path w="86685" h="146545">
                <a:moveTo>
                  <a:pt x="30344" y="146545"/>
                </a:moveTo>
                <a:lnTo>
                  <a:pt x="0" y="132110"/>
                </a:lnTo>
                <a:lnTo>
                  <a:pt x="0" y="667"/>
                </a:lnTo>
                <a:lnTo>
                  <a:pt x="29976" y="0"/>
                </a:lnTo>
                <a:lnTo>
                  <a:pt x="54483" y="13340"/>
                </a:lnTo>
                <a:lnTo>
                  <a:pt x="54483" y="13340"/>
                </a:lnTo>
                <a:lnTo>
                  <a:pt x="74128" y="13173"/>
                </a:lnTo>
                <a:lnTo>
                  <a:pt x="60559" y="39687"/>
                </a:lnTo>
                <a:lnTo>
                  <a:pt x="86685" y="62866"/>
                </a:lnTo>
                <a:lnTo>
                  <a:pt x="78787" y="91213"/>
                </a:lnTo>
                <a:lnTo>
                  <a:pt x="66027" y="93881"/>
                </a:lnTo>
                <a:lnTo>
                  <a:pt x="55901" y="99384"/>
                </a:lnTo>
                <a:lnTo>
                  <a:pt x="38281" y="113391"/>
                </a:lnTo>
                <a:lnTo>
                  <a:pt x="30344" y="146545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5345551" y="5365267"/>
            <a:ext cx="134881" cy="89047"/>
          </a:xfrm>
          <a:custGeom>
            <a:avLst/>
            <a:gdLst/>
            <a:ahLst/>
            <a:cxnLst/>
            <a:rect l="l" t="t" r="r" b="b"/>
            <a:pathLst>
              <a:path w="134881" h="89047">
                <a:moveTo>
                  <a:pt x="103895" y="0"/>
                </a:moveTo>
                <a:lnTo>
                  <a:pt x="131034" y="19344"/>
                </a:lnTo>
                <a:lnTo>
                  <a:pt x="134881" y="59199"/>
                </a:lnTo>
                <a:lnTo>
                  <a:pt x="124553" y="61199"/>
                </a:lnTo>
                <a:lnTo>
                  <a:pt x="115641" y="71705"/>
                </a:lnTo>
                <a:lnTo>
                  <a:pt x="86276" y="70537"/>
                </a:lnTo>
                <a:lnTo>
                  <a:pt x="65619" y="83711"/>
                </a:lnTo>
                <a:lnTo>
                  <a:pt x="30174" y="89047"/>
                </a:lnTo>
                <a:lnTo>
                  <a:pt x="7695" y="74372"/>
                </a:lnTo>
                <a:lnTo>
                  <a:pt x="0" y="48526"/>
                </a:lnTo>
                <a:lnTo>
                  <a:pt x="6885" y="28016"/>
                </a:lnTo>
                <a:lnTo>
                  <a:pt x="6885" y="28016"/>
                </a:lnTo>
                <a:lnTo>
                  <a:pt x="13770" y="28516"/>
                </a:lnTo>
                <a:lnTo>
                  <a:pt x="16201" y="16176"/>
                </a:lnTo>
                <a:lnTo>
                  <a:pt x="48200" y="6838"/>
                </a:lnTo>
                <a:lnTo>
                  <a:pt x="60334" y="4523"/>
                </a:lnTo>
                <a:lnTo>
                  <a:pt x="78782" y="1002"/>
                </a:lnTo>
                <a:lnTo>
                  <a:pt x="103895" y="0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257045" y="5133150"/>
            <a:ext cx="225210" cy="236640"/>
          </a:xfrm>
          <a:custGeom>
            <a:avLst/>
            <a:gdLst/>
            <a:ahLst/>
            <a:cxnLst/>
            <a:rect l="l" t="t" r="r" b="b"/>
            <a:pathLst>
              <a:path w="225210" h="236640">
                <a:moveTo>
                  <a:pt x="0" y="15842"/>
                </a:moveTo>
                <a:lnTo>
                  <a:pt x="1" y="15841"/>
                </a:lnTo>
                <a:lnTo>
                  <a:pt x="41519" y="0"/>
                </a:lnTo>
                <a:lnTo>
                  <a:pt x="75339" y="2667"/>
                </a:lnTo>
                <a:lnTo>
                  <a:pt x="104708" y="26346"/>
                </a:lnTo>
                <a:lnTo>
                  <a:pt x="110784" y="45523"/>
                </a:lnTo>
                <a:lnTo>
                  <a:pt x="143795" y="59698"/>
                </a:lnTo>
                <a:lnTo>
                  <a:pt x="148049" y="84542"/>
                </a:lnTo>
                <a:lnTo>
                  <a:pt x="179643" y="102051"/>
                </a:lnTo>
                <a:lnTo>
                  <a:pt x="196654" y="88545"/>
                </a:lnTo>
                <a:lnTo>
                  <a:pt x="210022" y="96049"/>
                </a:lnTo>
                <a:lnTo>
                  <a:pt x="197466" y="106221"/>
                </a:lnTo>
                <a:lnTo>
                  <a:pt x="207390" y="116726"/>
                </a:lnTo>
                <a:lnTo>
                  <a:pt x="194022" y="130398"/>
                </a:lnTo>
                <a:lnTo>
                  <a:pt x="198883" y="152411"/>
                </a:lnTo>
                <a:lnTo>
                  <a:pt x="225210" y="178425"/>
                </a:lnTo>
                <a:lnTo>
                  <a:pt x="204553" y="197267"/>
                </a:lnTo>
                <a:lnTo>
                  <a:pt x="195439" y="216444"/>
                </a:lnTo>
                <a:lnTo>
                  <a:pt x="201314" y="223614"/>
                </a:lnTo>
                <a:lnTo>
                  <a:pt x="192401" y="232117"/>
                </a:lnTo>
                <a:lnTo>
                  <a:pt x="167288" y="233119"/>
                </a:lnTo>
                <a:lnTo>
                  <a:pt x="148840" y="236640"/>
                </a:lnTo>
                <a:lnTo>
                  <a:pt x="147035" y="232118"/>
                </a:lnTo>
                <a:lnTo>
                  <a:pt x="153516" y="224948"/>
                </a:lnTo>
                <a:lnTo>
                  <a:pt x="159592" y="210274"/>
                </a:lnTo>
                <a:lnTo>
                  <a:pt x="151896" y="210607"/>
                </a:lnTo>
                <a:lnTo>
                  <a:pt x="141364" y="199435"/>
                </a:lnTo>
                <a:lnTo>
                  <a:pt x="132453" y="196600"/>
                </a:lnTo>
                <a:lnTo>
                  <a:pt x="125365" y="187012"/>
                </a:lnTo>
                <a:lnTo>
                  <a:pt x="115238" y="183260"/>
                </a:lnTo>
                <a:lnTo>
                  <a:pt x="107542" y="174756"/>
                </a:lnTo>
                <a:lnTo>
                  <a:pt x="97821" y="178091"/>
                </a:lnTo>
                <a:lnTo>
                  <a:pt x="90327" y="198101"/>
                </a:lnTo>
                <a:lnTo>
                  <a:pt x="77365" y="202436"/>
                </a:lnTo>
                <a:lnTo>
                  <a:pt x="81820" y="197267"/>
                </a:lnTo>
                <a:lnTo>
                  <a:pt x="61163" y="184761"/>
                </a:lnTo>
                <a:lnTo>
                  <a:pt x="43359" y="178267"/>
                </a:lnTo>
                <a:lnTo>
                  <a:pt x="35442" y="169920"/>
                </a:lnTo>
                <a:lnTo>
                  <a:pt x="21062" y="159581"/>
                </a:lnTo>
                <a:lnTo>
                  <a:pt x="33822" y="156913"/>
                </a:lnTo>
                <a:lnTo>
                  <a:pt x="41720" y="128566"/>
                </a:lnTo>
                <a:lnTo>
                  <a:pt x="15594" y="105387"/>
                </a:lnTo>
                <a:lnTo>
                  <a:pt x="29163" y="78873"/>
                </a:lnTo>
                <a:lnTo>
                  <a:pt x="9518" y="79040"/>
                </a:lnTo>
                <a:lnTo>
                  <a:pt x="9518" y="79040"/>
                </a:lnTo>
                <a:lnTo>
                  <a:pt x="30380" y="56363"/>
                </a:lnTo>
                <a:lnTo>
                  <a:pt x="13164" y="39187"/>
                </a:lnTo>
                <a:lnTo>
                  <a:pt x="0" y="15842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5236464" y="5292731"/>
            <a:ext cx="102401" cy="99217"/>
          </a:xfrm>
          <a:custGeom>
            <a:avLst/>
            <a:gdLst/>
            <a:ahLst/>
            <a:cxnLst/>
            <a:rect l="l" t="t" r="r" b="b"/>
            <a:pathLst>
              <a:path w="102401" h="99217">
                <a:moveTo>
                  <a:pt x="87820" y="56362"/>
                </a:moveTo>
                <a:lnTo>
                  <a:pt x="73239" y="61698"/>
                </a:lnTo>
                <a:lnTo>
                  <a:pt x="69795" y="50359"/>
                </a:lnTo>
                <a:lnTo>
                  <a:pt x="46301" y="80041"/>
                </a:lnTo>
                <a:lnTo>
                  <a:pt x="49947" y="99217"/>
                </a:lnTo>
                <a:lnTo>
                  <a:pt x="38605" y="94548"/>
                </a:lnTo>
                <a:lnTo>
                  <a:pt x="23416" y="74872"/>
                </a:lnTo>
                <a:lnTo>
                  <a:pt x="0" y="62910"/>
                </a:lnTo>
                <a:lnTo>
                  <a:pt x="5960" y="52664"/>
                </a:lnTo>
                <a:lnTo>
                  <a:pt x="13897" y="19510"/>
                </a:lnTo>
                <a:lnTo>
                  <a:pt x="31517" y="5503"/>
                </a:lnTo>
                <a:lnTo>
                  <a:pt x="41643" y="0"/>
                </a:lnTo>
                <a:lnTo>
                  <a:pt x="56023" y="10339"/>
                </a:lnTo>
                <a:lnTo>
                  <a:pt x="63940" y="18686"/>
                </a:lnTo>
                <a:lnTo>
                  <a:pt x="81744" y="25180"/>
                </a:lnTo>
                <a:lnTo>
                  <a:pt x="102401" y="37686"/>
                </a:lnTo>
                <a:lnTo>
                  <a:pt x="97946" y="42855"/>
                </a:lnTo>
                <a:lnTo>
                  <a:pt x="87820" y="56362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5324284" y="5307906"/>
            <a:ext cx="92353" cy="85877"/>
          </a:xfrm>
          <a:custGeom>
            <a:avLst/>
            <a:gdLst/>
            <a:ahLst/>
            <a:cxnLst/>
            <a:rect l="l" t="t" r="r" b="b"/>
            <a:pathLst>
              <a:path w="92353" h="85877">
                <a:moveTo>
                  <a:pt x="28152" y="85377"/>
                </a:moveTo>
                <a:lnTo>
                  <a:pt x="24506" y="63532"/>
                </a:lnTo>
                <a:lnTo>
                  <a:pt x="11545" y="57361"/>
                </a:lnTo>
                <a:lnTo>
                  <a:pt x="0" y="41187"/>
                </a:lnTo>
                <a:lnTo>
                  <a:pt x="10126" y="27680"/>
                </a:lnTo>
                <a:lnTo>
                  <a:pt x="23088" y="23345"/>
                </a:lnTo>
                <a:lnTo>
                  <a:pt x="30582" y="3335"/>
                </a:lnTo>
                <a:lnTo>
                  <a:pt x="40303" y="0"/>
                </a:lnTo>
                <a:lnTo>
                  <a:pt x="47999" y="8504"/>
                </a:lnTo>
                <a:lnTo>
                  <a:pt x="58126" y="12256"/>
                </a:lnTo>
                <a:lnTo>
                  <a:pt x="65214" y="21844"/>
                </a:lnTo>
                <a:lnTo>
                  <a:pt x="74125" y="24679"/>
                </a:lnTo>
                <a:lnTo>
                  <a:pt x="84657" y="35851"/>
                </a:lnTo>
                <a:lnTo>
                  <a:pt x="92353" y="35518"/>
                </a:lnTo>
                <a:lnTo>
                  <a:pt x="86277" y="50192"/>
                </a:lnTo>
                <a:lnTo>
                  <a:pt x="79796" y="57362"/>
                </a:lnTo>
                <a:lnTo>
                  <a:pt x="81601" y="61884"/>
                </a:lnTo>
                <a:lnTo>
                  <a:pt x="69467" y="64199"/>
                </a:lnTo>
                <a:lnTo>
                  <a:pt x="37468" y="73537"/>
                </a:lnTo>
                <a:lnTo>
                  <a:pt x="35037" y="85877"/>
                </a:lnTo>
                <a:lnTo>
                  <a:pt x="28152" y="85377"/>
                </a:lnTo>
                <a:close/>
              </a:path>
            </a:pathLst>
          </a:custGeom>
          <a:solidFill>
            <a:srgbClr val="DEDED6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6754581" y="4577876"/>
            <a:ext cx="2215884" cy="887311"/>
          </a:xfrm>
          <a:custGeom>
            <a:avLst/>
            <a:gdLst/>
            <a:ahLst/>
            <a:cxnLst/>
            <a:rect l="l" t="t" r="r" b="b"/>
            <a:pathLst>
              <a:path w="2215884" h="887311">
                <a:moveTo>
                  <a:pt x="2215884" y="371865"/>
                </a:moveTo>
                <a:lnTo>
                  <a:pt x="2174638" y="411991"/>
                </a:lnTo>
                <a:lnTo>
                  <a:pt x="2129633" y="417622"/>
                </a:lnTo>
                <a:lnTo>
                  <a:pt x="2127046" y="478057"/>
                </a:lnTo>
                <a:lnTo>
                  <a:pt x="2096907" y="505299"/>
                </a:lnTo>
                <a:lnTo>
                  <a:pt x="1989412" y="485466"/>
                </a:lnTo>
                <a:lnTo>
                  <a:pt x="1950313" y="593368"/>
                </a:lnTo>
                <a:lnTo>
                  <a:pt x="1922577" y="606784"/>
                </a:lnTo>
                <a:lnTo>
                  <a:pt x="1815235" y="630862"/>
                </a:lnTo>
                <a:lnTo>
                  <a:pt x="1864009" y="735555"/>
                </a:lnTo>
                <a:lnTo>
                  <a:pt x="1826834" y="751243"/>
                </a:lnTo>
                <a:lnTo>
                  <a:pt x="1831160" y="785599"/>
                </a:lnTo>
                <a:lnTo>
                  <a:pt x="1797762" y="776759"/>
                </a:lnTo>
                <a:lnTo>
                  <a:pt x="1770589" y="755098"/>
                </a:lnTo>
                <a:lnTo>
                  <a:pt x="1690188" y="748795"/>
                </a:lnTo>
                <a:lnTo>
                  <a:pt x="1600344" y="747147"/>
                </a:lnTo>
                <a:lnTo>
                  <a:pt x="1580654" y="753784"/>
                </a:lnTo>
                <a:lnTo>
                  <a:pt x="1503486" y="728445"/>
                </a:lnTo>
                <a:lnTo>
                  <a:pt x="1472732" y="740925"/>
                </a:lnTo>
                <a:lnTo>
                  <a:pt x="1464304" y="776505"/>
                </a:lnTo>
                <a:lnTo>
                  <a:pt x="1375160" y="755743"/>
                </a:lnTo>
                <a:lnTo>
                  <a:pt x="1339486" y="764247"/>
                </a:lnTo>
                <a:lnTo>
                  <a:pt x="1327350" y="790652"/>
                </a:lnTo>
                <a:lnTo>
                  <a:pt x="1296282" y="801792"/>
                </a:lnTo>
                <a:lnTo>
                  <a:pt x="1224813" y="843803"/>
                </a:lnTo>
                <a:lnTo>
                  <a:pt x="1201104" y="886928"/>
                </a:lnTo>
                <a:lnTo>
                  <a:pt x="1180915" y="887311"/>
                </a:lnTo>
                <a:lnTo>
                  <a:pt x="1166065" y="858764"/>
                </a:lnTo>
                <a:lnTo>
                  <a:pt x="1097150" y="856808"/>
                </a:lnTo>
                <a:lnTo>
                  <a:pt x="1086129" y="807437"/>
                </a:lnTo>
                <a:lnTo>
                  <a:pt x="1059726" y="807015"/>
                </a:lnTo>
                <a:lnTo>
                  <a:pt x="1063769" y="746566"/>
                </a:lnTo>
                <a:lnTo>
                  <a:pt x="998898" y="702546"/>
                </a:lnTo>
                <a:lnTo>
                  <a:pt x="905966" y="707247"/>
                </a:lnTo>
                <a:lnTo>
                  <a:pt x="842433" y="716022"/>
                </a:lnTo>
                <a:lnTo>
                  <a:pt x="790685" y="661701"/>
                </a:lnTo>
                <a:lnTo>
                  <a:pt x="746342" y="638906"/>
                </a:lnTo>
                <a:lnTo>
                  <a:pt x="662353" y="595756"/>
                </a:lnTo>
                <a:lnTo>
                  <a:pt x="652228" y="590526"/>
                </a:lnTo>
                <a:lnTo>
                  <a:pt x="512740" y="626140"/>
                </a:lnTo>
                <a:lnTo>
                  <a:pt x="514868" y="848359"/>
                </a:lnTo>
                <a:lnTo>
                  <a:pt x="487074" y="851299"/>
                </a:lnTo>
                <a:lnTo>
                  <a:pt x="449148" y="804043"/>
                </a:lnTo>
                <a:lnTo>
                  <a:pt x="412522" y="787159"/>
                </a:lnTo>
                <a:lnTo>
                  <a:pt x="351013" y="799700"/>
                </a:lnTo>
                <a:lnTo>
                  <a:pt x="327072" y="819752"/>
                </a:lnTo>
                <a:lnTo>
                  <a:pt x="324031" y="805056"/>
                </a:lnTo>
                <a:lnTo>
                  <a:pt x="337348" y="779940"/>
                </a:lnTo>
                <a:lnTo>
                  <a:pt x="327016" y="758943"/>
                </a:lnTo>
                <a:lnTo>
                  <a:pt x="264213" y="738411"/>
                </a:lnTo>
                <a:lnTo>
                  <a:pt x="239768" y="684288"/>
                </a:lnTo>
                <a:lnTo>
                  <a:pt x="209848" y="669041"/>
                </a:lnTo>
                <a:lnTo>
                  <a:pt x="208034" y="649405"/>
                </a:lnTo>
                <a:lnTo>
                  <a:pt x="260750" y="655129"/>
                </a:lnTo>
                <a:lnTo>
                  <a:pt x="262830" y="611065"/>
                </a:lnTo>
                <a:lnTo>
                  <a:pt x="308915" y="601278"/>
                </a:lnTo>
                <a:lnTo>
                  <a:pt x="356247" y="610279"/>
                </a:lnTo>
                <a:lnTo>
                  <a:pt x="366000" y="551482"/>
                </a:lnTo>
                <a:lnTo>
                  <a:pt x="356348" y="514215"/>
                </a:lnTo>
                <a:lnTo>
                  <a:pt x="302122" y="517130"/>
                </a:lnTo>
                <a:lnTo>
                  <a:pt x="256059" y="502421"/>
                </a:lnTo>
                <a:lnTo>
                  <a:pt x="193319" y="528921"/>
                </a:lnTo>
                <a:lnTo>
                  <a:pt x="142767" y="541557"/>
                </a:lnTo>
                <a:lnTo>
                  <a:pt x="115245" y="531811"/>
                </a:lnTo>
                <a:lnTo>
                  <a:pt x="120744" y="500798"/>
                </a:lnTo>
                <a:lnTo>
                  <a:pt x="86201" y="460531"/>
                </a:lnTo>
                <a:lnTo>
                  <a:pt x="45994" y="462214"/>
                </a:lnTo>
                <a:lnTo>
                  <a:pt x="0" y="421334"/>
                </a:lnTo>
                <a:lnTo>
                  <a:pt x="31278" y="375659"/>
                </a:lnTo>
                <a:lnTo>
                  <a:pt x="15452" y="363366"/>
                </a:lnTo>
                <a:lnTo>
                  <a:pt x="58686" y="297151"/>
                </a:lnTo>
                <a:lnTo>
                  <a:pt x="114410" y="332102"/>
                </a:lnTo>
                <a:lnTo>
                  <a:pt x="121158" y="288085"/>
                </a:lnTo>
                <a:lnTo>
                  <a:pt x="233014" y="222536"/>
                </a:lnTo>
                <a:lnTo>
                  <a:pt x="317658" y="220976"/>
                </a:lnTo>
                <a:lnTo>
                  <a:pt x="437093" y="262706"/>
                </a:lnTo>
                <a:lnTo>
                  <a:pt x="501254" y="287086"/>
                </a:lnTo>
                <a:lnTo>
                  <a:pt x="558748" y="261662"/>
                </a:lnTo>
                <a:lnTo>
                  <a:pt x="644652" y="260452"/>
                </a:lnTo>
                <a:lnTo>
                  <a:pt x="713955" y="291682"/>
                </a:lnTo>
                <a:lnTo>
                  <a:pt x="729698" y="273798"/>
                </a:lnTo>
                <a:lnTo>
                  <a:pt x="805809" y="276397"/>
                </a:lnTo>
                <a:lnTo>
                  <a:pt x="819387" y="247855"/>
                </a:lnTo>
                <a:lnTo>
                  <a:pt x="731579" y="206405"/>
                </a:lnTo>
                <a:lnTo>
                  <a:pt x="783584" y="177047"/>
                </a:lnTo>
                <a:lnTo>
                  <a:pt x="773436" y="160628"/>
                </a:lnTo>
                <a:lnTo>
                  <a:pt x="825455" y="144958"/>
                </a:lnTo>
                <a:lnTo>
                  <a:pt x="786337" y="103675"/>
                </a:lnTo>
                <a:lnTo>
                  <a:pt x="811183" y="83109"/>
                </a:lnTo>
                <a:lnTo>
                  <a:pt x="1013946" y="62137"/>
                </a:lnTo>
                <a:lnTo>
                  <a:pt x="1040407" y="47250"/>
                </a:lnTo>
                <a:lnTo>
                  <a:pt x="1175995" y="25002"/>
                </a:lnTo>
                <a:lnTo>
                  <a:pt x="1224712" y="0"/>
                </a:lnTo>
                <a:lnTo>
                  <a:pt x="1322091" y="12989"/>
                </a:lnTo>
                <a:lnTo>
                  <a:pt x="1339153" y="75453"/>
                </a:lnTo>
                <a:lnTo>
                  <a:pt x="1395724" y="60785"/>
                </a:lnTo>
                <a:lnTo>
                  <a:pt x="1465320" y="81339"/>
                </a:lnTo>
                <a:lnTo>
                  <a:pt x="1460831" y="114233"/>
                </a:lnTo>
                <a:lnTo>
                  <a:pt x="1512804" y="110795"/>
                </a:lnTo>
                <a:lnTo>
                  <a:pt x="1648611" y="53923"/>
                </a:lnTo>
                <a:lnTo>
                  <a:pt x="1628783" y="72818"/>
                </a:lnTo>
                <a:lnTo>
                  <a:pt x="1697911" y="119380"/>
                </a:lnTo>
                <a:lnTo>
                  <a:pt x="1818999" y="272438"/>
                </a:lnTo>
                <a:lnTo>
                  <a:pt x="1847874" y="240883"/>
                </a:lnTo>
                <a:lnTo>
                  <a:pt x="1922518" y="275606"/>
                </a:lnTo>
                <a:lnTo>
                  <a:pt x="2000386" y="260118"/>
                </a:lnTo>
                <a:lnTo>
                  <a:pt x="2030303" y="270962"/>
                </a:lnTo>
                <a:lnTo>
                  <a:pt x="2056381" y="305787"/>
                </a:lnTo>
                <a:lnTo>
                  <a:pt x="2094267" y="317485"/>
                </a:lnTo>
                <a:lnTo>
                  <a:pt x="2117335" y="343065"/>
                </a:lnTo>
                <a:lnTo>
                  <a:pt x="2187132" y="335000"/>
                </a:lnTo>
                <a:lnTo>
                  <a:pt x="2215884" y="37186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267321" y="5168402"/>
            <a:ext cx="928028" cy="508765"/>
          </a:xfrm>
          <a:custGeom>
            <a:avLst/>
            <a:gdLst/>
            <a:ahLst/>
            <a:cxnLst/>
            <a:rect l="l" t="t" r="r" b="b"/>
            <a:pathLst>
              <a:path w="928028" h="508765">
                <a:moveTo>
                  <a:pt x="2128" y="257833"/>
                </a:moveTo>
                <a:lnTo>
                  <a:pt x="0" y="35614"/>
                </a:lnTo>
                <a:lnTo>
                  <a:pt x="139488" y="0"/>
                </a:lnTo>
                <a:lnTo>
                  <a:pt x="149613" y="5230"/>
                </a:lnTo>
                <a:lnTo>
                  <a:pt x="233602" y="48380"/>
                </a:lnTo>
                <a:lnTo>
                  <a:pt x="277945" y="71175"/>
                </a:lnTo>
                <a:lnTo>
                  <a:pt x="329693" y="125496"/>
                </a:lnTo>
                <a:lnTo>
                  <a:pt x="393226" y="116721"/>
                </a:lnTo>
                <a:lnTo>
                  <a:pt x="486158" y="112020"/>
                </a:lnTo>
                <a:lnTo>
                  <a:pt x="551029" y="156040"/>
                </a:lnTo>
                <a:lnTo>
                  <a:pt x="546986" y="216489"/>
                </a:lnTo>
                <a:lnTo>
                  <a:pt x="573389" y="216911"/>
                </a:lnTo>
                <a:lnTo>
                  <a:pt x="584410" y="266282"/>
                </a:lnTo>
                <a:lnTo>
                  <a:pt x="653325" y="268238"/>
                </a:lnTo>
                <a:lnTo>
                  <a:pt x="668175" y="296785"/>
                </a:lnTo>
                <a:lnTo>
                  <a:pt x="688364" y="296402"/>
                </a:lnTo>
                <a:lnTo>
                  <a:pt x="712073" y="253277"/>
                </a:lnTo>
                <a:lnTo>
                  <a:pt x="783542" y="211266"/>
                </a:lnTo>
                <a:lnTo>
                  <a:pt x="814610" y="200126"/>
                </a:lnTo>
                <a:lnTo>
                  <a:pt x="830700" y="206059"/>
                </a:lnTo>
                <a:lnTo>
                  <a:pt x="785225" y="245095"/>
                </a:lnTo>
                <a:lnTo>
                  <a:pt x="825206" y="267780"/>
                </a:lnTo>
                <a:lnTo>
                  <a:pt x="863800" y="252755"/>
                </a:lnTo>
                <a:lnTo>
                  <a:pt x="928028" y="284508"/>
                </a:lnTo>
                <a:lnTo>
                  <a:pt x="858640" y="327912"/>
                </a:lnTo>
                <a:lnTo>
                  <a:pt x="817421" y="321974"/>
                </a:lnTo>
                <a:lnTo>
                  <a:pt x="795053" y="323531"/>
                </a:lnTo>
                <a:lnTo>
                  <a:pt x="787291" y="306779"/>
                </a:lnTo>
                <a:lnTo>
                  <a:pt x="798587" y="278832"/>
                </a:lnTo>
                <a:lnTo>
                  <a:pt x="726133" y="292837"/>
                </a:lnTo>
                <a:lnTo>
                  <a:pt x="708909" y="331509"/>
                </a:lnTo>
                <a:lnTo>
                  <a:pt x="683158" y="364819"/>
                </a:lnTo>
                <a:lnTo>
                  <a:pt x="637913" y="361985"/>
                </a:lnTo>
                <a:lnTo>
                  <a:pt x="623868" y="388522"/>
                </a:lnTo>
                <a:lnTo>
                  <a:pt x="663630" y="402902"/>
                </a:lnTo>
                <a:lnTo>
                  <a:pt x="675335" y="447772"/>
                </a:lnTo>
                <a:lnTo>
                  <a:pt x="644880" y="508765"/>
                </a:lnTo>
                <a:lnTo>
                  <a:pt x="604012" y="496039"/>
                </a:lnTo>
                <a:lnTo>
                  <a:pt x="573820" y="495639"/>
                </a:lnTo>
                <a:lnTo>
                  <a:pt x="575313" y="458761"/>
                </a:lnTo>
                <a:lnTo>
                  <a:pt x="503236" y="432966"/>
                </a:lnTo>
                <a:lnTo>
                  <a:pt x="446569" y="403453"/>
                </a:lnTo>
                <a:lnTo>
                  <a:pt x="411228" y="375076"/>
                </a:lnTo>
                <a:lnTo>
                  <a:pt x="349252" y="333454"/>
                </a:lnTo>
                <a:lnTo>
                  <a:pt x="322616" y="271320"/>
                </a:lnTo>
                <a:lnTo>
                  <a:pt x="304435" y="260380"/>
                </a:lnTo>
                <a:lnTo>
                  <a:pt x="245847" y="263155"/>
                </a:lnTo>
                <a:lnTo>
                  <a:pt x="225114" y="250811"/>
                </a:lnTo>
                <a:lnTo>
                  <a:pt x="219321" y="202722"/>
                </a:lnTo>
                <a:lnTo>
                  <a:pt x="146309" y="170873"/>
                </a:lnTo>
                <a:lnTo>
                  <a:pt x="100658" y="205888"/>
                </a:lnTo>
                <a:lnTo>
                  <a:pt x="54365" y="226652"/>
                </a:lnTo>
                <a:lnTo>
                  <a:pt x="63262" y="257009"/>
                </a:lnTo>
                <a:lnTo>
                  <a:pt x="2128" y="257833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3921248" y="3605737"/>
            <a:ext cx="69072" cy="44271"/>
          </a:xfrm>
          <a:custGeom>
            <a:avLst/>
            <a:gdLst/>
            <a:ahLst/>
            <a:cxnLst/>
            <a:rect l="l" t="t" r="r" b="b"/>
            <a:pathLst>
              <a:path w="69072" h="44271">
                <a:moveTo>
                  <a:pt x="0" y="25126"/>
                </a:moveTo>
                <a:lnTo>
                  <a:pt x="69072" y="0"/>
                </a:lnTo>
                <a:lnTo>
                  <a:pt x="69072" y="41194"/>
                </a:lnTo>
                <a:lnTo>
                  <a:pt x="9652" y="44271"/>
                </a:lnTo>
                <a:lnTo>
                  <a:pt x="0" y="2512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715375" y="3233152"/>
            <a:ext cx="8274945" cy="2202558"/>
          </a:xfrm>
          <a:custGeom>
            <a:avLst/>
            <a:gdLst/>
            <a:ahLst/>
            <a:cxnLst/>
            <a:rect l="l" t="t" r="r" b="b"/>
            <a:pathLst>
              <a:path w="8274945" h="2202558">
                <a:moveTo>
                  <a:pt x="1181973" y="1886281"/>
                </a:moveTo>
                <a:lnTo>
                  <a:pt x="1157277" y="1922022"/>
                </a:lnTo>
                <a:lnTo>
                  <a:pt x="1104743" y="1931954"/>
                </a:lnTo>
                <a:lnTo>
                  <a:pt x="1050887" y="1994167"/>
                </a:lnTo>
                <a:lnTo>
                  <a:pt x="1100139" y="2051363"/>
                </a:lnTo>
                <a:lnTo>
                  <a:pt x="1094806" y="2091958"/>
                </a:lnTo>
                <a:lnTo>
                  <a:pt x="1153970" y="2162935"/>
                </a:lnTo>
                <a:lnTo>
                  <a:pt x="1153969" y="2162936"/>
                </a:lnTo>
                <a:lnTo>
                  <a:pt x="1121615" y="2187226"/>
                </a:lnTo>
                <a:lnTo>
                  <a:pt x="1112316" y="2202558"/>
                </a:lnTo>
                <a:lnTo>
                  <a:pt x="1088347" y="2198441"/>
                </a:lnTo>
                <a:lnTo>
                  <a:pt x="1051107" y="2161835"/>
                </a:lnTo>
                <a:lnTo>
                  <a:pt x="1035874" y="2159813"/>
                </a:lnTo>
                <a:lnTo>
                  <a:pt x="1001815" y="2145845"/>
                </a:lnTo>
                <a:lnTo>
                  <a:pt x="985227" y="2121115"/>
                </a:lnTo>
                <a:lnTo>
                  <a:pt x="934690" y="2108507"/>
                </a:lnTo>
                <a:lnTo>
                  <a:pt x="901830" y="2117971"/>
                </a:lnTo>
                <a:lnTo>
                  <a:pt x="892336" y="2106769"/>
                </a:lnTo>
                <a:lnTo>
                  <a:pt x="818556" y="2077872"/>
                </a:lnTo>
                <a:lnTo>
                  <a:pt x="738782" y="2068118"/>
                </a:lnTo>
                <a:lnTo>
                  <a:pt x="692982" y="2057815"/>
                </a:lnTo>
                <a:lnTo>
                  <a:pt x="686373" y="2064933"/>
                </a:lnTo>
                <a:lnTo>
                  <a:pt x="617285" y="2014007"/>
                </a:lnTo>
                <a:lnTo>
                  <a:pt x="555464" y="1991274"/>
                </a:lnTo>
                <a:lnTo>
                  <a:pt x="508665" y="1955868"/>
                </a:lnTo>
                <a:lnTo>
                  <a:pt x="548098" y="1946236"/>
                </a:lnTo>
                <a:lnTo>
                  <a:pt x="593061" y="1895831"/>
                </a:lnTo>
                <a:lnTo>
                  <a:pt x="562758" y="1871983"/>
                </a:lnTo>
                <a:lnTo>
                  <a:pt x="642626" y="1847383"/>
                </a:lnTo>
                <a:lnTo>
                  <a:pt x="641192" y="1834208"/>
                </a:lnTo>
                <a:lnTo>
                  <a:pt x="592551" y="1843922"/>
                </a:lnTo>
                <a:lnTo>
                  <a:pt x="594262" y="1817150"/>
                </a:lnTo>
                <a:lnTo>
                  <a:pt x="622192" y="1800322"/>
                </a:lnTo>
                <a:lnTo>
                  <a:pt x="674629" y="1795904"/>
                </a:lnTo>
                <a:lnTo>
                  <a:pt x="683155" y="1775806"/>
                </a:lnTo>
                <a:lnTo>
                  <a:pt x="671182" y="1742574"/>
                </a:lnTo>
                <a:lnTo>
                  <a:pt x="693189" y="1711018"/>
                </a:lnTo>
                <a:lnTo>
                  <a:pt x="692552" y="1693322"/>
                </a:lnTo>
                <a:lnTo>
                  <a:pt x="612678" y="1673710"/>
                </a:lnTo>
                <a:lnTo>
                  <a:pt x="581014" y="1674361"/>
                </a:lnTo>
                <a:lnTo>
                  <a:pt x="547571" y="1646139"/>
                </a:lnTo>
                <a:lnTo>
                  <a:pt x="505994" y="1655683"/>
                </a:lnTo>
                <a:lnTo>
                  <a:pt x="437175" y="1634492"/>
                </a:lnTo>
                <a:lnTo>
                  <a:pt x="438356" y="1622635"/>
                </a:lnTo>
                <a:lnTo>
                  <a:pt x="419080" y="1596501"/>
                </a:lnTo>
                <a:lnTo>
                  <a:pt x="375873" y="1593583"/>
                </a:lnTo>
                <a:lnTo>
                  <a:pt x="371384" y="1574875"/>
                </a:lnTo>
                <a:lnTo>
                  <a:pt x="384918" y="1562673"/>
                </a:lnTo>
                <a:lnTo>
                  <a:pt x="350291" y="1528550"/>
                </a:lnTo>
                <a:lnTo>
                  <a:pt x="294103" y="1534372"/>
                </a:lnTo>
                <a:lnTo>
                  <a:pt x="277646" y="1531345"/>
                </a:lnTo>
                <a:lnTo>
                  <a:pt x="263957" y="1545052"/>
                </a:lnTo>
                <a:lnTo>
                  <a:pt x="243721" y="1542616"/>
                </a:lnTo>
                <a:lnTo>
                  <a:pt x="243720" y="1542616"/>
                </a:lnTo>
                <a:lnTo>
                  <a:pt x="230393" y="1504022"/>
                </a:lnTo>
                <a:lnTo>
                  <a:pt x="217669" y="1484017"/>
                </a:lnTo>
                <a:lnTo>
                  <a:pt x="228097" y="1478386"/>
                </a:lnTo>
                <a:lnTo>
                  <a:pt x="271819" y="1480478"/>
                </a:lnTo>
                <a:lnTo>
                  <a:pt x="292904" y="1467297"/>
                </a:lnTo>
                <a:lnTo>
                  <a:pt x="277296" y="1451229"/>
                </a:lnTo>
                <a:lnTo>
                  <a:pt x="240756" y="1440623"/>
                </a:lnTo>
                <a:lnTo>
                  <a:pt x="244016" y="1429738"/>
                </a:lnTo>
                <a:lnTo>
                  <a:pt x="221964" y="1418744"/>
                </a:lnTo>
                <a:lnTo>
                  <a:pt x="187993" y="1379286"/>
                </a:lnTo>
                <a:lnTo>
                  <a:pt x="199605" y="1363027"/>
                </a:lnTo>
                <a:lnTo>
                  <a:pt x="194299" y="1334736"/>
                </a:lnTo>
                <a:lnTo>
                  <a:pt x="141325" y="1320363"/>
                </a:lnTo>
                <a:lnTo>
                  <a:pt x="112892" y="1327557"/>
                </a:lnTo>
                <a:lnTo>
                  <a:pt x="105194" y="1312596"/>
                </a:lnTo>
                <a:lnTo>
                  <a:pt x="48146" y="1297482"/>
                </a:lnTo>
                <a:lnTo>
                  <a:pt x="30729" y="1261912"/>
                </a:lnTo>
                <a:lnTo>
                  <a:pt x="26109" y="1232687"/>
                </a:lnTo>
                <a:lnTo>
                  <a:pt x="0" y="1218809"/>
                </a:lnTo>
                <a:lnTo>
                  <a:pt x="23219" y="1199682"/>
                </a:lnTo>
                <a:lnTo>
                  <a:pt x="7151" y="1143472"/>
                </a:lnTo>
                <a:lnTo>
                  <a:pt x="45707" y="1108743"/>
                </a:lnTo>
                <a:lnTo>
                  <a:pt x="37548" y="1098224"/>
                </a:lnTo>
                <a:lnTo>
                  <a:pt x="37549" y="1098224"/>
                </a:lnTo>
                <a:lnTo>
                  <a:pt x="99136" y="1064915"/>
                </a:lnTo>
                <a:lnTo>
                  <a:pt x="42364" y="1036260"/>
                </a:lnTo>
                <a:lnTo>
                  <a:pt x="42364" y="1036260"/>
                </a:lnTo>
                <a:lnTo>
                  <a:pt x="158384" y="959328"/>
                </a:lnTo>
                <a:lnTo>
                  <a:pt x="208717" y="924514"/>
                </a:lnTo>
                <a:lnTo>
                  <a:pt x="229096" y="893778"/>
                </a:lnTo>
                <a:lnTo>
                  <a:pt x="148888" y="852487"/>
                </a:lnTo>
                <a:lnTo>
                  <a:pt x="171040" y="813215"/>
                </a:lnTo>
                <a:lnTo>
                  <a:pt x="122259" y="768363"/>
                </a:lnTo>
                <a:lnTo>
                  <a:pt x="158738" y="716695"/>
                </a:lnTo>
                <a:lnTo>
                  <a:pt x="95716" y="648093"/>
                </a:lnTo>
                <a:lnTo>
                  <a:pt x="145721" y="602650"/>
                </a:lnTo>
                <a:lnTo>
                  <a:pt x="62735" y="562493"/>
                </a:lnTo>
                <a:lnTo>
                  <a:pt x="70646" y="520296"/>
                </a:lnTo>
                <a:lnTo>
                  <a:pt x="114408" y="514743"/>
                </a:lnTo>
                <a:lnTo>
                  <a:pt x="206606" y="490565"/>
                </a:lnTo>
                <a:lnTo>
                  <a:pt x="206608" y="490564"/>
                </a:lnTo>
                <a:lnTo>
                  <a:pt x="262509" y="469601"/>
                </a:lnTo>
                <a:lnTo>
                  <a:pt x="351525" y="506034"/>
                </a:lnTo>
                <a:lnTo>
                  <a:pt x="499914" y="520378"/>
                </a:lnTo>
                <a:lnTo>
                  <a:pt x="704652" y="588542"/>
                </a:lnTo>
                <a:lnTo>
                  <a:pt x="746242" y="617185"/>
                </a:lnTo>
                <a:lnTo>
                  <a:pt x="749823" y="657296"/>
                </a:lnTo>
                <a:lnTo>
                  <a:pt x="689669" y="688960"/>
                </a:lnTo>
                <a:lnTo>
                  <a:pt x="601189" y="705030"/>
                </a:lnTo>
                <a:lnTo>
                  <a:pt x="359286" y="659222"/>
                </a:lnTo>
                <a:lnTo>
                  <a:pt x="319499" y="666881"/>
                </a:lnTo>
                <a:lnTo>
                  <a:pt x="407841" y="711020"/>
                </a:lnTo>
                <a:lnTo>
                  <a:pt x="411298" y="738980"/>
                </a:lnTo>
                <a:lnTo>
                  <a:pt x="414839" y="800564"/>
                </a:lnTo>
                <a:lnTo>
                  <a:pt x="484597" y="818940"/>
                </a:lnTo>
                <a:lnTo>
                  <a:pt x="526941" y="834587"/>
                </a:lnTo>
                <a:lnTo>
                  <a:pt x="533944" y="805365"/>
                </a:lnTo>
                <a:lnTo>
                  <a:pt x="501302" y="779465"/>
                </a:lnTo>
                <a:lnTo>
                  <a:pt x="535790" y="756638"/>
                </a:lnTo>
                <a:lnTo>
                  <a:pt x="666782" y="794150"/>
                </a:lnTo>
                <a:lnTo>
                  <a:pt x="712415" y="779465"/>
                </a:lnTo>
                <a:lnTo>
                  <a:pt x="675947" y="735327"/>
                </a:lnTo>
                <a:lnTo>
                  <a:pt x="802229" y="676301"/>
                </a:lnTo>
                <a:lnTo>
                  <a:pt x="852240" y="679775"/>
                </a:lnTo>
                <a:lnTo>
                  <a:pt x="902835" y="700839"/>
                </a:lnTo>
                <a:lnTo>
                  <a:pt x="934399" y="659419"/>
                </a:lnTo>
                <a:lnTo>
                  <a:pt x="889215" y="623494"/>
                </a:lnTo>
                <a:lnTo>
                  <a:pt x="915742" y="587450"/>
                </a:lnTo>
                <a:lnTo>
                  <a:pt x="875908" y="550068"/>
                </a:lnTo>
                <a:lnTo>
                  <a:pt x="1027478" y="569401"/>
                </a:lnTo>
                <a:lnTo>
                  <a:pt x="1058437" y="603152"/>
                </a:lnTo>
                <a:lnTo>
                  <a:pt x="989827" y="610592"/>
                </a:lnTo>
                <a:lnTo>
                  <a:pt x="990198" y="644129"/>
                </a:lnTo>
                <a:lnTo>
                  <a:pt x="1032850" y="664763"/>
                </a:lnTo>
                <a:lnTo>
                  <a:pt x="1116569" y="651693"/>
                </a:lnTo>
                <a:lnTo>
                  <a:pt x="1129823" y="613252"/>
                </a:lnTo>
                <a:lnTo>
                  <a:pt x="1243014" y="584548"/>
                </a:lnTo>
                <a:lnTo>
                  <a:pt x="1432113" y="532796"/>
                </a:lnTo>
                <a:lnTo>
                  <a:pt x="1472985" y="535763"/>
                </a:lnTo>
                <a:lnTo>
                  <a:pt x="1419563" y="572335"/>
                </a:lnTo>
                <a:lnTo>
                  <a:pt x="1486779" y="578620"/>
                </a:lnTo>
                <a:lnTo>
                  <a:pt x="1525599" y="558031"/>
                </a:lnTo>
                <a:lnTo>
                  <a:pt x="1627163" y="556366"/>
                </a:lnTo>
                <a:lnTo>
                  <a:pt x="1707629" y="531383"/>
                </a:lnTo>
                <a:lnTo>
                  <a:pt x="1769370" y="567687"/>
                </a:lnTo>
                <a:lnTo>
                  <a:pt x="1830949" y="527775"/>
                </a:lnTo>
                <a:lnTo>
                  <a:pt x="1774170" y="492861"/>
                </a:lnTo>
                <a:lnTo>
                  <a:pt x="1802347" y="472973"/>
                </a:lnTo>
                <a:lnTo>
                  <a:pt x="1962415" y="491211"/>
                </a:lnTo>
                <a:lnTo>
                  <a:pt x="2037415" y="510047"/>
                </a:lnTo>
                <a:lnTo>
                  <a:pt x="2233790" y="578903"/>
                </a:lnTo>
                <a:lnTo>
                  <a:pt x="2270015" y="547365"/>
                </a:lnTo>
                <a:lnTo>
                  <a:pt x="2214948" y="515500"/>
                </a:lnTo>
                <a:lnTo>
                  <a:pt x="2213365" y="502716"/>
                </a:lnTo>
                <a:lnTo>
                  <a:pt x="2148062" y="496802"/>
                </a:lnTo>
                <a:lnTo>
                  <a:pt x="2165927" y="468228"/>
                </a:lnTo>
                <a:lnTo>
                  <a:pt x="2136945" y="421210"/>
                </a:lnTo>
                <a:lnTo>
                  <a:pt x="2135306" y="401920"/>
                </a:lnTo>
                <a:lnTo>
                  <a:pt x="2235302" y="347346"/>
                </a:lnTo>
                <a:lnTo>
                  <a:pt x="2270865" y="292571"/>
                </a:lnTo>
                <a:lnTo>
                  <a:pt x="2311160" y="280720"/>
                </a:lnTo>
                <a:lnTo>
                  <a:pt x="2454621" y="296614"/>
                </a:lnTo>
                <a:lnTo>
                  <a:pt x="2465919" y="330136"/>
                </a:lnTo>
                <a:lnTo>
                  <a:pt x="2414554" y="379018"/>
                </a:lnTo>
                <a:lnTo>
                  <a:pt x="2448258" y="398230"/>
                </a:lnTo>
                <a:lnTo>
                  <a:pt x="2465694" y="440360"/>
                </a:lnTo>
                <a:lnTo>
                  <a:pt x="2453384" y="522944"/>
                </a:lnTo>
                <a:lnTo>
                  <a:pt x="2513161" y="559884"/>
                </a:lnTo>
                <a:lnTo>
                  <a:pt x="2489906" y="600113"/>
                </a:lnTo>
                <a:lnTo>
                  <a:pt x="2383770" y="685717"/>
                </a:lnTo>
                <a:lnTo>
                  <a:pt x="2445706" y="694596"/>
                </a:lnTo>
                <a:lnTo>
                  <a:pt x="2467259" y="672899"/>
                </a:lnTo>
                <a:lnTo>
                  <a:pt x="2526877" y="657423"/>
                </a:lnTo>
                <a:lnTo>
                  <a:pt x="2541264" y="627601"/>
                </a:lnTo>
                <a:lnTo>
                  <a:pt x="2588162" y="598903"/>
                </a:lnTo>
                <a:lnTo>
                  <a:pt x="2556585" y="564640"/>
                </a:lnTo>
                <a:lnTo>
                  <a:pt x="2581868" y="524852"/>
                </a:lnTo>
                <a:lnTo>
                  <a:pt x="2522616" y="519894"/>
                </a:lnTo>
                <a:lnTo>
                  <a:pt x="2509584" y="486375"/>
                </a:lnTo>
                <a:lnTo>
                  <a:pt x="2552822" y="425859"/>
                </a:lnTo>
                <a:lnTo>
                  <a:pt x="2482449" y="376716"/>
                </a:lnTo>
                <a:lnTo>
                  <a:pt x="2579428" y="336095"/>
                </a:lnTo>
                <a:lnTo>
                  <a:pt x="2566881" y="293240"/>
                </a:lnTo>
                <a:lnTo>
                  <a:pt x="2593907" y="291872"/>
                </a:lnTo>
                <a:lnTo>
                  <a:pt x="2622382" y="325284"/>
                </a:lnTo>
                <a:lnTo>
                  <a:pt x="2601003" y="383442"/>
                </a:lnTo>
                <a:lnTo>
                  <a:pt x="2658990" y="394453"/>
                </a:lnTo>
                <a:lnTo>
                  <a:pt x="2634282" y="350991"/>
                </a:lnTo>
                <a:lnTo>
                  <a:pt x="2724965" y="327297"/>
                </a:lnTo>
                <a:lnTo>
                  <a:pt x="2837422" y="324106"/>
                </a:lnTo>
                <a:lnTo>
                  <a:pt x="2937558" y="358465"/>
                </a:lnTo>
                <a:lnTo>
                  <a:pt x="2889370" y="308272"/>
                </a:lnTo>
                <a:lnTo>
                  <a:pt x="2883972" y="244066"/>
                </a:lnTo>
                <a:lnTo>
                  <a:pt x="2978198" y="231904"/>
                </a:lnTo>
                <a:lnTo>
                  <a:pt x="3108531" y="234561"/>
                </a:lnTo>
                <a:lnTo>
                  <a:pt x="3225956" y="226668"/>
                </a:lnTo>
                <a:lnTo>
                  <a:pt x="3181916" y="195161"/>
                </a:lnTo>
                <a:lnTo>
                  <a:pt x="3244624" y="155580"/>
                </a:lnTo>
                <a:lnTo>
                  <a:pt x="3306878" y="153922"/>
                </a:lnTo>
                <a:lnTo>
                  <a:pt x="3412233" y="124026"/>
                </a:lnTo>
                <a:lnTo>
                  <a:pt x="3555317" y="115990"/>
                </a:lnTo>
                <a:lnTo>
                  <a:pt x="3573396" y="99485"/>
                </a:lnTo>
                <a:lnTo>
                  <a:pt x="3715678" y="93892"/>
                </a:lnTo>
                <a:lnTo>
                  <a:pt x="3760014" y="107423"/>
                </a:lnTo>
                <a:lnTo>
                  <a:pt x="3881627" y="75396"/>
                </a:lnTo>
                <a:lnTo>
                  <a:pt x="3981175" y="76398"/>
                </a:lnTo>
                <a:lnTo>
                  <a:pt x="3996112" y="50386"/>
                </a:lnTo>
                <a:lnTo>
                  <a:pt x="4047888" y="24733"/>
                </a:lnTo>
                <a:lnTo>
                  <a:pt x="4175810" y="0"/>
                </a:lnTo>
                <a:lnTo>
                  <a:pt x="4268742" y="19529"/>
                </a:lnTo>
                <a:lnTo>
                  <a:pt x="4194959" y="34384"/>
                </a:lnTo>
                <a:lnTo>
                  <a:pt x="4317699" y="43618"/>
                </a:lnTo>
                <a:lnTo>
                  <a:pt x="4332323" y="73401"/>
                </a:lnTo>
                <a:lnTo>
                  <a:pt x="4381838" y="58735"/>
                </a:lnTo>
                <a:lnTo>
                  <a:pt x="4540251" y="59540"/>
                </a:lnTo>
                <a:lnTo>
                  <a:pt x="4662401" y="88936"/>
                </a:lnTo>
                <a:lnTo>
                  <a:pt x="4705895" y="111512"/>
                </a:lnTo>
                <a:lnTo>
                  <a:pt x="4692414" y="142842"/>
                </a:lnTo>
                <a:lnTo>
                  <a:pt x="4632472" y="160676"/>
                </a:lnTo>
                <a:lnTo>
                  <a:pt x="4490074" y="194133"/>
                </a:lnTo>
                <a:lnTo>
                  <a:pt x="4449366" y="212016"/>
                </a:lnTo>
                <a:lnTo>
                  <a:pt x="4516557" y="220453"/>
                </a:lnTo>
                <a:lnTo>
                  <a:pt x="4596710" y="235656"/>
                </a:lnTo>
                <a:lnTo>
                  <a:pt x="4645497" y="224254"/>
                </a:lnTo>
                <a:lnTo>
                  <a:pt x="4673134" y="262939"/>
                </a:lnTo>
                <a:lnTo>
                  <a:pt x="4696934" y="247279"/>
                </a:lnTo>
                <a:lnTo>
                  <a:pt x="4783579" y="237759"/>
                </a:lnTo>
                <a:lnTo>
                  <a:pt x="4957438" y="247711"/>
                </a:lnTo>
                <a:lnTo>
                  <a:pt x="4970642" y="275899"/>
                </a:lnTo>
                <a:lnTo>
                  <a:pt x="5197178" y="284866"/>
                </a:lnTo>
                <a:lnTo>
                  <a:pt x="5200272" y="238833"/>
                </a:lnTo>
                <a:lnTo>
                  <a:pt x="5315269" y="249381"/>
                </a:lnTo>
                <a:lnTo>
                  <a:pt x="5401775" y="249051"/>
                </a:lnTo>
                <a:lnTo>
                  <a:pt x="5489276" y="280798"/>
                </a:lnTo>
                <a:lnTo>
                  <a:pt x="5514219" y="319369"/>
                </a:lnTo>
                <a:lnTo>
                  <a:pt x="5482164" y="344604"/>
                </a:lnTo>
                <a:lnTo>
                  <a:pt x="5550222" y="392032"/>
                </a:lnTo>
                <a:lnTo>
                  <a:pt x="5635435" y="416503"/>
                </a:lnTo>
                <a:lnTo>
                  <a:pt x="5687721" y="353264"/>
                </a:lnTo>
                <a:lnTo>
                  <a:pt x="5774645" y="380377"/>
                </a:lnTo>
                <a:lnTo>
                  <a:pt x="5866994" y="364176"/>
                </a:lnTo>
                <a:lnTo>
                  <a:pt x="5971878" y="382715"/>
                </a:lnTo>
                <a:lnTo>
                  <a:pt x="6011789" y="365816"/>
                </a:lnTo>
                <a:lnTo>
                  <a:pt x="6100424" y="374265"/>
                </a:lnTo>
                <a:lnTo>
                  <a:pt x="6061306" y="318316"/>
                </a:lnTo>
                <a:lnTo>
                  <a:pt x="6132846" y="292207"/>
                </a:lnTo>
                <a:lnTo>
                  <a:pt x="6622251" y="331345"/>
                </a:lnTo>
                <a:lnTo>
                  <a:pt x="6668374" y="367118"/>
                </a:lnTo>
                <a:lnTo>
                  <a:pt x="6810219" y="413175"/>
                </a:lnTo>
                <a:lnTo>
                  <a:pt x="7029024" y="401773"/>
                </a:lnTo>
                <a:lnTo>
                  <a:pt x="7136905" y="411698"/>
                </a:lnTo>
                <a:lnTo>
                  <a:pt x="7182016" y="436617"/>
                </a:lnTo>
                <a:lnTo>
                  <a:pt x="7175424" y="480688"/>
                </a:lnTo>
                <a:lnTo>
                  <a:pt x="7242175" y="497847"/>
                </a:lnTo>
                <a:lnTo>
                  <a:pt x="7314706" y="485506"/>
                </a:lnTo>
                <a:lnTo>
                  <a:pt x="7410802" y="483928"/>
                </a:lnTo>
                <a:lnTo>
                  <a:pt x="7513100" y="495755"/>
                </a:lnTo>
                <a:lnTo>
                  <a:pt x="7615800" y="489083"/>
                </a:lnTo>
                <a:lnTo>
                  <a:pt x="7710191" y="542654"/>
                </a:lnTo>
                <a:lnTo>
                  <a:pt x="7777342" y="523379"/>
                </a:lnTo>
                <a:lnTo>
                  <a:pt x="7733522" y="484860"/>
                </a:lnTo>
                <a:lnTo>
                  <a:pt x="7757649" y="458085"/>
                </a:lnTo>
                <a:lnTo>
                  <a:pt x="7930529" y="474936"/>
                </a:lnTo>
                <a:lnTo>
                  <a:pt x="8043244" y="471331"/>
                </a:lnTo>
                <a:lnTo>
                  <a:pt x="8199083" y="500093"/>
                </a:lnTo>
                <a:lnTo>
                  <a:pt x="8274945" y="526392"/>
                </a:lnTo>
                <a:lnTo>
                  <a:pt x="8274945" y="766492"/>
                </a:lnTo>
                <a:lnTo>
                  <a:pt x="8274555" y="766816"/>
                </a:lnTo>
                <a:lnTo>
                  <a:pt x="8204892" y="793298"/>
                </a:lnTo>
                <a:lnTo>
                  <a:pt x="8134670" y="788881"/>
                </a:lnTo>
                <a:lnTo>
                  <a:pt x="8183532" y="820960"/>
                </a:lnTo>
                <a:lnTo>
                  <a:pt x="8215786" y="870618"/>
                </a:lnTo>
                <a:lnTo>
                  <a:pt x="8240825" y="886851"/>
                </a:lnTo>
                <a:lnTo>
                  <a:pt x="8247112" y="911783"/>
                </a:lnTo>
                <a:lnTo>
                  <a:pt x="8233126" y="927744"/>
                </a:lnTo>
                <a:lnTo>
                  <a:pt x="8132125" y="914618"/>
                </a:lnTo>
                <a:lnTo>
                  <a:pt x="7980672" y="959984"/>
                </a:lnTo>
                <a:lnTo>
                  <a:pt x="7932492" y="967007"/>
                </a:lnTo>
                <a:lnTo>
                  <a:pt x="7849579" y="1009352"/>
                </a:lnTo>
                <a:lnTo>
                  <a:pt x="7770927" y="1046345"/>
                </a:lnTo>
                <a:lnTo>
                  <a:pt x="7751005" y="1073731"/>
                </a:lnTo>
                <a:lnTo>
                  <a:pt x="7673497" y="1032039"/>
                </a:lnTo>
                <a:lnTo>
                  <a:pt x="7532315" y="1079349"/>
                </a:lnTo>
                <a:lnTo>
                  <a:pt x="7507661" y="1056963"/>
                </a:lnTo>
                <a:lnTo>
                  <a:pt x="7455465" y="1082781"/>
                </a:lnTo>
                <a:lnTo>
                  <a:pt x="7382993" y="1074518"/>
                </a:lnTo>
                <a:lnTo>
                  <a:pt x="7365536" y="1114156"/>
                </a:lnTo>
                <a:lnTo>
                  <a:pt x="7300524" y="1172478"/>
                </a:lnTo>
                <a:lnTo>
                  <a:pt x="7302455" y="1196836"/>
                </a:lnTo>
                <a:lnTo>
                  <a:pt x="7364170" y="1210341"/>
                </a:lnTo>
                <a:lnTo>
                  <a:pt x="7356911" y="1298078"/>
                </a:lnTo>
                <a:lnTo>
                  <a:pt x="7306606" y="1300311"/>
                </a:lnTo>
                <a:lnTo>
                  <a:pt x="7283408" y="1350725"/>
                </a:lnTo>
                <a:lnTo>
                  <a:pt x="7305951" y="1376672"/>
                </a:lnTo>
                <a:lnTo>
                  <a:pt x="7211194" y="1407457"/>
                </a:lnTo>
                <a:lnTo>
                  <a:pt x="7192389" y="1476268"/>
                </a:lnTo>
                <a:lnTo>
                  <a:pt x="7111608" y="1490967"/>
                </a:lnTo>
                <a:lnTo>
                  <a:pt x="7095365" y="1552198"/>
                </a:lnTo>
                <a:lnTo>
                  <a:pt x="7017261" y="1608345"/>
                </a:lnTo>
                <a:lnTo>
                  <a:pt x="6997223" y="1566824"/>
                </a:lnTo>
                <a:lnTo>
                  <a:pt x="6974021" y="1478897"/>
                </a:lnTo>
                <a:lnTo>
                  <a:pt x="6943776" y="1344978"/>
                </a:lnTo>
                <a:lnTo>
                  <a:pt x="6969827" y="1261394"/>
                </a:lnTo>
                <a:lnTo>
                  <a:pt x="7015546" y="1225428"/>
                </a:lnTo>
                <a:lnTo>
                  <a:pt x="7018375" y="1197263"/>
                </a:lnTo>
                <a:lnTo>
                  <a:pt x="7102580" y="1183780"/>
                </a:lnTo>
                <a:lnTo>
                  <a:pt x="7199374" y="1107903"/>
                </a:lnTo>
                <a:lnTo>
                  <a:pt x="7292651" y="1045934"/>
                </a:lnTo>
                <a:lnTo>
                  <a:pt x="7390059" y="997847"/>
                </a:lnTo>
                <a:lnTo>
                  <a:pt x="7433618" y="912887"/>
                </a:lnTo>
                <a:lnTo>
                  <a:pt x="7367774" y="917970"/>
                </a:lnTo>
                <a:lnTo>
                  <a:pt x="7335234" y="967617"/>
                </a:lnTo>
                <a:lnTo>
                  <a:pt x="7197794" y="1033806"/>
                </a:lnTo>
                <a:lnTo>
                  <a:pt x="7153406" y="959694"/>
                </a:lnTo>
                <a:lnTo>
                  <a:pt x="7013516" y="980157"/>
                </a:lnTo>
                <a:lnTo>
                  <a:pt x="6877907" y="1081180"/>
                </a:lnTo>
                <a:lnTo>
                  <a:pt x="6922649" y="1118137"/>
                </a:lnTo>
                <a:lnTo>
                  <a:pt x="6801709" y="1133873"/>
                </a:lnTo>
                <a:lnTo>
                  <a:pt x="6717930" y="1140078"/>
                </a:lnTo>
                <a:lnTo>
                  <a:pt x="6721854" y="1096501"/>
                </a:lnTo>
                <a:lnTo>
                  <a:pt x="6637624" y="1087354"/>
                </a:lnTo>
                <a:lnTo>
                  <a:pt x="6570493" y="1116960"/>
                </a:lnTo>
                <a:lnTo>
                  <a:pt x="6404812" y="1106601"/>
                </a:lnTo>
                <a:lnTo>
                  <a:pt x="6226570" y="1124463"/>
                </a:lnTo>
                <a:lnTo>
                  <a:pt x="6051041" y="1242101"/>
                </a:lnTo>
                <a:lnTo>
                  <a:pt x="5843382" y="1384239"/>
                </a:lnTo>
                <a:lnTo>
                  <a:pt x="5928754" y="1391835"/>
                </a:lnTo>
                <a:lnTo>
                  <a:pt x="5955399" y="1429576"/>
                </a:lnTo>
                <a:lnTo>
                  <a:pt x="6008029" y="1442974"/>
                </a:lnTo>
                <a:lnTo>
                  <a:pt x="6042705" y="1412868"/>
                </a:lnTo>
                <a:lnTo>
                  <a:pt x="6102141" y="1416778"/>
                </a:lnTo>
                <a:lnTo>
                  <a:pt x="6180376" y="1483078"/>
                </a:lnTo>
                <a:lnTo>
                  <a:pt x="6182214" y="1534354"/>
                </a:lnTo>
                <a:lnTo>
                  <a:pt x="6139850" y="1594567"/>
                </a:lnTo>
                <a:lnTo>
                  <a:pt x="6135280" y="1666534"/>
                </a:lnTo>
                <a:lnTo>
                  <a:pt x="6110834" y="1762891"/>
                </a:lnTo>
                <a:lnTo>
                  <a:pt x="6029163" y="1850101"/>
                </a:lnTo>
                <a:lnTo>
                  <a:pt x="6011010" y="1891788"/>
                </a:lnTo>
                <a:lnTo>
                  <a:pt x="5937457" y="1961966"/>
                </a:lnTo>
                <a:lnTo>
                  <a:pt x="5864470" y="2031545"/>
                </a:lnTo>
                <a:lnTo>
                  <a:pt x="5829467" y="2067150"/>
                </a:lnTo>
                <a:lnTo>
                  <a:pt x="5757262" y="2102512"/>
                </a:lnTo>
                <a:lnTo>
                  <a:pt x="5723092" y="2103294"/>
                </a:lnTo>
                <a:lnTo>
                  <a:pt x="5689052" y="2074000"/>
                </a:lnTo>
                <a:lnTo>
                  <a:pt x="5616323" y="2118104"/>
                </a:lnTo>
                <a:lnTo>
                  <a:pt x="5607877" y="2138157"/>
                </a:lnTo>
                <a:lnTo>
                  <a:pt x="5607877" y="2138157"/>
                </a:lnTo>
                <a:lnTo>
                  <a:pt x="5607877" y="2138158"/>
                </a:lnTo>
                <a:lnTo>
                  <a:pt x="5607876" y="2138157"/>
                </a:lnTo>
                <a:lnTo>
                  <a:pt x="5600291" y="2127611"/>
                </a:lnTo>
                <a:lnTo>
                  <a:pt x="5600291" y="2127610"/>
                </a:lnTo>
                <a:lnTo>
                  <a:pt x="5599958" y="2096994"/>
                </a:lnTo>
                <a:lnTo>
                  <a:pt x="5627638" y="2095369"/>
                </a:lnTo>
                <a:lnTo>
                  <a:pt x="5635434" y="2024161"/>
                </a:lnTo>
                <a:lnTo>
                  <a:pt x="5621163" y="1972546"/>
                </a:lnTo>
                <a:lnTo>
                  <a:pt x="5667669" y="1951259"/>
                </a:lnTo>
                <a:lnTo>
                  <a:pt x="5733434" y="1961931"/>
                </a:lnTo>
                <a:lnTo>
                  <a:pt x="5769876" y="1903301"/>
                </a:lnTo>
                <a:lnTo>
                  <a:pt x="5788446" y="1837275"/>
                </a:lnTo>
                <a:lnTo>
                  <a:pt x="5809495" y="1815219"/>
                </a:lnTo>
                <a:lnTo>
                  <a:pt x="5837970" y="1760991"/>
                </a:lnTo>
                <a:lnTo>
                  <a:pt x="5748415" y="1778757"/>
                </a:lnTo>
                <a:lnTo>
                  <a:pt x="5701440" y="1802532"/>
                </a:lnTo>
                <a:lnTo>
                  <a:pt x="5619107" y="1802461"/>
                </a:lnTo>
                <a:lnTo>
                  <a:pt x="5597164" y="1745837"/>
                </a:lnTo>
                <a:lnTo>
                  <a:pt x="5532981" y="1702992"/>
                </a:lnTo>
                <a:lnTo>
                  <a:pt x="5438673" y="1683726"/>
                </a:lnTo>
                <a:lnTo>
                  <a:pt x="5418627" y="1624693"/>
                </a:lnTo>
                <a:lnTo>
                  <a:pt x="5399754" y="1587683"/>
                </a:lnTo>
                <a:lnTo>
                  <a:pt x="5379447" y="1561746"/>
                </a:lnTo>
                <a:lnTo>
                  <a:pt x="5345957" y="1500964"/>
                </a:lnTo>
                <a:lnTo>
                  <a:pt x="5298374" y="1478771"/>
                </a:lnTo>
                <a:lnTo>
                  <a:pt x="5217271" y="1460826"/>
                </a:lnTo>
                <a:lnTo>
                  <a:pt x="5145434" y="1462458"/>
                </a:lnTo>
                <a:lnTo>
                  <a:pt x="5078098" y="1473325"/>
                </a:lnTo>
                <a:lnTo>
                  <a:pt x="5033340" y="1503309"/>
                </a:lnTo>
                <a:lnTo>
                  <a:pt x="5063073" y="1517632"/>
                </a:lnTo>
                <a:lnTo>
                  <a:pt x="5063745" y="1550907"/>
                </a:lnTo>
                <a:lnTo>
                  <a:pt x="5033611" y="1570226"/>
                </a:lnTo>
                <a:lnTo>
                  <a:pt x="4984697" y="1634147"/>
                </a:lnTo>
                <a:lnTo>
                  <a:pt x="4985189" y="1660667"/>
                </a:lnTo>
                <a:lnTo>
                  <a:pt x="4908828" y="1698750"/>
                </a:lnTo>
                <a:lnTo>
                  <a:pt x="4843780" y="1675996"/>
                </a:lnTo>
                <a:lnTo>
                  <a:pt x="4779129" y="1681020"/>
                </a:lnTo>
                <a:lnTo>
                  <a:pt x="4750758" y="1660826"/>
                </a:lnTo>
                <a:lnTo>
                  <a:pt x="4718265" y="1654314"/>
                </a:lnTo>
                <a:lnTo>
                  <a:pt x="4638897" y="1696787"/>
                </a:lnTo>
                <a:lnTo>
                  <a:pt x="4567559" y="1706767"/>
                </a:lnTo>
                <a:lnTo>
                  <a:pt x="4517750" y="1721703"/>
                </a:lnTo>
                <a:lnTo>
                  <a:pt x="4449499" y="1711890"/>
                </a:lnTo>
                <a:lnTo>
                  <a:pt x="4399252" y="1712517"/>
                </a:lnTo>
                <a:lnTo>
                  <a:pt x="4366361" y="1681711"/>
                </a:lnTo>
                <a:lnTo>
                  <a:pt x="4313292" y="1652747"/>
                </a:lnTo>
                <a:lnTo>
                  <a:pt x="4258986" y="1644809"/>
                </a:lnTo>
                <a:lnTo>
                  <a:pt x="4190439" y="1652686"/>
                </a:lnTo>
                <a:lnTo>
                  <a:pt x="4139231" y="1663856"/>
                </a:lnTo>
                <a:lnTo>
                  <a:pt x="4062250" y="1638508"/>
                </a:lnTo>
                <a:lnTo>
                  <a:pt x="4051918" y="1593347"/>
                </a:lnTo>
                <a:lnTo>
                  <a:pt x="3988209" y="1577862"/>
                </a:lnTo>
                <a:lnTo>
                  <a:pt x="3939021" y="1570801"/>
                </a:lnTo>
                <a:lnTo>
                  <a:pt x="3878319" y="1545889"/>
                </a:lnTo>
                <a:lnTo>
                  <a:pt x="3822195" y="1608348"/>
                </a:lnTo>
                <a:lnTo>
                  <a:pt x="3844196" y="1643821"/>
                </a:lnTo>
                <a:lnTo>
                  <a:pt x="3791527" y="1685789"/>
                </a:lnTo>
                <a:lnTo>
                  <a:pt x="3713187" y="1670637"/>
                </a:lnTo>
                <a:lnTo>
                  <a:pt x="3659105" y="1668469"/>
                </a:lnTo>
                <a:lnTo>
                  <a:pt x="3622887" y="1640318"/>
                </a:lnTo>
                <a:lnTo>
                  <a:pt x="3566351" y="1639429"/>
                </a:lnTo>
                <a:lnTo>
                  <a:pt x="3519236" y="1620934"/>
                </a:lnTo>
                <a:lnTo>
                  <a:pt x="3436816" y="1649281"/>
                </a:lnTo>
                <a:lnTo>
                  <a:pt x="3333422" y="1701189"/>
                </a:lnTo>
                <a:lnTo>
                  <a:pt x="3276293" y="1711634"/>
                </a:lnTo>
                <a:lnTo>
                  <a:pt x="3255090" y="1716589"/>
                </a:lnTo>
                <a:lnTo>
                  <a:pt x="3226338" y="1679724"/>
                </a:lnTo>
                <a:lnTo>
                  <a:pt x="3156541" y="1687789"/>
                </a:lnTo>
                <a:lnTo>
                  <a:pt x="3133473" y="1662209"/>
                </a:lnTo>
                <a:lnTo>
                  <a:pt x="3095587" y="1650511"/>
                </a:lnTo>
                <a:lnTo>
                  <a:pt x="3069509" y="1615686"/>
                </a:lnTo>
                <a:lnTo>
                  <a:pt x="3039592" y="1604842"/>
                </a:lnTo>
                <a:lnTo>
                  <a:pt x="2961724" y="1620330"/>
                </a:lnTo>
                <a:lnTo>
                  <a:pt x="2887080" y="1585607"/>
                </a:lnTo>
                <a:lnTo>
                  <a:pt x="2858205" y="1617162"/>
                </a:lnTo>
                <a:lnTo>
                  <a:pt x="2737117" y="1464104"/>
                </a:lnTo>
                <a:lnTo>
                  <a:pt x="2667989" y="1417542"/>
                </a:lnTo>
                <a:lnTo>
                  <a:pt x="2687817" y="1398647"/>
                </a:lnTo>
                <a:lnTo>
                  <a:pt x="2552010" y="1455519"/>
                </a:lnTo>
                <a:lnTo>
                  <a:pt x="2500037" y="1458957"/>
                </a:lnTo>
                <a:lnTo>
                  <a:pt x="2504526" y="1426063"/>
                </a:lnTo>
                <a:lnTo>
                  <a:pt x="2434930" y="1405509"/>
                </a:lnTo>
                <a:lnTo>
                  <a:pt x="2378359" y="1420177"/>
                </a:lnTo>
                <a:lnTo>
                  <a:pt x="2361297" y="1357713"/>
                </a:lnTo>
                <a:lnTo>
                  <a:pt x="2263918" y="1344724"/>
                </a:lnTo>
                <a:lnTo>
                  <a:pt x="2215201" y="1369726"/>
                </a:lnTo>
                <a:lnTo>
                  <a:pt x="2079613" y="1391974"/>
                </a:lnTo>
                <a:lnTo>
                  <a:pt x="2053152" y="1406861"/>
                </a:lnTo>
                <a:lnTo>
                  <a:pt x="1850389" y="1427833"/>
                </a:lnTo>
                <a:lnTo>
                  <a:pt x="1825543" y="1448399"/>
                </a:lnTo>
                <a:lnTo>
                  <a:pt x="1864661" y="1489682"/>
                </a:lnTo>
                <a:lnTo>
                  <a:pt x="1812642" y="1505352"/>
                </a:lnTo>
                <a:lnTo>
                  <a:pt x="1822790" y="1521771"/>
                </a:lnTo>
                <a:lnTo>
                  <a:pt x="1770785" y="1551129"/>
                </a:lnTo>
                <a:lnTo>
                  <a:pt x="1858593" y="1592579"/>
                </a:lnTo>
                <a:lnTo>
                  <a:pt x="1845015" y="1621121"/>
                </a:lnTo>
                <a:lnTo>
                  <a:pt x="1768904" y="1618522"/>
                </a:lnTo>
                <a:lnTo>
                  <a:pt x="1753161" y="1636406"/>
                </a:lnTo>
                <a:lnTo>
                  <a:pt x="1683858" y="1605176"/>
                </a:lnTo>
                <a:lnTo>
                  <a:pt x="1597954" y="1606386"/>
                </a:lnTo>
                <a:lnTo>
                  <a:pt x="1540460" y="1631810"/>
                </a:lnTo>
                <a:lnTo>
                  <a:pt x="1476299" y="1607430"/>
                </a:lnTo>
                <a:lnTo>
                  <a:pt x="1356864" y="1565700"/>
                </a:lnTo>
                <a:lnTo>
                  <a:pt x="1272220" y="1567260"/>
                </a:lnTo>
                <a:lnTo>
                  <a:pt x="1160364" y="1632809"/>
                </a:lnTo>
                <a:lnTo>
                  <a:pt x="1153616" y="1676826"/>
                </a:lnTo>
                <a:lnTo>
                  <a:pt x="1097892" y="1641875"/>
                </a:lnTo>
                <a:lnTo>
                  <a:pt x="1054658" y="1708090"/>
                </a:lnTo>
                <a:lnTo>
                  <a:pt x="1070484" y="1720383"/>
                </a:lnTo>
                <a:lnTo>
                  <a:pt x="1039206" y="1766058"/>
                </a:lnTo>
                <a:lnTo>
                  <a:pt x="1085200" y="1806938"/>
                </a:lnTo>
                <a:lnTo>
                  <a:pt x="1125407" y="1805255"/>
                </a:lnTo>
                <a:lnTo>
                  <a:pt x="1159950" y="1845522"/>
                </a:lnTo>
                <a:lnTo>
                  <a:pt x="1154451" y="1876535"/>
                </a:lnTo>
                <a:lnTo>
                  <a:pt x="1181973" y="1886281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9406372" y="3154680"/>
            <a:ext cx="247521" cy="14693"/>
          </a:xfrm>
          <a:custGeom>
            <a:avLst/>
            <a:gdLst/>
            <a:ahLst/>
            <a:cxnLst/>
            <a:rect l="l" t="t" r="r" b="b"/>
            <a:pathLst>
              <a:path w="247521" h="14693">
                <a:moveTo>
                  <a:pt x="247521" y="0"/>
                </a:moveTo>
                <a:lnTo>
                  <a:pt x="245750" y="7175"/>
                </a:lnTo>
                <a:lnTo>
                  <a:pt x="127524" y="14693"/>
                </a:lnTo>
                <a:lnTo>
                  <a:pt x="0" y="0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9624941" y="3154680"/>
            <a:ext cx="321559" cy="65028"/>
          </a:xfrm>
          <a:custGeom>
            <a:avLst/>
            <a:gdLst/>
            <a:ahLst/>
            <a:cxnLst/>
            <a:rect l="l" t="t" r="r" b="b"/>
            <a:pathLst>
              <a:path w="321559" h="65028">
                <a:moveTo>
                  <a:pt x="252239" y="0"/>
                </a:moveTo>
                <a:lnTo>
                  <a:pt x="321559" y="17276"/>
                </a:lnTo>
                <a:lnTo>
                  <a:pt x="305468" y="41771"/>
                </a:lnTo>
                <a:lnTo>
                  <a:pt x="0" y="65028"/>
                </a:lnTo>
                <a:lnTo>
                  <a:pt x="81345" y="0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1658905" y="3327239"/>
            <a:ext cx="439557" cy="91925"/>
          </a:xfrm>
          <a:custGeom>
            <a:avLst/>
            <a:gdLst/>
            <a:ahLst/>
            <a:cxnLst/>
            <a:rect l="l" t="t" r="r" b="b"/>
            <a:pathLst>
              <a:path w="439557" h="91925">
                <a:moveTo>
                  <a:pt x="100608" y="0"/>
                </a:moveTo>
                <a:lnTo>
                  <a:pt x="243690" y="2644"/>
                </a:lnTo>
                <a:lnTo>
                  <a:pt x="439557" y="34602"/>
                </a:lnTo>
                <a:lnTo>
                  <a:pt x="396951" y="79358"/>
                </a:lnTo>
                <a:lnTo>
                  <a:pt x="197208" y="77690"/>
                </a:lnTo>
                <a:lnTo>
                  <a:pt x="107347" y="91925"/>
                </a:lnTo>
                <a:lnTo>
                  <a:pt x="0" y="52739"/>
                </a:lnTo>
                <a:lnTo>
                  <a:pt x="29118" y="11306"/>
                </a:lnTo>
                <a:lnTo>
                  <a:pt x="100608" y="0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2154431" y="3365807"/>
            <a:ext cx="249935" cy="48690"/>
          </a:xfrm>
          <a:custGeom>
            <a:avLst/>
            <a:gdLst/>
            <a:ahLst/>
            <a:cxnLst/>
            <a:rect l="l" t="t" r="r" b="b"/>
            <a:pathLst>
              <a:path w="249935" h="48690">
                <a:moveTo>
                  <a:pt x="113957" y="9098"/>
                </a:moveTo>
                <a:lnTo>
                  <a:pt x="249935" y="24876"/>
                </a:lnTo>
                <a:lnTo>
                  <a:pt x="187309" y="48690"/>
                </a:lnTo>
                <a:lnTo>
                  <a:pt x="100694" y="43300"/>
                </a:lnTo>
                <a:lnTo>
                  <a:pt x="0" y="19517"/>
                </a:lnTo>
                <a:lnTo>
                  <a:pt x="12967" y="0"/>
                </a:lnTo>
                <a:lnTo>
                  <a:pt x="113957" y="909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815436" y="3464599"/>
            <a:ext cx="202697" cy="39303"/>
          </a:xfrm>
          <a:custGeom>
            <a:avLst/>
            <a:gdLst/>
            <a:ahLst/>
            <a:cxnLst/>
            <a:rect l="l" t="t" r="r" b="b"/>
            <a:pathLst>
              <a:path w="202697" h="39303">
                <a:moveTo>
                  <a:pt x="0" y="29395"/>
                </a:moveTo>
                <a:lnTo>
                  <a:pt x="51401" y="5576"/>
                </a:lnTo>
                <a:lnTo>
                  <a:pt x="119154" y="0"/>
                </a:lnTo>
                <a:lnTo>
                  <a:pt x="196140" y="23042"/>
                </a:lnTo>
                <a:lnTo>
                  <a:pt x="202697" y="38881"/>
                </a:lnTo>
                <a:lnTo>
                  <a:pt x="120539" y="39303"/>
                </a:lnTo>
                <a:lnTo>
                  <a:pt x="9484" y="32584"/>
                </a:lnTo>
                <a:lnTo>
                  <a:pt x="0" y="2939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302064" y="4589614"/>
            <a:ext cx="167823" cy="52912"/>
          </a:xfrm>
          <a:custGeom>
            <a:avLst/>
            <a:gdLst/>
            <a:ahLst/>
            <a:cxnLst/>
            <a:rect l="l" t="t" r="r" b="b"/>
            <a:pathLst>
              <a:path w="167823" h="52912">
                <a:moveTo>
                  <a:pt x="166378" y="52008"/>
                </a:moveTo>
                <a:lnTo>
                  <a:pt x="66737" y="52912"/>
                </a:lnTo>
                <a:lnTo>
                  <a:pt x="0" y="46068"/>
                </a:lnTo>
                <a:lnTo>
                  <a:pt x="12346" y="19546"/>
                </a:lnTo>
                <a:lnTo>
                  <a:pt x="87122" y="0"/>
                </a:lnTo>
                <a:lnTo>
                  <a:pt x="143870" y="10558"/>
                </a:lnTo>
                <a:lnTo>
                  <a:pt x="167823" y="20124"/>
                </a:lnTo>
                <a:lnTo>
                  <a:pt x="162041" y="36627"/>
                </a:lnTo>
                <a:lnTo>
                  <a:pt x="166378" y="5200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024935" y="3278848"/>
            <a:ext cx="942656" cy="380103"/>
          </a:xfrm>
          <a:custGeom>
            <a:avLst/>
            <a:gdLst/>
            <a:ahLst/>
            <a:cxnLst/>
            <a:rect l="l" t="t" r="r" b="b"/>
            <a:pathLst>
              <a:path w="942656" h="380103">
                <a:moveTo>
                  <a:pt x="111220" y="192246"/>
                </a:moveTo>
                <a:lnTo>
                  <a:pt x="240952" y="139351"/>
                </a:lnTo>
                <a:lnTo>
                  <a:pt x="226294" y="111994"/>
                </a:lnTo>
                <a:lnTo>
                  <a:pt x="347493" y="80174"/>
                </a:lnTo>
                <a:lnTo>
                  <a:pt x="526385" y="41453"/>
                </a:lnTo>
                <a:lnTo>
                  <a:pt x="706736" y="30173"/>
                </a:lnTo>
                <a:lnTo>
                  <a:pt x="799537" y="7830"/>
                </a:lnTo>
                <a:lnTo>
                  <a:pt x="904988" y="0"/>
                </a:lnTo>
                <a:lnTo>
                  <a:pt x="942656" y="23799"/>
                </a:lnTo>
                <a:lnTo>
                  <a:pt x="906262" y="42552"/>
                </a:lnTo>
                <a:lnTo>
                  <a:pt x="714266" y="72438"/>
                </a:lnTo>
                <a:lnTo>
                  <a:pt x="548790" y="101178"/>
                </a:lnTo>
                <a:lnTo>
                  <a:pt x="380463" y="158542"/>
                </a:lnTo>
                <a:lnTo>
                  <a:pt x="299708" y="217363"/>
                </a:lnTo>
                <a:lnTo>
                  <a:pt x="214774" y="275327"/>
                </a:lnTo>
                <a:lnTo>
                  <a:pt x="225801" y="325389"/>
                </a:lnTo>
                <a:lnTo>
                  <a:pt x="329452" y="374817"/>
                </a:lnTo>
                <a:lnTo>
                  <a:pt x="297443" y="380103"/>
                </a:lnTo>
                <a:lnTo>
                  <a:pt x="120383" y="372274"/>
                </a:lnTo>
                <a:lnTo>
                  <a:pt x="106004" y="345515"/>
                </a:lnTo>
                <a:lnTo>
                  <a:pt x="7919" y="329357"/>
                </a:lnTo>
                <a:lnTo>
                  <a:pt x="0" y="296806"/>
                </a:lnTo>
                <a:lnTo>
                  <a:pt x="55407" y="283875"/>
                </a:lnTo>
                <a:lnTo>
                  <a:pt x="53559" y="251011"/>
                </a:lnTo>
                <a:lnTo>
                  <a:pt x="161035" y="199615"/>
                </a:lnTo>
                <a:lnTo>
                  <a:pt x="111220" y="19224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1909230" y="4639311"/>
            <a:ext cx="165816" cy="506192"/>
          </a:xfrm>
          <a:custGeom>
            <a:avLst/>
            <a:gdLst/>
            <a:ahLst/>
            <a:cxnLst/>
            <a:rect l="l" t="t" r="r" b="b"/>
            <a:pathLst>
              <a:path w="165816" h="506192">
                <a:moveTo>
                  <a:pt x="71556" y="39855"/>
                </a:moveTo>
                <a:lnTo>
                  <a:pt x="90317" y="97941"/>
                </a:lnTo>
                <a:lnTo>
                  <a:pt x="88931" y="157250"/>
                </a:lnTo>
                <a:lnTo>
                  <a:pt x="111296" y="218064"/>
                </a:lnTo>
                <a:lnTo>
                  <a:pt x="165816" y="324810"/>
                </a:lnTo>
                <a:lnTo>
                  <a:pt x="85607" y="304912"/>
                </a:lnTo>
                <a:lnTo>
                  <a:pt x="52269" y="391996"/>
                </a:lnTo>
                <a:lnTo>
                  <a:pt x="105091" y="453761"/>
                </a:lnTo>
                <a:lnTo>
                  <a:pt x="103562" y="495877"/>
                </a:lnTo>
                <a:lnTo>
                  <a:pt x="62512" y="459545"/>
                </a:lnTo>
                <a:lnTo>
                  <a:pt x="26983" y="506192"/>
                </a:lnTo>
                <a:lnTo>
                  <a:pt x="16953" y="455617"/>
                </a:lnTo>
                <a:lnTo>
                  <a:pt x="22996" y="396905"/>
                </a:lnTo>
                <a:lnTo>
                  <a:pt x="16818" y="331873"/>
                </a:lnTo>
                <a:lnTo>
                  <a:pt x="29355" y="286312"/>
                </a:lnTo>
                <a:lnTo>
                  <a:pt x="31749" y="205724"/>
                </a:lnTo>
                <a:lnTo>
                  <a:pt x="0" y="146476"/>
                </a:lnTo>
                <a:lnTo>
                  <a:pt x="4794" y="64119"/>
                </a:lnTo>
                <a:lnTo>
                  <a:pt x="54884" y="36385"/>
                </a:lnTo>
                <a:lnTo>
                  <a:pt x="33362" y="8461"/>
                </a:lnTo>
                <a:lnTo>
                  <a:pt x="57477" y="0"/>
                </a:lnTo>
                <a:lnTo>
                  <a:pt x="71556" y="3985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995303" y="5130266"/>
            <a:ext cx="220855" cy="111983"/>
          </a:xfrm>
          <a:custGeom>
            <a:avLst/>
            <a:gdLst/>
            <a:ahLst/>
            <a:cxnLst/>
            <a:rect l="l" t="t" r="r" b="b"/>
            <a:pathLst>
              <a:path w="220855" h="111983">
                <a:moveTo>
                  <a:pt x="53201" y="14926"/>
                </a:moveTo>
                <a:lnTo>
                  <a:pt x="67478" y="0"/>
                </a:lnTo>
                <a:lnTo>
                  <a:pt x="106001" y="12922"/>
                </a:lnTo>
                <a:lnTo>
                  <a:pt x="123429" y="15303"/>
                </a:lnTo>
                <a:lnTo>
                  <a:pt x="130461" y="27205"/>
                </a:lnTo>
                <a:lnTo>
                  <a:pt x="138636" y="29040"/>
                </a:lnTo>
                <a:lnTo>
                  <a:pt x="139076" y="34254"/>
                </a:lnTo>
                <a:lnTo>
                  <a:pt x="165586" y="48792"/>
                </a:lnTo>
                <a:lnTo>
                  <a:pt x="220855" y="45176"/>
                </a:lnTo>
                <a:lnTo>
                  <a:pt x="210273" y="66678"/>
                </a:lnTo>
                <a:lnTo>
                  <a:pt x="150955" y="77117"/>
                </a:lnTo>
                <a:lnTo>
                  <a:pt x="77397" y="111983"/>
                </a:lnTo>
                <a:lnTo>
                  <a:pt x="47264" y="99724"/>
                </a:lnTo>
                <a:lnTo>
                  <a:pt x="59212" y="71405"/>
                </a:lnTo>
                <a:lnTo>
                  <a:pt x="0" y="53765"/>
                </a:lnTo>
                <a:lnTo>
                  <a:pt x="9571" y="42211"/>
                </a:lnTo>
                <a:lnTo>
                  <a:pt x="61447" y="22179"/>
                </a:lnTo>
                <a:lnTo>
                  <a:pt x="53201" y="1492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493823" y="4530634"/>
            <a:ext cx="514456" cy="292274"/>
          </a:xfrm>
          <a:custGeom>
            <a:avLst/>
            <a:gdLst/>
            <a:ahLst/>
            <a:cxnLst/>
            <a:rect l="l" t="t" r="r" b="b"/>
            <a:pathLst>
              <a:path w="514456" h="292274">
                <a:moveTo>
                  <a:pt x="269698" y="0"/>
                </a:moveTo>
                <a:lnTo>
                  <a:pt x="326746" y="15114"/>
                </a:lnTo>
                <a:lnTo>
                  <a:pt x="334444" y="30075"/>
                </a:lnTo>
                <a:lnTo>
                  <a:pt x="362877" y="22881"/>
                </a:lnTo>
                <a:lnTo>
                  <a:pt x="415851" y="37254"/>
                </a:lnTo>
                <a:lnTo>
                  <a:pt x="421157" y="65545"/>
                </a:lnTo>
                <a:lnTo>
                  <a:pt x="409545" y="81804"/>
                </a:lnTo>
                <a:lnTo>
                  <a:pt x="443516" y="121262"/>
                </a:lnTo>
                <a:lnTo>
                  <a:pt x="465568" y="132256"/>
                </a:lnTo>
                <a:lnTo>
                  <a:pt x="462308" y="143141"/>
                </a:lnTo>
                <a:lnTo>
                  <a:pt x="498848" y="153747"/>
                </a:lnTo>
                <a:lnTo>
                  <a:pt x="514456" y="169815"/>
                </a:lnTo>
                <a:lnTo>
                  <a:pt x="493371" y="182996"/>
                </a:lnTo>
                <a:lnTo>
                  <a:pt x="449649" y="180904"/>
                </a:lnTo>
                <a:lnTo>
                  <a:pt x="439221" y="186535"/>
                </a:lnTo>
                <a:lnTo>
                  <a:pt x="451945" y="206540"/>
                </a:lnTo>
                <a:lnTo>
                  <a:pt x="465272" y="245134"/>
                </a:lnTo>
                <a:lnTo>
                  <a:pt x="465273" y="245134"/>
                </a:lnTo>
                <a:lnTo>
                  <a:pt x="418757" y="248709"/>
                </a:lnTo>
                <a:lnTo>
                  <a:pt x="402063" y="261941"/>
                </a:lnTo>
                <a:lnTo>
                  <a:pt x="398576" y="292274"/>
                </a:lnTo>
                <a:lnTo>
                  <a:pt x="377024" y="286450"/>
                </a:lnTo>
                <a:lnTo>
                  <a:pt x="328124" y="289337"/>
                </a:lnTo>
                <a:lnTo>
                  <a:pt x="313922" y="275246"/>
                </a:lnTo>
                <a:lnTo>
                  <a:pt x="293590" y="285752"/>
                </a:lnTo>
                <a:lnTo>
                  <a:pt x="273215" y="277043"/>
                </a:lnTo>
                <a:lnTo>
                  <a:pt x="230541" y="275833"/>
                </a:lnTo>
                <a:lnTo>
                  <a:pt x="170063" y="261369"/>
                </a:lnTo>
                <a:lnTo>
                  <a:pt x="115325" y="256646"/>
                </a:lnTo>
                <a:lnTo>
                  <a:pt x="73347" y="257984"/>
                </a:lnTo>
                <a:lnTo>
                  <a:pt x="43652" y="274317"/>
                </a:lnTo>
                <a:lnTo>
                  <a:pt x="17750" y="276667"/>
                </a:lnTo>
                <a:lnTo>
                  <a:pt x="16717" y="249837"/>
                </a:lnTo>
                <a:lnTo>
                  <a:pt x="0" y="221913"/>
                </a:lnTo>
                <a:lnTo>
                  <a:pt x="32496" y="209611"/>
                </a:lnTo>
                <a:lnTo>
                  <a:pt x="32807" y="185587"/>
                </a:lnTo>
                <a:lnTo>
                  <a:pt x="17775" y="162662"/>
                </a:lnTo>
                <a:lnTo>
                  <a:pt x="15423" y="136001"/>
                </a:lnTo>
                <a:lnTo>
                  <a:pt x="67798" y="136410"/>
                </a:lnTo>
                <a:lnTo>
                  <a:pt x="126626" y="113706"/>
                </a:lnTo>
                <a:lnTo>
                  <a:pt x="139202" y="79683"/>
                </a:lnTo>
                <a:lnTo>
                  <a:pt x="183627" y="60385"/>
                </a:lnTo>
                <a:lnTo>
                  <a:pt x="178536" y="33389"/>
                </a:lnTo>
                <a:lnTo>
                  <a:pt x="211488" y="23252"/>
                </a:lnTo>
                <a:lnTo>
                  <a:pt x="269698" y="0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6401748" y="5290967"/>
            <a:ext cx="362124" cy="149985"/>
          </a:xfrm>
          <a:custGeom>
            <a:avLst/>
            <a:gdLst/>
            <a:ahLst/>
            <a:cxnLst/>
            <a:rect l="l" t="t" r="r" b="b"/>
            <a:pathLst>
              <a:path w="362124" h="149985">
                <a:moveTo>
                  <a:pt x="0" y="7118"/>
                </a:moveTo>
                <a:lnTo>
                  <a:pt x="6609" y="0"/>
                </a:lnTo>
                <a:lnTo>
                  <a:pt x="52409" y="10303"/>
                </a:lnTo>
                <a:lnTo>
                  <a:pt x="132183" y="20057"/>
                </a:lnTo>
                <a:lnTo>
                  <a:pt x="205963" y="48954"/>
                </a:lnTo>
                <a:lnTo>
                  <a:pt x="215457" y="60156"/>
                </a:lnTo>
                <a:lnTo>
                  <a:pt x="248317" y="50692"/>
                </a:lnTo>
                <a:lnTo>
                  <a:pt x="298854" y="63300"/>
                </a:lnTo>
                <a:lnTo>
                  <a:pt x="315442" y="88030"/>
                </a:lnTo>
                <a:lnTo>
                  <a:pt x="349501" y="101998"/>
                </a:lnTo>
                <a:lnTo>
                  <a:pt x="335439" y="110308"/>
                </a:lnTo>
                <a:lnTo>
                  <a:pt x="362124" y="142920"/>
                </a:lnTo>
                <a:lnTo>
                  <a:pt x="354740" y="149985"/>
                </a:lnTo>
                <a:lnTo>
                  <a:pt x="325532" y="146403"/>
                </a:lnTo>
                <a:lnTo>
                  <a:pt x="285153" y="129072"/>
                </a:lnTo>
                <a:lnTo>
                  <a:pt x="271880" y="138915"/>
                </a:lnTo>
                <a:lnTo>
                  <a:pt x="196575" y="148316"/>
                </a:lnTo>
                <a:lnTo>
                  <a:pt x="144383" y="118723"/>
                </a:lnTo>
                <a:lnTo>
                  <a:pt x="86649" y="121586"/>
                </a:lnTo>
                <a:lnTo>
                  <a:pt x="94727" y="95835"/>
                </a:lnTo>
                <a:lnTo>
                  <a:pt x="81197" y="54722"/>
                </a:lnTo>
                <a:lnTo>
                  <a:pt x="49877" y="32513"/>
                </a:lnTo>
                <a:lnTo>
                  <a:pt x="19853" y="25582"/>
                </a:lnTo>
                <a:lnTo>
                  <a:pt x="0" y="711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F4F3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 / Россия&#10;Беларусь&#10;Казахстан&#10;Грузия&#10;Узбекистан"/>
          <p:cNvSpPr txBox="1"/>
          <p:nvPr/>
        </p:nvSpPr>
        <p:spPr>
          <a:xfrm>
            <a:off x="640080" y="3840480"/>
            <a:ext cx="3657600" cy="2377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Россия</a:t>
            </a:r>
          </a:p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Беларусь</a:t>
            </a:r>
          </a:p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Казахстан</a:t>
            </a:r>
          </a:p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Грузия</a:t>
            </a:r>
          </a:p>
          <a:p>
            <a:pPr>
              <a:lnSpc>
                <a:spcPts val="3375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Узбекистан</a:t>
            </a:r>
          </a:p>
        </p:txBody>
      </p:sp>
      <p:sp>
        <p:nvSpPr>
          <p:cNvPr id="72" name="Text / 100+"/>
          <p:cNvSpPr txBox="1"/>
          <p:nvPr/>
        </p:nvSpPr>
        <p:spPr>
          <a:xfrm>
            <a:off x="6400800" y="6080760"/>
            <a:ext cx="338328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5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100+</a:t>
            </a:r>
          </a:p>
        </p:txBody>
      </p:sp>
      <p:sp>
        <p:nvSpPr>
          <p:cNvPr id="73" name="Text / клиентов за пределами России"/>
          <p:cNvSpPr txBox="1"/>
          <p:nvPr/>
        </p:nvSpPr>
        <p:spPr>
          <a:xfrm>
            <a:off x="6400800" y="7223760"/>
            <a:ext cx="33832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клиентов за пределами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России</a:t>
            </a:r>
          </a:p>
        </p:txBody>
      </p:sp>
      <p:sp>
        <p:nvSpPr>
          <p:cNvPr id="74" name="Text / 250+"/>
          <p:cNvSpPr txBox="1"/>
          <p:nvPr/>
        </p:nvSpPr>
        <p:spPr>
          <a:xfrm>
            <a:off x="10241280" y="6080760"/>
            <a:ext cx="3657600" cy="10241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5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250+</a:t>
            </a:r>
          </a:p>
        </p:txBody>
      </p:sp>
      <p:sp>
        <p:nvSpPr>
          <p:cNvPr id="75" name="Text / проектов за пределами России"/>
          <p:cNvSpPr txBox="1"/>
          <p:nvPr/>
        </p:nvSpPr>
        <p:spPr>
          <a:xfrm>
            <a:off x="10241280" y="7223760"/>
            <a:ext cx="36576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проектов за пределами России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ЛИЕНТСКИЙ ОПЫТ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КЛИЕНТСКИЙ ОПЫТ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6" name="Text / Опыт,&#10;которому&#10;доверяют."/>
          <p:cNvSpPr txBox="1"/>
          <p:nvPr/>
        </p:nvSpPr>
        <p:spPr>
          <a:xfrm>
            <a:off x="640080" y="1783080"/>
            <a:ext cx="3840480" cy="2423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Опыт,</a:t>
            </a:r>
          </a:p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которому</a:t>
            </a:r>
          </a:p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доверяют.</a:t>
            </a:r>
          </a:p>
        </p:txBody>
      </p:sp>
      <p:sp>
        <p:nvSpPr>
          <p:cNvPr id="7" name="Text / 750+"/>
          <p:cNvSpPr txBox="1"/>
          <p:nvPr/>
        </p:nvSpPr>
        <p:spPr>
          <a:xfrm>
            <a:off x="640080" y="4754880"/>
            <a:ext cx="3749039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168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F6600"/>
                </a:solidFill>
                <a:latin typeface="Manrope"/>
              </a:defRPr>
            </a:pPr>
            <a:r>
              <a:rPr spc="-100"/>
              <a:t>750+</a:t>
            </a:r>
          </a:p>
        </p:txBody>
      </p:sp>
      <p:sp>
        <p:nvSpPr>
          <p:cNvPr id="8" name="Text / клиентов"/>
          <p:cNvSpPr txBox="1"/>
          <p:nvPr/>
        </p:nvSpPr>
        <p:spPr>
          <a:xfrm>
            <a:off x="640080" y="57790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клиентов</a:t>
            </a:r>
          </a:p>
        </p:txBody>
      </p:sp>
      <p:sp>
        <p:nvSpPr>
          <p:cNvPr id="9" name="Text / 1 200+ проектов"/>
          <p:cNvSpPr txBox="1"/>
          <p:nvPr/>
        </p:nvSpPr>
        <p:spPr>
          <a:xfrm>
            <a:off x="640080" y="6629400"/>
            <a:ext cx="3657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11110"/>
                </a:solidFill>
                <a:latin typeface="Manrope"/>
              </a:defRPr>
            </a:pPr>
            <a:r>
              <a:t>1 200+ проектов</a:t>
            </a:r>
          </a:p>
        </p:txBody>
      </p:sp>
      <p:pic>
        <p:nvPicPr>
          <p:cNvPr id="10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94332"/>
            <a:ext cx="996696" cy="252984"/>
          </a:xfrm>
          <a:prstGeom prst="rect">
            <a:avLst/>
          </a:prstGeom>
        </p:spPr>
      </p:pic>
      <p:pic>
        <p:nvPicPr>
          <p:cNvPr id="11" name="Image / 6_12.png" descr="6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783080"/>
            <a:ext cx="475488" cy="475488"/>
          </a:xfrm>
          <a:prstGeom prst="rect">
            <a:avLst/>
          </a:prstGeom>
        </p:spPr>
      </p:pic>
      <p:pic>
        <p:nvPicPr>
          <p:cNvPr id="12" name="Image / 6_13.png" descr="6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1833943"/>
            <a:ext cx="996696" cy="373761"/>
          </a:xfrm>
          <a:prstGeom prst="rect">
            <a:avLst/>
          </a:prstGeom>
        </p:spPr>
      </p:pic>
      <p:pic>
        <p:nvPicPr>
          <p:cNvPr id="13" name="Image / 6_14.png" descr="6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2" y="1873625"/>
            <a:ext cx="996696" cy="294397"/>
          </a:xfrm>
          <a:prstGeom prst="rect">
            <a:avLst/>
          </a:prstGeom>
        </p:spPr>
      </p:pic>
      <p:pic>
        <p:nvPicPr>
          <p:cNvPr id="14" name="Image / 6_15.png" descr="6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8009" y="1783080"/>
            <a:ext cx="476149" cy="475488"/>
          </a:xfrm>
          <a:prstGeom prst="rect">
            <a:avLst/>
          </a:prstGeom>
        </p:spPr>
      </p:pic>
      <p:pic>
        <p:nvPicPr>
          <p:cNvPr id="15" name="Image / 6_16.png" descr="6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3599" y="1783080"/>
            <a:ext cx="949257" cy="475488"/>
          </a:xfrm>
          <a:prstGeom prst="rect">
            <a:avLst/>
          </a:prstGeom>
        </p:spPr>
      </p:pic>
      <p:pic>
        <p:nvPicPr>
          <p:cNvPr id="16" name="Image / 6_17.png" descr="6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63756" y="1783080"/>
            <a:ext cx="713231" cy="475488"/>
          </a:xfrm>
          <a:prstGeom prst="rect">
            <a:avLst/>
          </a:prstGeom>
        </p:spPr>
      </p:pic>
      <p:pic>
        <p:nvPicPr>
          <p:cNvPr id="17" name="Image / 6_18.png" descr="6_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18228" y="1783080"/>
            <a:ext cx="908575" cy="475488"/>
          </a:xfrm>
          <a:prstGeom prst="rect">
            <a:avLst/>
          </a:prstGeom>
        </p:spPr>
      </p:pic>
      <p:pic>
        <p:nvPicPr>
          <p:cNvPr id="18" name="Image / 6_19.png" descr="6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9764" y="2542032"/>
            <a:ext cx="475488" cy="475488"/>
          </a:xfrm>
          <a:prstGeom prst="rect">
            <a:avLst/>
          </a:prstGeom>
        </p:spPr>
      </p:pic>
      <p:pic>
        <p:nvPicPr>
          <p:cNvPr id="19" name="Image / 6_20.png" descr="6_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1304" y="2691110"/>
            <a:ext cx="996696" cy="177331"/>
          </a:xfrm>
          <a:prstGeom prst="rect">
            <a:avLst/>
          </a:prstGeom>
        </p:spPr>
      </p:pic>
      <p:pic>
        <p:nvPicPr>
          <p:cNvPr id="20" name="Image / 6_21.png" descr="6_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167" y="2542032"/>
            <a:ext cx="673257" cy="475488"/>
          </a:xfrm>
          <a:prstGeom prst="rect">
            <a:avLst/>
          </a:prstGeom>
        </p:spPr>
      </p:pic>
      <p:pic>
        <p:nvPicPr>
          <p:cNvPr id="21" name="Image / 6_22.png" descr="6_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31" y="2542032"/>
            <a:ext cx="640016" cy="475488"/>
          </a:xfrm>
          <a:prstGeom prst="rect">
            <a:avLst/>
          </a:prstGeom>
        </p:spPr>
      </p:pic>
      <p:pic>
        <p:nvPicPr>
          <p:cNvPr id="22" name="Image / 6_23.png" descr="6_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7736" y="2597093"/>
            <a:ext cx="996696" cy="365365"/>
          </a:xfrm>
          <a:prstGeom prst="rect">
            <a:avLst/>
          </a:prstGeom>
        </p:spPr>
      </p:pic>
      <p:pic>
        <p:nvPicPr>
          <p:cNvPr id="23" name="Image / 6_24.png" descr="6_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98683" y="2542032"/>
            <a:ext cx="939088" cy="475488"/>
          </a:xfrm>
          <a:prstGeom prst="rect">
            <a:avLst/>
          </a:prstGeom>
        </p:spPr>
      </p:pic>
      <p:pic>
        <p:nvPicPr>
          <p:cNvPr id="24" name="Image / 6_25.png" descr="6_2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22024" y="2579873"/>
            <a:ext cx="996696" cy="399804"/>
          </a:xfrm>
          <a:prstGeom prst="rect">
            <a:avLst/>
          </a:prstGeom>
        </p:spPr>
      </p:pic>
      <p:pic>
        <p:nvPicPr>
          <p:cNvPr id="25" name="Image / 6_26.png" descr="6_2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820364" y="2542032"/>
            <a:ext cx="904302" cy="475488"/>
          </a:xfrm>
          <a:prstGeom prst="rect">
            <a:avLst/>
          </a:prstGeom>
        </p:spPr>
      </p:pic>
      <p:pic>
        <p:nvPicPr>
          <p:cNvPr id="26" name="Image / 6_27.png" descr="6_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09160" y="3448624"/>
            <a:ext cx="996696" cy="180206"/>
          </a:xfrm>
          <a:prstGeom prst="rect">
            <a:avLst/>
          </a:prstGeom>
        </p:spPr>
      </p:pic>
      <p:pic>
        <p:nvPicPr>
          <p:cNvPr id="27" name="Image / 6_28.png" descr="6_2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1304" y="3411052"/>
            <a:ext cx="996696" cy="255351"/>
          </a:xfrm>
          <a:prstGeom prst="rect">
            <a:avLst/>
          </a:prstGeom>
        </p:spPr>
      </p:pic>
      <p:pic>
        <p:nvPicPr>
          <p:cNvPr id="28" name="Image / 6_29.png" descr="6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80656" y="3300984"/>
            <a:ext cx="462280" cy="475488"/>
          </a:xfrm>
          <a:prstGeom prst="rect">
            <a:avLst/>
          </a:prstGeom>
        </p:spPr>
      </p:pic>
      <p:pic>
        <p:nvPicPr>
          <p:cNvPr id="29" name="Image / 6_30.png" descr="6_3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65592" y="3422895"/>
            <a:ext cx="996696" cy="231664"/>
          </a:xfrm>
          <a:prstGeom prst="rect">
            <a:avLst/>
          </a:prstGeom>
        </p:spPr>
      </p:pic>
      <p:pic>
        <p:nvPicPr>
          <p:cNvPr id="30" name="Image / 6_31.png" descr="6_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9317" y="3300984"/>
            <a:ext cx="613532" cy="475488"/>
          </a:xfrm>
          <a:prstGeom prst="rect">
            <a:avLst/>
          </a:prstGeom>
        </p:spPr>
      </p:pic>
      <p:pic>
        <p:nvPicPr>
          <p:cNvPr id="31" name="Image / 6_32.png" descr="6_3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07295" y="3300984"/>
            <a:ext cx="921864" cy="475488"/>
          </a:xfrm>
          <a:prstGeom prst="rect">
            <a:avLst/>
          </a:prstGeom>
        </p:spPr>
      </p:pic>
      <p:pic>
        <p:nvPicPr>
          <p:cNvPr id="32" name="Image / 6_33.png" descr="6_3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785589" y="3300984"/>
            <a:ext cx="669564" cy="475488"/>
          </a:xfrm>
          <a:prstGeom prst="rect">
            <a:avLst/>
          </a:prstGeom>
        </p:spPr>
      </p:pic>
      <p:pic>
        <p:nvPicPr>
          <p:cNvPr id="33" name="Image / 6_34.png" descr="6_3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74168" y="3413057"/>
            <a:ext cx="996696" cy="251340"/>
          </a:xfrm>
          <a:prstGeom prst="rect">
            <a:avLst/>
          </a:prstGeom>
        </p:spPr>
      </p:pic>
      <p:pic>
        <p:nvPicPr>
          <p:cNvPr id="34" name="Image / 6_35.png" descr="6_3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16932" y="4059935"/>
            <a:ext cx="581152" cy="475488"/>
          </a:xfrm>
          <a:prstGeom prst="rect">
            <a:avLst/>
          </a:prstGeom>
        </p:spPr>
      </p:pic>
      <p:pic>
        <p:nvPicPr>
          <p:cNvPr id="35" name="Image / 6_36.png" descr="6_3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61304" y="4135495"/>
            <a:ext cx="996696" cy="324368"/>
          </a:xfrm>
          <a:prstGeom prst="rect">
            <a:avLst/>
          </a:prstGeom>
        </p:spPr>
      </p:pic>
      <p:pic>
        <p:nvPicPr>
          <p:cNvPr id="36" name="Image / 6_37.png" descr="6_3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3448" y="4126205"/>
            <a:ext cx="996696" cy="342949"/>
          </a:xfrm>
          <a:prstGeom prst="rect">
            <a:avLst/>
          </a:prstGeom>
        </p:spPr>
      </p:pic>
      <p:pic>
        <p:nvPicPr>
          <p:cNvPr id="37" name="Image / 6_38.png" descr="6_3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7323" y="4059935"/>
            <a:ext cx="713232" cy="475488"/>
          </a:xfrm>
          <a:prstGeom prst="rect">
            <a:avLst/>
          </a:prstGeom>
        </p:spPr>
      </p:pic>
      <p:pic>
        <p:nvPicPr>
          <p:cNvPr id="38" name="Image / 6_39.png" descr="6_3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317736" y="4181866"/>
            <a:ext cx="996696" cy="231626"/>
          </a:xfrm>
          <a:prstGeom prst="rect">
            <a:avLst/>
          </a:prstGeom>
        </p:spPr>
      </p:pic>
      <p:pic>
        <p:nvPicPr>
          <p:cNvPr id="39" name="Image / 6_40.png" descr="6_4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469880" y="4075092"/>
            <a:ext cx="996696" cy="445174"/>
          </a:xfrm>
          <a:prstGeom prst="rect">
            <a:avLst/>
          </a:prstGeom>
        </p:spPr>
      </p:pic>
      <p:pic>
        <p:nvPicPr>
          <p:cNvPr id="40" name="Image / 6_41.png" descr="6_4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622024" y="4128001"/>
            <a:ext cx="996696" cy="339357"/>
          </a:xfrm>
          <a:prstGeom prst="rect">
            <a:avLst/>
          </a:prstGeom>
        </p:spPr>
      </p:pic>
      <p:pic>
        <p:nvPicPr>
          <p:cNvPr id="41" name="Image / 6_42.png" descr="6_4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774168" y="4179147"/>
            <a:ext cx="996696" cy="237065"/>
          </a:xfrm>
          <a:prstGeom prst="rect">
            <a:avLst/>
          </a:prstGeom>
        </p:spPr>
      </p:pic>
      <p:pic>
        <p:nvPicPr>
          <p:cNvPr id="42" name="Image / 6_43.png" descr="6_4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709160" y="4899495"/>
            <a:ext cx="996696" cy="314273"/>
          </a:xfrm>
          <a:prstGeom prst="rect">
            <a:avLst/>
          </a:prstGeom>
        </p:spPr>
      </p:pic>
      <p:pic>
        <p:nvPicPr>
          <p:cNvPr id="43" name="Image / 6_44.png" descr="6_4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61304" y="4899495"/>
            <a:ext cx="996696" cy="314273"/>
          </a:xfrm>
          <a:prstGeom prst="rect">
            <a:avLst/>
          </a:prstGeom>
        </p:spPr>
      </p:pic>
      <p:pic>
        <p:nvPicPr>
          <p:cNvPr id="44" name="Image / 6_45.png" descr="6_4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013448" y="4899495"/>
            <a:ext cx="996696" cy="314273"/>
          </a:xfrm>
          <a:prstGeom prst="rect">
            <a:avLst/>
          </a:prstGeom>
        </p:spPr>
      </p:pic>
      <p:pic>
        <p:nvPicPr>
          <p:cNvPr id="45" name="Image / 6_46.png" descr="6_4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165592" y="4993049"/>
            <a:ext cx="996696" cy="127164"/>
          </a:xfrm>
          <a:prstGeom prst="rect">
            <a:avLst/>
          </a:prstGeom>
        </p:spPr>
      </p:pic>
      <p:pic>
        <p:nvPicPr>
          <p:cNvPr id="46" name="Image / 6_47.png" descr="6_4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17736" y="4885482"/>
            <a:ext cx="996696" cy="342299"/>
          </a:xfrm>
          <a:prstGeom prst="rect">
            <a:avLst/>
          </a:prstGeom>
        </p:spPr>
      </p:pic>
      <p:pic>
        <p:nvPicPr>
          <p:cNvPr id="47" name="Image / 6_48.png" descr="6_4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469880" y="4883937"/>
            <a:ext cx="996696" cy="345389"/>
          </a:xfrm>
          <a:prstGeom prst="rect">
            <a:avLst/>
          </a:prstGeom>
        </p:spPr>
      </p:pic>
      <p:pic>
        <p:nvPicPr>
          <p:cNvPr id="48" name="Image / 6_49.png" descr="6_49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622024" y="4900983"/>
            <a:ext cx="996696" cy="311296"/>
          </a:xfrm>
          <a:prstGeom prst="rect">
            <a:avLst/>
          </a:prstGeom>
        </p:spPr>
      </p:pic>
      <p:pic>
        <p:nvPicPr>
          <p:cNvPr id="49" name="Image / 6_50.png" descr="6_5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824672" y="4818888"/>
            <a:ext cx="895686" cy="475488"/>
          </a:xfrm>
          <a:prstGeom prst="rect">
            <a:avLst/>
          </a:prstGeom>
        </p:spPr>
      </p:pic>
      <p:pic>
        <p:nvPicPr>
          <p:cNvPr id="50" name="Image / 6_51.png" descr="6_5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09160" y="5618125"/>
            <a:ext cx="996696" cy="394917"/>
          </a:xfrm>
          <a:prstGeom prst="rect">
            <a:avLst/>
          </a:prstGeom>
        </p:spPr>
      </p:pic>
      <p:pic>
        <p:nvPicPr>
          <p:cNvPr id="51" name="Image / 6_52.png" descr="6_5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861304" y="5618125"/>
            <a:ext cx="996696" cy="394917"/>
          </a:xfrm>
          <a:prstGeom prst="rect">
            <a:avLst/>
          </a:prstGeom>
        </p:spPr>
      </p:pic>
      <p:pic>
        <p:nvPicPr>
          <p:cNvPr id="52" name="Image / 6_53.png" descr="6_5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013448" y="5618125"/>
            <a:ext cx="996696" cy="394917"/>
          </a:xfrm>
          <a:prstGeom prst="rect">
            <a:avLst/>
          </a:prstGeom>
        </p:spPr>
      </p:pic>
      <p:pic>
        <p:nvPicPr>
          <p:cNvPr id="53" name="Image / 6_54.png" descr="6_54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273869" y="5577840"/>
            <a:ext cx="780141" cy="475488"/>
          </a:xfrm>
          <a:prstGeom prst="rect">
            <a:avLst/>
          </a:prstGeom>
        </p:spPr>
      </p:pic>
      <p:pic>
        <p:nvPicPr>
          <p:cNvPr id="54" name="Image / 6_55.png" descr="6_55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317736" y="5718748"/>
            <a:ext cx="996696" cy="193670"/>
          </a:xfrm>
          <a:prstGeom prst="rect">
            <a:avLst/>
          </a:prstGeom>
        </p:spPr>
      </p:pic>
      <p:pic>
        <p:nvPicPr>
          <p:cNvPr id="55" name="Image / 6_56.png" descr="6_56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469880" y="5615217"/>
            <a:ext cx="996696" cy="400733"/>
          </a:xfrm>
          <a:prstGeom prst="rect">
            <a:avLst/>
          </a:prstGeom>
        </p:spPr>
      </p:pic>
      <p:pic>
        <p:nvPicPr>
          <p:cNvPr id="56" name="Image / 6_57.png" descr="6_57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833439" y="5577840"/>
            <a:ext cx="573864" cy="475488"/>
          </a:xfrm>
          <a:prstGeom prst="rect">
            <a:avLst/>
          </a:prstGeom>
        </p:spPr>
      </p:pic>
      <p:pic>
        <p:nvPicPr>
          <p:cNvPr id="57" name="Image / 6_58.png" descr="6_58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2774168" y="5619652"/>
            <a:ext cx="996696" cy="391863"/>
          </a:xfrm>
          <a:prstGeom prst="rect">
            <a:avLst/>
          </a:prstGeom>
        </p:spPr>
      </p:pic>
      <p:pic>
        <p:nvPicPr>
          <p:cNvPr id="58" name="Image / 6_59.png" descr="6_59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709160" y="6446867"/>
            <a:ext cx="996696" cy="255337"/>
          </a:xfrm>
          <a:prstGeom prst="rect">
            <a:avLst/>
          </a:prstGeom>
        </p:spPr>
      </p:pic>
      <p:pic>
        <p:nvPicPr>
          <p:cNvPr id="59" name="Image / 6_60.png" descr="6_6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861304" y="6464511"/>
            <a:ext cx="996696" cy="220049"/>
          </a:xfrm>
          <a:prstGeom prst="rect">
            <a:avLst/>
          </a:prstGeom>
        </p:spPr>
      </p:pic>
      <p:pic>
        <p:nvPicPr>
          <p:cNvPr id="60" name="Image / 6_61.png" descr="6_6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013448" y="6413985"/>
            <a:ext cx="996696" cy="32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ЗНАНИЕ / 2024–2025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ПРИЗНАНИЕ / 2024–2025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6" name="Text / Позиции, подтверждённые рынком."/>
          <p:cNvSpPr txBox="1"/>
          <p:nvPr/>
        </p:nvSpPr>
        <p:spPr>
          <a:xfrm>
            <a:off x="640080" y="169164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58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Позиции, подтверждённые рынком.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6324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РАБОТОДАТЕЛЬ"/>
          <p:cNvSpPr txBox="1"/>
          <p:nvPr/>
        </p:nvSpPr>
        <p:spPr>
          <a:xfrm>
            <a:off x="640080" y="3337560"/>
            <a:ext cx="4160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РАБОТОДАТЕЛЬ</a:t>
            </a:r>
          </a:p>
        </p:txBody>
      </p:sp>
      <p:sp>
        <p:nvSpPr>
          <p:cNvPr id="9" name="Text / HH / Forbes / РБК"/>
          <p:cNvSpPr txBox="1"/>
          <p:nvPr/>
        </p:nvSpPr>
        <p:spPr>
          <a:xfrm>
            <a:off x="640080" y="3886200"/>
            <a:ext cx="420624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11110"/>
                </a:solidFill>
                <a:latin typeface="Manrope"/>
              </a:defRPr>
            </a:pPr>
            <a:r>
              <a:rPr spc="-90"/>
              <a:t>HH / Forbes / РБК</a:t>
            </a:r>
          </a:p>
        </p:txBody>
      </p:sp>
      <p:sp>
        <p:nvSpPr>
          <p:cNvPr id="10" name="Text / Рейтинги лучших&#10;работодателей России"/>
          <p:cNvSpPr txBox="1"/>
          <p:nvPr/>
        </p:nvSpPr>
        <p:spPr>
          <a:xfrm>
            <a:off x="640080" y="5212080"/>
            <a:ext cx="4114800" cy="500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Рейтинги лучших</a:t>
            </a:r>
          </a:p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работодателей России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5212080" y="306324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ПРОФЕССИОНАЛЬНАЯ ЭКСПЕРТИЗА"/>
          <p:cNvSpPr txBox="1"/>
          <p:nvPr/>
        </p:nvSpPr>
        <p:spPr>
          <a:xfrm>
            <a:off x="5212080" y="3337560"/>
            <a:ext cx="4160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ПРОФЕССИОНАЛЬНАЯ ЭКСПЕРТИЗА</a:t>
            </a:r>
          </a:p>
        </p:txBody>
      </p:sp>
      <p:sp>
        <p:nvSpPr>
          <p:cNvPr id="13" name="Text / Топ-5"/>
          <p:cNvSpPr txBox="1"/>
          <p:nvPr/>
        </p:nvSpPr>
        <p:spPr>
          <a:xfrm>
            <a:off x="5212080" y="3886200"/>
            <a:ext cx="420624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12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90"/>
              <a:t>Топ-5</a:t>
            </a:r>
          </a:p>
        </p:txBody>
      </p:sp>
      <p:sp>
        <p:nvSpPr>
          <p:cNvPr id="14" name="Text / Поставщики ИТ-услуг РАЭКС"/>
          <p:cNvSpPr txBox="1"/>
          <p:nvPr/>
        </p:nvSpPr>
        <p:spPr>
          <a:xfrm>
            <a:off x="5212080" y="5212080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Поставщики ИТ-услуг РАЭКС</a:t>
            </a:r>
          </a:p>
        </p:txBody>
      </p:sp>
      <p:sp>
        <p:nvSpPr>
          <p:cNvPr id="15" name="Text / Топ-15 ИТ-компаний РАЭКС"/>
          <p:cNvSpPr txBox="1"/>
          <p:nvPr/>
        </p:nvSpPr>
        <p:spPr>
          <a:xfrm>
            <a:off x="5212080" y="5668264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Топ-15 ИТ-компаний РАЭКС</a:t>
            </a:r>
          </a:p>
        </p:txBody>
      </p:sp>
      <p:sp>
        <p:nvSpPr>
          <p:cNvPr id="16" name="Text / Топ-100 CNews: 63-е место"/>
          <p:cNvSpPr txBox="1"/>
          <p:nvPr/>
        </p:nvSpPr>
        <p:spPr>
          <a:xfrm>
            <a:off x="5212080" y="6124448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Топ-100 CNews: 63-е место</a:t>
            </a:r>
          </a:p>
        </p:txBody>
      </p:sp>
      <p:sp>
        <p:nvSpPr>
          <p:cNvPr id="17" name="Text / ТОП-1000 менеджеров: АМР / Коммерсантъ"/>
          <p:cNvSpPr txBox="1"/>
          <p:nvPr/>
        </p:nvSpPr>
        <p:spPr>
          <a:xfrm>
            <a:off x="5212080" y="6580632"/>
            <a:ext cx="4114800" cy="500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ТОП-1000 менеджеров: АМР /</a:t>
            </a:r>
          </a:p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Коммерсантъ</a:t>
            </a:r>
          </a:p>
        </p:txBody>
      </p:sp>
      <p:sp>
        <p:nvSpPr>
          <p:cNvPr id="18" name="Colour field / D2D2CB"/>
          <p:cNvSpPr/>
          <p:nvPr/>
        </p:nvSpPr>
        <p:spPr>
          <a:xfrm>
            <a:off x="9784080" y="3063240"/>
            <a:ext cx="416052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/ HR-TECH"/>
          <p:cNvSpPr txBox="1"/>
          <p:nvPr/>
        </p:nvSpPr>
        <p:spPr>
          <a:xfrm>
            <a:off x="9784080" y="3337560"/>
            <a:ext cx="4160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HR-TECH</a:t>
            </a:r>
          </a:p>
        </p:txBody>
      </p:sp>
      <p:sp>
        <p:nvSpPr>
          <p:cNvPr id="20" name="Text / №1"/>
          <p:cNvSpPr txBox="1"/>
          <p:nvPr/>
        </p:nvSpPr>
        <p:spPr>
          <a:xfrm>
            <a:off x="9784080" y="3886200"/>
            <a:ext cx="420624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12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6600"/>
                </a:solidFill>
                <a:latin typeface="Manrope"/>
              </a:defRPr>
            </a:pPr>
            <a:r>
              <a:rPr spc="-90"/>
              <a:t>№1</a:t>
            </a:r>
          </a:p>
        </p:txBody>
      </p:sp>
      <p:sp>
        <p:nvSpPr>
          <p:cNvPr id="21" name="Text / Платформы гибкой занятости: Smart Ranking"/>
          <p:cNvSpPr txBox="1"/>
          <p:nvPr/>
        </p:nvSpPr>
        <p:spPr>
          <a:xfrm>
            <a:off x="9784080" y="5212080"/>
            <a:ext cx="4114800" cy="500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Платформы гибкой занятости: Smart</a:t>
            </a:r>
          </a:p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Ranking</a:t>
            </a:r>
          </a:p>
        </p:txBody>
      </p:sp>
      <p:sp>
        <p:nvSpPr>
          <p:cNvPr id="22" name="Text / Рост HR-tech компаний России, 2024"/>
          <p:cNvSpPr txBox="1"/>
          <p:nvPr/>
        </p:nvSpPr>
        <p:spPr>
          <a:xfrm>
            <a:off x="9784080" y="5895848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Рост HR-tech компаний России, 2024</a:t>
            </a:r>
          </a:p>
        </p:txBody>
      </p:sp>
      <p:sp>
        <p:nvSpPr>
          <p:cNvPr id="23" name="Text / Product Market Fit 2024"/>
          <p:cNvSpPr txBox="1"/>
          <p:nvPr/>
        </p:nvSpPr>
        <p:spPr>
          <a:xfrm>
            <a:off x="9784080" y="6352032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Product Market Fit 2024</a:t>
            </a:r>
          </a:p>
        </p:txBody>
      </p:sp>
      <p:sp>
        <p:nvSpPr>
          <p:cNvPr id="24" name="Text / ТОП-20 бесплатных бизнес-приложений"/>
          <p:cNvSpPr txBox="1"/>
          <p:nvPr/>
        </p:nvSpPr>
        <p:spPr>
          <a:xfrm>
            <a:off x="9784080" y="6808216"/>
            <a:ext cx="4114800" cy="273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ТОП-20 бесплатных бизнес-приложений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02 / РЕШЕНИЯ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02 / РЕШЕНИЯ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6" name="Text / Найти нужных.&#10;Собрать сильных.&#10;Дать бизнесу&#10;д"/>
          <p:cNvSpPr txBox="1"/>
          <p:nvPr/>
        </p:nvSpPr>
        <p:spPr>
          <a:xfrm>
            <a:off x="640080" y="1874519"/>
            <a:ext cx="1335024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33"/>
              </a:lnSpc>
              <a:spcBef>
                <a:spcPts val="0"/>
              </a:spcBef>
              <a:spcAft>
                <a:spcPts val="0"/>
              </a:spcAft>
              <a:defRPr sz="6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Найти нужных.</a:t>
            </a:r>
          </a:p>
          <a:p>
            <a:pPr>
              <a:lnSpc>
                <a:spcPts val="6633"/>
              </a:lnSpc>
              <a:spcBef>
                <a:spcPts val="0"/>
              </a:spcBef>
              <a:spcAft>
                <a:spcPts val="0"/>
              </a:spcAft>
              <a:defRPr sz="6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Собрать сильных.</a:t>
            </a:r>
          </a:p>
          <a:p>
            <a:pPr>
              <a:lnSpc>
                <a:spcPts val="6633"/>
              </a:lnSpc>
              <a:spcBef>
                <a:spcPts val="0"/>
              </a:spcBef>
              <a:spcAft>
                <a:spcPts val="0"/>
              </a:spcAft>
              <a:defRPr sz="6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Дать бизнесу</a:t>
            </a:r>
          </a:p>
          <a:p>
            <a:pPr>
              <a:lnSpc>
                <a:spcPts val="6633"/>
              </a:lnSpc>
              <a:spcBef>
                <a:spcPts val="0"/>
              </a:spcBef>
              <a:spcAft>
                <a:spcPts val="0"/>
              </a:spcAft>
              <a:defRPr sz="6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движение.</a:t>
            </a:r>
          </a:p>
        </p:txBody>
      </p:sp>
      <p:sp>
        <p:nvSpPr>
          <p:cNvPr id="7" name="Text / ЛЮДИ × ЭКСПЕРТИЗА × ТЕХНОЛОГИИ"/>
          <p:cNvSpPr txBox="1"/>
          <p:nvPr/>
        </p:nvSpPr>
        <p:spPr>
          <a:xfrm>
            <a:off x="685800" y="704088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ЛЮДИ × ЭКСПЕРТИЗА × ТЕХНОЛОГИИ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11</a:t>
            </a:r>
          </a:p>
        </p:txBody>
      </p:sp>
      <p:sp>
        <p:nvSpPr>
          <p:cNvPr id="6" name="Text / Подбор сильных.&#10;Рост команд."/>
          <p:cNvSpPr txBox="1"/>
          <p:nvPr/>
        </p:nvSpPr>
        <p:spPr>
          <a:xfrm>
            <a:off x="640080" y="1737360"/>
            <a:ext cx="8229600" cy="1554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сильных.</a:t>
            </a:r>
          </a:p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Рост команд.</a:t>
            </a:r>
          </a:p>
        </p:txBody>
      </p:sp>
      <p:sp>
        <p:nvSpPr>
          <p:cNvPr id="7" name="Text / ПОДБОР И HR-СЕРВИСЫ / ТОП-2 НА РЫНКЕ"/>
          <p:cNvSpPr txBox="1"/>
          <p:nvPr/>
        </p:nvSpPr>
        <p:spPr>
          <a:xfrm>
            <a:off x="640080" y="3749039"/>
            <a:ext cx="7955279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ПОДБОР И HR-СЕРВИСЫ / ТОП-2 НА РЫНКЕ</a:t>
            </a:r>
          </a:p>
        </p:txBody>
      </p:sp>
      <p:sp>
        <p:nvSpPr>
          <p:cNvPr id="8" name="Text / Executive search"/>
          <p:cNvSpPr txBox="1"/>
          <p:nvPr/>
        </p:nvSpPr>
        <p:spPr>
          <a:xfrm>
            <a:off x="640080" y="4389120"/>
            <a:ext cx="795527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Executive search</a:t>
            </a:r>
          </a:p>
        </p:txBody>
      </p:sp>
      <p:sp>
        <p:nvSpPr>
          <p:cNvPr id="9" name="Text / Профессиональный и международный подбор"/>
          <p:cNvSpPr txBox="1"/>
          <p:nvPr/>
        </p:nvSpPr>
        <p:spPr>
          <a:xfrm>
            <a:off x="640080" y="4864608"/>
            <a:ext cx="795527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Профессиональный и международный подбор</a:t>
            </a:r>
          </a:p>
        </p:txBody>
      </p:sp>
      <p:sp>
        <p:nvSpPr>
          <p:cNvPr id="10" name="Text / Проектные команды и RPO"/>
          <p:cNvSpPr txBox="1"/>
          <p:nvPr/>
        </p:nvSpPr>
        <p:spPr>
          <a:xfrm>
            <a:off x="640080" y="5340096"/>
            <a:ext cx="795527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Проектные команды и RPO</a:t>
            </a:r>
          </a:p>
        </p:txBody>
      </p:sp>
      <p:sp>
        <p:nvSpPr>
          <p:cNvPr id="11" name="Text / Массовый подбор и HR-консалтинг"/>
          <p:cNvSpPr txBox="1"/>
          <p:nvPr/>
        </p:nvSpPr>
        <p:spPr>
          <a:xfrm>
            <a:off x="640080" y="5815583"/>
            <a:ext cx="795527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Массовый подбор и HR-консалтинг</a:t>
            </a:r>
          </a:p>
        </p:txBody>
      </p:sp>
      <p:pic>
        <p:nvPicPr>
          <p:cNvPr id="12" name="Image / image65.png" descr="image65.png"/>
          <p:cNvPicPr>
            <a:picLocks noChangeAspect="1"/>
          </p:cNvPicPr>
          <p:nvPr/>
        </p:nvPicPr>
        <p:blipFill>
          <a:blip r:embed="rId3"/>
          <a:srcRect l="6518" r="6518"/>
          <a:stretch>
            <a:fillRect/>
          </a:stretch>
        </p:blipFill>
        <p:spPr>
          <a:xfrm>
            <a:off x="9281160" y="1600200"/>
            <a:ext cx="4709160" cy="3611880"/>
          </a:xfrm>
          <a:prstGeom prst="rect">
            <a:avLst/>
          </a:prstGeom>
        </p:spPr>
      </p:pic>
      <p:sp>
        <p:nvSpPr>
          <p:cNvPr id="13" name="Colour field / FF6600"/>
          <p:cNvSpPr/>
          <p:nvPr/>
        </p:nvSpPr>
        <p:spPr>
          <a:xfrm>
            <a:off x="9281160" y="5212080"/>
            <a:ext cx="4709160" cy="217627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9 500+"/>
          <p:cNvSpPr txBox="1"/>
          <p:nvPr/>
        </p:nvSpPr>
        <p:spPr>
          <a:xfrm>
            <a:off x="9601200" y="5532120"/>
            <a:ext cx="40690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3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111110"/>
                </a:solidFill>
                <a:latin typeface="Manrope"/>
              </a:defRPr>
            </a:pPr>
            <a:r>
              <a:rPr spc="-130"/>
              <a:t>9 500+</a:t>
            </a:r>
          </a:p>
        </p:txBody>
      </p:sp>
      <p:sp>
        <p:nvSpPr>
          <p:cNvPr id="15" name="Text / позиций закрыто&#10;в 2022–2025 гг."/>
          <p:cNvSpPr txBox="1"/>
          <p:nvPr/>
        </p:nvSpPr>
        <p:spPr>
          <a:xfrm>
            <a:off x="9619488" y="6501384"/>
            <a:ext cx="3931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позиций закрыто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16" name="Text / &gt;10 лет"/>
          <p:cNvSpPr txBox="1"/>
          <p:nvPr/>
        </p:nvSpPr>
        <p:spPr>
          <a:xfrm>
            <a:off x="640080" y="64922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&gt;10 лет</a:t>
            </a:r>
          </a:p>
        </p:txBody>
      </p:sp>
      <p:sp>
        <p:nvSpPr>
          <p:cNvPr id="17" name="Text / опыт консультантов"/>
          <p:cNvSpPr txBox="1"/>
          <p:nvPr/>
        </p:nvSpPr>
        <p:spPr>
          <a:xfrm>
            <a:off x="640080" y="7150608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опыт консультантов</a:t>
            </a:r>
          </a:p>
        </p:txBody>
      </p:sp>
      <p:sp>
        <p:nvSpPr>
          <p:cNvPr id="18" name="Text / &gt;5 млн"/>
          <p:cNvSpPr txBox="1"/>
          <p:nvPr/>
        </p:nvSpPr>
        <p:spPr>
          <a:xfrm>
            <a:off x="3474720" y="64922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&gt;5 млн</a:t>
            </a:r>
          </a:p>
        </p:txBody>
      </p:sp>
      <p:sp>
        <p:nvSpPr>
          <p:cNvPr id="19" name="Text / специалистов в базе"/>
          <p:cNvSpPr txBox="1"/>
          <p:nvPr/>
        </p:nvSpPr>
        <p:spPr>
          <a:xfrm>
            <a:off x="3474720" y="7150608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специалистов в базе</a:t>
            </a:r>
          </a:p>
        </p:txBody>
      </p:sp>
      <p:sp>
        <p:nvSpPr>
          <p:cNvPr id="20" name="Text / 2 мес."/>
          <p:cNvSpPr txBox="1"/>
          <p:nvPr/>
        </p:nvSpPr>
        <p:spPr>
          <a:xfrm>
            <a:off x="6400800" y="64922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2 мес.</a:t>
            </a:r>
          </a:p>
        </p:txBody>
      </p:sp>
      <p:sp>
        <p:nvSpPr>
          <p:cNvPr id="21" name="Text / закрытие позиции"/>
          <p:cNvSpPr txBox="1"/>
          <p:nvPr/>
        </p:nvSpPr>
        <p:spPr>
          <a:xfrm>
            <a:off x="6400800" y="7150608"/>
            <a:ext cx="2606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закрытие позиции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12</a:t>
            </a:r>
          </a:p>
        </p:txBody>
      </p:sp>
      <p:sp>
        <p:nvSpPr>
          <p:cNvPr id="6" name="Text / От C-level — до команд 400+."/>
          <p:cNvSpPr txBox="1"/>
          <p:nvPr/>
        </p:nvSpPr>
        <p:spPr>
          <a:xfrm>
            <a:off x="640080" y="169164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53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От C-level — до команд 400+.</a:t>
            </a:r>
          </a:p>
        </p:txBody>
      </p:sp>
      <p:pic>
        <p:nvPicPr>
          <p:cNvPr id="7" name="Image / 10_7.png" descr="10_7.png"/>
          <p:cNvPicPr>
            <a:picLocks noChangeAspect="1"/>
          </p:cNvPicPr>
          <p:nvPr/>
        </p:nvPicPr>
        <p:blipFill>
          <a:blip r:embed="rId3"/>
          <a:srcRect l="8774" r="8774"/>
          <a:stretch>
            <a:fillRect/>
          </a:stretch>
        </p:blipFill>
        <p:spPr>
          <a:xfrm>
            <a:off x="640080" y="3063240"/>
            <a:ext cx="4206240" cy="2331720"/>
          </a:xfrm>
          <a:prstGeom prst="rect">
            <a:avLst/>
          </a:prstGeom>
        </p:spPr>
      </p:pic>
      <p:sp>
        <p:nvSpPr>
          <p:cNvPr id="8" name="Text / 01"/>
          <p:cNvSpPr txBox="1"/>
          <p:nvPr/>
        </p:nvSpPr>
        <p:spPr>
          <a:xfrm>
            <a:off x="640080" y="566928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Фармацевтика"/>
          <p:cNvSpPr txBox="1"/>
          <p:nvPr/>
        </p:nvSpPr>
        <p:spPr>
          <a:xfrm>
            <a:off x="1234440" y="5532120"/>
            <a:ext cx="3611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Фармацевтика</a:t>
            </a:r>
          </a:p>
        </p:txBody>
      </p:sp>
      <p:sp>
        <p:nvSpPr>
          <p:cNvPr id="10" name="Text / Аутсорсинг процесса рекрутмента крупной фарма"/>
          <p:cNvSpPr txBox="1"/>
          <p:nvPr/>
        </p:nvSpPr>
        <p:spPr>
          <a:xfrm>
            <a:off x="640080" y="6309360"/>
            <a:ext cx="4160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Аутсорсинг процесса рекрутмента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крупной фармацевтической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компании.</a:t>
            </a:r>
          </a:p>
        </p:txBody>
      </p:sp>
      <p:pic>
        <p:nvPicPr>
          <p:cNvPr id="11" name="Image / 10_6.png" descr="10_6.png"/>
          <p:cNvPicPr>
            <a:picLocks noChangeAspect="1"/>
          </p:cNvPicPr>
          <p:nvPr/>
        </p:nvPicPr>
        <p:blipFill>
          <a:blip r:embed="rId4"/>
          <a:srcRect l="9536" r="9536"/>
          <a:stretch>
            <a:fillRect/>
          </a:stretch>
        </p:blipFill>
        <p:spPr>
          <a:xfrm>
            <a:off x="5212080" y="3063240"/>
            <a:ext cx="4206240" cy="2331720"/>
          </a:xfrm>
          <a:prstGeom prst="rect">
            <a:avLst/>
          </a:prstGeom>
        </p:spPr>
      </p:pic>
      <p:sp>
        <p:nvSpPr>
          <p:cNvPr id="12" name="Text / 02"/>
          <p:cNvSpPr txBox="1"/>
          <p:nvPr/>
        </p:nvSpPr>
        <p:spPr>
          <a:xfrm>
            <a:off x="5212080" y="566928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Бытовая техника"/>
          <p:cNvSpPr txBox="1"/>
          <p:nvPr/>
        </p:nvSpPr>
        <p:spPr>
          <a:xfrm>
            <a:off x="5806440" y="5532120"/>
            <a:ext cx="3611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Бытовая техника</a:t>
            </a:r>
          </a:p>
        </p:txBody>
      </p:sp>
      <p:sp>
        <p:nvSpPr>
          <p:cNvPr id="14" name="Text / Формирование команды 400+ работников для круп"/>
          <p:cNvSpPr txBox="1"/>
          <p:nvPr/>
        </p:nvSpPr>
        <p:spPr>
          <a:xfrm>
            <a:off x="5212080" y="6309360"/>
            <a:ext cx="4160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Формирование команды 400+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работников для крупного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производителя.</a:t>
            </a:r>
          </a:p>
        </p:txBody>
      </p:sp>
      <p:pic>
        <p:nvPicPr>
          <p:cNvPr id="15" name="Image / 10_5.png" descr="10_5.png"/>
          <p:cNvPicPr>
            <a:picLocks noChangeAspect="1"/>
          </p:cNvPicPr>
          <p:nvPr/>
        </p:nvPicPr>
        <p:blipFill>
          <a:blip r:embed="rId5"/>
          <a:srcRect l="8878" r="8878"/>
          <a:stretch>
            <a:fillRect/>
          </a:stretch>
        </p:blipFill>
        <p:spPr>
          <a:xfrm>
            <a:off x="9784080" y="3063240"/>
            <a:ext cx="4206240" cy="2331720"/>
          </a:xfrm>
          <a:prstGeom prst="rect">
            <a:avLst/>
          </a:prstGeom>
        </p:spPr>
      </p:pic>
      <p:sp>
        <p:nvSpPr>
          <p:cNvPr id="16" name="Text / 03"/>
          <p:cNvSpPr txBox="1"/>
          <p:nvPr/>
        </p:nvSpPr>
        <p:spPr>
          <a:xfrm>
            <a:off x="9784080" y="5669280"/>
            <a:ext cx="548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Электроника"/>
          <p:cNvSpPr txBox="1"/>
          <p:nvPr/>
        </p:nvSpPr>
        <p:spPr>
          <a:xfrm>
            <a:off x="10378440" y="5532120"/>
            <a:ext cx="3611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</p:txBody>
      </p:sp>
      <p:sp>
        <p:nvSpPr>
          <p:cNvPr id="18" name="Text / Аутсорсинг административной поддержки офиса."/>
          <p:cNvSpPr txBox="1"/>
          <p:nvPr/>
        </p:nvSpPr>
        <p:spPr>
          <a:xfrm>
            <a:off x="9784080" y="6309360"/>
            <a:ext cx="416052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Аутсорсинг административной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поддержки офиса.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АУТСОРСИНГ / АДМИНИСТРАТИВНЫЕ ФУНКЦИИ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АУТСОРСИНГ / АДМИНИСТРАТИВНЫЕ ФУНКЦИИ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13</a:t>
            </a:r>
          </a:p>
        </p:txBody>
      </p:sp>
      <p:sp>
        <p:nvSpPr>
          <p:cNvPr id="6" name="Text / Освободить бизнес&#10;для главного."/>
          <p:cNvSpPr txBox="1"/>
          <p:nvPr/>
        </p:nvSpPr>
        <p:spPr>
          <a:xfrm>
            <a:off x="640080" y="1737360"/>
            <a:ext cx="932688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51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Освободить бизнес</a:t>
            </a:r>
          </a:p>
          <a:p>
            <a:pPr>
              <a:lnSpc>
                <a:spcPts val="4851"/>
              </a:lnSpc>
              <a:spcBef>
                <a:spcPts val="0"/>
              </a:spcBef>
              <a:spcAft>
                <a:spcPts val="0"/>
              </a:spcAft>
              <a:defRPr sz="4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для главного.</a:t>
            </a:r>
          </a:p>
        </p:txBody>
      </p:sp>
      <p:sp>
        <p:nvSpPr>
          <p:cNvPr id="7" name="Text / 500+"/>
          <p:cNvSpPr txBox="1"/>
          <p:nvPr/>
        </p:nvSpPr>
        <p:spPr>
          <a:xfrm>
            <a:off x="10378440" y="1810512"/>
            <a:ext cx="36118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605"/>
              </a:lnSpc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F6600"/>
                </a:solidFill>
                <a:latin typeface="Manrope"/>
              </a:defRPr>
            </a:pPr>
            <a:r>
              <a:rPr spc="-120"/>
              <a:t>500+</a:t>
            </a:r>
          </a:p>
        </p:txBody>
      </p:sp>
      <p:sp>
        <p:nvSpPr>
          <p:cNvPr id="8" name="Text / проектов&#10;в 2022–2025 гг."/>
          <p:cNvSpPr txBox="1"/>
          <p:nvPr/>
        </p:nvSpPr>
        <p:spPr>
          <a:xfrm>
            <a:off x="10378440" y="2834640"/>
            <a:ext cx="35661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9" name="Text / Закупки и поставщики"/>
          <p:cNvSpPr txBox="1"/>
          <p:nvPr/>
        </p:nvSpPr>
        <p:spPr>
          <a:xfrm>
            <a:off x="640080" y="4160520"/>
            <a:ext cx="649224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Закупки и поставщики</a:t>
            </a:r>
          </a:p>
        </p:txBody>
      </p:sp>
      <p:sp>
        <p:nvSpPr>
          <p:cNvPr id="10" name="Text / Организация ресепшена"/>
          <p:cNvSpPr txBox="1"/>
          <p:nvPr/>
        </p:nvSpPr>
        <p:spPr>
          <a:xfrm>
            <a:off x="640080" y="4681728"/>
            <a:ext cx="649224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Организация ресепшена</a:t>
            </a:r>
          </a:p>
        </p:txBody>
      </p:sp>
      <p:sp>
        <p:nvSpPr>
          <p:cNvPr id="11" name="Text / Почтовая служба и документы"/>
          <p:cNvSpPr txBox="1"/>
          <p:nvPr/>
        </p:nvSpPr>
        <p:spPr>
          <a:xfrm>
            <a:off x="640080" y="5202936"/>
            <a:ext cx="649224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Почтовая служба и документы</a:t>
            </a:r>
          </a:p>
        </p:txBody>
      </p:sp>
      <p:sp>
        <p:nvSpPr>
          <p:cNvPr id="12" name="Text / Административный персонал"/>
          <p:cNvSpPr txBox="1"/>
          <p:nvPr/>
        </p:nvSpPr>
        <p:spPr>
          <a:xfrm>
            <a:off x="640080" y="5724144"/>
            <a:ext cx="649224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Административный персонал</a:t>
            </a:r>
          </a:p>
        </p:txBody>
      </p:sp>
      <p:sp>
        <p:nvSpPr>
          <p:cNvPr id="13" name="Text / Подбор секретарей и ассистентов"/>
          <p:cNvSpPr txBox="1"/>
          <p:nvPr/>
        </p:nvSpPr>
        <p:spPr>
          <a:xfrm>
            <a:off x="640080" y="6245352"/>
            <a:ext cx="6492240" cy="502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FFFFF"/>
                </a:solidFill>
                <a:latin typeface="Manrope"/>
              </a:defRPr>
            </a:pPr>
            <a:r>
              <a:t>Подбор секретарей и ассистентов</a:t>
            </a:r>
          </a:p>
        </p:txBody>
      </p:sp>
      <p:pic>
        <p:nvPicPr>
          <p:cNvPr id="14" name="Image / image86.png" descr="image86.png"/>
          <p:cNvPicPr>
            <a:picLocks noChangeAspect="1"/>
          </p:cNvPicPr>
          <p:nvPr/>
        </p:nvPicPr>
        <p:blipFill>
          <a:blip r:embed="rId3"/>
          <a:srcRect t="4008" b="4008"/>
          <a:stretch>
            <a:fillRect/>
          </a:stretch>
        </p:blipFill>
        <p:spPr>
          <a:xfrm>
            <a:off x="7863840" y="4114800"/>
            <a:ext cx="6126480" cy="2971800"/>
          </a:xfrm>
          <a:prstGeom prst="rect">
            <a:avLst/>
          </a:prstGeom>
        </p:spPr>
      </p:pic>
      <p:sp>
        <p:nvSpPr>
          <p:cNvPr id="15" name="Text / 1+ млн специалистов в базе"/>
          <p:cNvSpPr txBox="1"/>
          <p:nvPr/>
        </p:nvSpPr>
        <p:spPr>
          <a:xfrm>
            <a:off x="640080" y="6995160"/>
            <a:ext cx="6309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1B2A8"/>
                </a:solidFill>
                <a:latin typeface="Manrope"/>
              </a:defRPr>
            </a:pPr>
            <a:r>
              <a:t>1+ млн специалистов в базе</a:t>
            </a:r>
          </a:p>
        </p:txBody>
      </p:sp>
      <p:sp>
        <p:nvSpPr>
          <p:cNvPr id="16" name="Text / ТОП-2 НА РЫНКЕ / СРОК ЗАКРЫТИЯ — 2 МЕС."/>
          <p:cNvSpPr txBox="1"/>
          <p:nvPr/>
        </p:nvSpPr>
        <p:spPr>
          <a:xfrm>
            <a:off x="7863840" y="7315200"/>
            <a:ext cx="6126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ТОП-2 НА РЫНКЕ / СРОК ЗАКРЫТИЯ — 2 МЕС.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69.png" descr="image69.png"/>
          <p:cNvPicPr>
            <a:picLocks noChangeAspect="1"/>
          </p:cNvPicPr>
          <p:nvPr/>
        </p:nvPicPr>
        <p:blipFill>
          <a:blip r:embed="rId2"/>
          <a:srcRect l="4674" r="4674"/>
          <a:stretch>
            <a:fillRect/>
          </a:stretch>
        </p:blipFill>
        <p:spPr>
          <a:xfrm>
            <a:off x="0" y="0"/>
            <a:ext cx="7452360" cy="8229600"/>
          </a:xfrm>
          <a:prstGeom prst="rect">
            <a:avLst/>
          </a:prstGeom>
        </p:spPr>
      </p:pic>
      <p:sp>
        <p:nvSpPr>
          <p:cNvPr id="3" name="Colour field / F4F3EF"/>
          <p:cNvSpPr/>
          <p:nvPr/>
        </p:nvSpPr>
        <p:spPr>
          <a:xfrm>
            <a:off x="7452360" y="0"/>
            <a:ext cx="7178040" cy="82296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Image / image5.png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5" name="Text / ПРОДАЖИ / TRADE"/>
          <p:cNvSpPr txBox="1"/>
          <p:nvPr/>
        </p:nvSpPr>
        <p:spPr>
          <a:xfrm>
            <a:off x="8229600" y="62179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ПРОДАЖИ / TRADE</a:t>
            </a:r>
          </a:p>
        </p:txBody>
      </p:sp>
      <p:sp>
        <p:nvSpPr>
          <p:cNvPr id="6" name="Text / Продажи.&#10;Системно."/>
          <p:cNvSpPr txBox="1"/>
          <p:nvPr/>
        </p:nvSpPr>
        <p:spPr>
          <a:xfrm>
            <a:off x="8229600" y="1737360"/>
            <a:ext cx="566928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Продажи.</a:t>
            </a:r>
          </a:p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Системно.</a:t>
            </a:r>
          </a:p>
        </p:txBody>
      </p:sp>
      <p:sp>
        <p:nvSpPr>
          <p:cNvPr id="7" name="Text / Собственная розница"/>
          <p:cNvSpPr txBox="1"/>
          <p:nvPr/>
        </p:nvSpPr>
        <p:spPr>
          <a:xfrm>
            <a:off x="8229600" y="3886200"/>
            <a:ext cx="5577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Собственная розница</a:t>
            </a:r>
          </a:p>
        </p:txBody>
      </p:sp>
      <p:sp>
        <p:nvSpPr>
          <p:cNvPr id="8" name="Text / Управление торговым персоналом"/>
          <p:cNvSpPr txBox="1"/>
          <p:nvPr/>
        </p:nvSpPr>
        <p:spPr>
          <a:xfrm>
            <a:off x="8229600" y="4434840"/>
            <a:ext cx="5577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Управление торговым персоналом</a:t>
            </a:r>
          </a:p>
        </p:txBody>
      </p:sp>
      <p:sp>
        <p:nvSpPr>
          <p:cNvPr id="9" name="Text / Field force и мерчандайзинг"/>
          <p:cNvSpPr txBox="1"/>
          <p:nvPr/>
        </p:nvSpPr>
        <p:spPr>
          <a:xfrm>
            <a:off x="8229600" y="4983480"/>
            <a:ext cx="5577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Field force и мерчандайзинг</a:t>
            </a:r>
          </a:p>
        </p:txBody>
      </p:sp>
      <p:sp>
        <p:nvSpPr>
          <p:cNvPr id="10" name="Text / BTL &amp; Promo"/>
          <p:cNvSpPr txBox="1"/>
          <p:nvPr/>
        </p:nvSpPr>
        <p:spPr>
          <a:xfrm>
            <a:off x="8229600" y="5532120"/>
            <a:ext cx="557784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111110"/>
                </a:solidFill>
                <a:latin typeface="Manrope"/>
              </a:defRPr>
            </a:pPr>
            <a:r>
              <a:t>BTL &amp; Promo</a:t>
            </a:r>
          </a:p>
        </p:txBody>
      </p:sp>
      <p:sp>
        <p:nvSpPr>
          <p:cNvPr id="11" name="Text / 35%+"/>
          <p:cNvSpPr txBox="1"/>
          <p:nvPr/>
        </p:nvSpPr>
        <p:spPr>
          <a:xfrm>
            <a:off x="8229600" y="6217920"/>
            <a:ext cx="56692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8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111110"/>
                </a:solidFill>
                <a:latin typeface="Manrope"/>
              </a:defRPr>
            </a:pPr>
            <a:r>
              <a:rPr spc="-150"/>
              <a:t>35%+</a:t>
            </a:r>
          </a:p>
        </p:txBody>
      </p:sp>
      <p:sp>
        <p:nvSpPr>
          <p:cNvPr id="12" name="Text / рынка электронного ритейла"/>
          <p:cNvSpPr txBox="1"/>
          <p:nvPr/>
        </p:nvSpPr>
        <p:spPr>
          <a:xfrm>
            <a:off x="8229600" y="7269480"/>
            <a:ext cx="5577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рынка электронного ритейла</a:t>
            </a:r>
          </a:p>
        </p:txBody>
      </p:sp>
      <p:sp>
        <p:nvSpPr>
          <p:cNvPr id="13" name="Colour field / 111110"/>
          <p:cNvSpPr/>
          <p:nvPr/>
        </p:nvSpPr>
        <p:spPr>
          <a:xfrm>
            <a:off x="0" y="6080760"/>
            <a:ext cx="7452360" cy="2148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Топ-2"/>
          <p:cNvSpPr txBox="1"/>
          <p:nvPr/>
        </p:nvSpPr>
        <p:spPr>
          <a:xfrm>
            <a:off x="640080" y="6446520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3333"/>
                </a:solidFill>
                <a:latin typeface="Manrope"/>
              </a:defRPr>
            </a:pPr>
            <a:r>
              <a:t>Топ-2</a:t>
            </a:r>
          </a:p>
        </p:txBody>
      </p:sp>
      <p:sp>
        <p:nvSpPr>
          <p:cNvPr id="15" name="Text / рынка трейд-маркетинга"/>
          <p:cNvSpPr txBox="1"/>
          <p:nvPr/>
        </p:nvSpPr>
        <p:spPr>
          <a:xfrm>
            <a:off x="640080" y="7205472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рынка трейд-маркетинга</a:t>
            </a:r>
          </a:p>
        </p:txBody>
      </p:sp>
      <p:sp>
        <p:nvSpPr>
          <p:cNvPr id="16" name="Text / 5 000"/>
          <p:cNvSpPr txBox="1"/>
          <p:nvPr/>
        </p:nvSpPr>
        <p:spPr>
          <a:xfrm>
            <a:off x="4297680" y="6446520"/>
            <a:ext cx="2743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5 000</a:t>
            </a:r>
          </a:p>
        </p:txBody>
      </p:sp>
      <p:sp>
        <p:nvSpPr>
          <p:cNvPr id="17" name="Text / человек на проектах"/>
          <p:cNvSpPr txBox="1"/>
          <p:nvPr/>
        </p:nvSpPr>
        <p:spPr>
          <a:xfrm>
            <a:off x="4297680" y="7205472"/>
            <a:ext cx="265176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человек на проектах</a:t>
            </a:r>
          </a:p>
        </p:txBody>
      </p:sp>
      <p:sp>
        <p:nvSpPr>
          <p:cNvPr id="18" name="Text / VENTRA / 14"/>
          <p:cNvSpPr txBox="1"/>
          <p:nvPr/>
        </p:nvSpPr>
        <p:spPr>
          <a:xfrm>
            <a:off x="640080" y="786384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VENTRA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TRADE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TRADE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15</a:t>
            </a:r>
          </a:p>
        </p:txBody>
      </p:sp>
      <p:sp>
        <p:nvSpPr>
          <p:cNvPr id="6" name="Text / От запуска розницы&#10;до распределённых продаж."/>
          <p:cNvSpPr txBox="1"/>
          <p:nvPr/>
        </p:nvSpPr>
        <p:spPr>
          <a:xfrm>
            <a:off x="640080" y="1691640"/>
            <a:ext cx="1335024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От запуска розницы</a:t>
            </a:r>
          </a:p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до распределённых продаж.</a:t>
            </a:r>
          </a:p>
        </p:txBody>
      </p:sp>
      <p:pic>
        <p:nvPicPr>
          <p:cNvPr id="7" name="Image / 13_2.png" descr="13_2.png"/>
          <p:cNvPicPr>
            <a:picLocks noChangeAspect="1"/>
          </p:cNvPicPr>
          <p:nvPr/>
        </p:nvPicPr>
        <p:blipFill>
          <a:blip r:embed="rId3"/>
          <a:srcRect l="10449" r="10449"/>
          <a:stretch>
            <a:fillRect/>
          </a:stretch>
        </p:blipFill>
        <p:spPr>
          <a:xfrm>
            <a:off x="640080" y="3611880"/>
            <a:ext cx="4206240" cy="2423160"/>
          </a:xfrm>
          <a:prstGeom prst="rect">
            <a:avLst/>
          </a:prstGeom>
        </p:spPr>
      </p:pic>
      <p:sp>
        <p:nvSpPr>
          <p:cNvPr id="8" name="Colour field / D2D2CB"/>
          <p:cNvSpPr/>
          <p:nvPr/>
        </p:nvSpPr>
        <p:spPr>
          <a:xfrm>
            <a:off x="640080" y="6355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Dyson"/>
          <p:cNvSpPr txBox="1"/>
          <p:nvPr/>
        </p:nvSpPr>
        <p:spPr>
          <a:xfrm>
            <a:off x="640080" y="6537960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Dyson</a:t>
            </a:r>
          </a:p>
        </p:txBody>
      </p:sp>
      <p:sp>
        <p:nvSpPr>
          <p:cNvPr id="10" name="Text / Запуск собственной розницы"/>
          <p:cNvSpPr txBox="1"/>
          <p:nvPr/>
        </p:nvSpPr>
        <p:spPr>
          <a:xfrm>
            <a:off x="640080" y="7187184"/>
            <a:ext cx="4206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Запуск собственной розницы</a:t>
            </a:r>
          </a:p>
        </p:txBody>
      </p:sp>
      <p:pic>
        <p:nvPicPr>
          <p:cNvPr id="11" name="Image / 13_0.png" descr="13_0.png"/>
          <p:cNvPicPr>
            <a:picLocks noChangeAspect="1"/>
          </p:cNvPicPr>
          <p:nvPr/>
        </p:nvPicPr>
        <p:blipFill>
          <a:blip r:embed="rId4"/>
          <a:srcRect l="10449" r="10449"/>
          <a:stretch>
            <a:fillRect/>
          </a:stretch>
        </p:blipFill>
        <p:spPr>
          <a:xfrm>
            <a:off x="5212080" y="3611880"/>
            <a:ext cx="4206240" cy="2423160"/>
          </a:xfrm>
          <a:prstGeom prst="rect">
            <a:avLst/>
          </a:prstGeom>
        </p:spPr>
      </p:pic>
      <p:sp>
        <p:nvSpPr>
          <p:cNvPr id="12" name="Colour field / D2D2CB"/>
          <p:cNvSpPr/>
          <p:nvPr/>
        </p:nvSpPr>
        <p:spPr>
          <a:xfrm>
            <a:off x="5212080" y="6355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IQOS"/>
          <p:cNvSpPr txBox="1"/>
          <p:nvPr/>
        </p:nvSpPr>
        <p:spPr>
          <a:xfrm>
            <a:off x="5212080" y="6537960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IQOS</a:t>
            </a:r>
          </a:p>
        </p:txBody>
      </p:sp>
      <p:sp>
        <p:nvSpPr>
          <p:cNvPr id="14" name="Text / Распределённые продажи"/>
          <p:cNvSpPr txBox="1"/>
          <p:nvPr/>
        </p:nvSpPr>
        <p:spPr>
          <a:xfrm>
            <a:off x="5212080" y="7187184"/>
            <a:ext cx="4206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Распределённые продажи</a:t>
            </a:r>
          </a:p>
        </p:txBody>
      </p:sp>
      <p:pic>
        <p:nvPicPr>
          <p:cNvPr id="15" name="Image / 13_1.png" descr="13_1.png"/>
          <p:cNvPicPr>
            <a:picLocks noChangeAspect="1"/>
          </p:cNvPicPr>
          <p:nvPr/>
        </p:nvPicPr>
        <p:blipFill>
          <a:blip r:embed="rId5"/>
          <a:srcRect l="10449" r="10449"/>
          <a:stretch>
            <a:fillRect/>
          </a:stretch>
        </p:blipFill>
        <p:spPr>
          <a:xfrm>
            <a:off x="9784080" y="3611880"/>
            <a:ext cx="4206240" cy="2423160"/>
          </a:xfrm>
          <a:prstGeom prst="rect">
            <a:avLst/>
          </a:prstGeom>
        </p:spPr>
      </p:pic>
      <p:sp>
        <p:nvSpPr>
          <p:cNvPr id="16" name="Colour field / D2D2CB"/>
          <p:cNvSpPr/>
          <p:nvPr/>
        </p:nvSpPr>
        <p:spPr>
          <a:xfrm>
            <a:off x="9784080" y="6355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BEKO"/>
          <p:cNvSpPr txBox="1"/>
          <p:nvPr/>
        </p:nvSpPr>
        <p:spPr>
          <a:xfrm>
            <a:off x="9784080" y="6537960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BEKO</a:t>
            </a:r>
          </a:p>
        </p:txBody>
      </p:sp>
      <p:sp>
        <p:nvSpPr>
          <p:cNvPr id="18" name="Text / Управление проектом продаж"/>
          <p:cNvSpPr txBox="1"/>
          <p:nvPr/>
        </p:nvSpPr>
        <p:spPr>
          <a:xfrm>
            <a:off x="9784080" y="7187184"/>
            <a:ext cx="42062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96A65"/>
                </a:solidFill>
                <a:latin typeface="Manrope"/>
              </a:defRPr>
            </a:pPr>
            <a:r>
              <a:t>Управление проектом продаж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NDUSTRIAL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INDUSTRIAL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16</a:t>
            </a:r>
          </a:p>
        </p:txBody>
      </p:sp>
      <p:sp>
        <p:nvSpPr>
          <p:cNvPr id="6" name="Text / Процессы идут.&#10;Бизнес растёт."/>
          <p:cNvSpPr txBox="1"/>
          <p:nvPr/>
        </p:nvSpPr>
        <p:spPr>
          <a:xfrm>
            <a:off x="640080" y="1691640"/>
            <a:ext cx="12710160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Процессы идут.</a:t>
            </a:r>
          </a:p>
          <a:p>
            <a:pPr>
              <a:lnSpc>
                <a:spcPts val="49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Бизнес растёт.</a:t>
            </a:r>
          </a:p>
        </p:txBody>
      </p:sp>
      <p:sp>
        <p:nvSpPr>
          <p:cNvPr id="7" name="Text / ПРОИЗВОДСТВО И СКЛАД"/>
          <p:cNvSpPr txBox="1"/>
          <p:nvPr/>
        </p:nvSpPr>
        <p:spPr>
          <a:xfrm>
            <a:off x="640080" y="3794760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ПРОИЗВОДСТВО И СКЛАД</a:t>
            </a:r>
          </a:p>
        </p:txBody>
      </p:sp>
      <p:sp>
        <p:nvSpPr>
          <p:cNvPr id="8" name="Text / Складская логистика"/>
          <p:cNvSpPr txBox="1"/>
          <p:nvPr/>
        </p:nvSpPr>
        <p:spPr>
          <a:xfrm>
            <a:off x="640080" y="4389120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Складская логистика</a:t>
            </a:r>
          </a:p>
        </p:txBody>
      </p:sp>
      <p:sp>
        <p:nvSpPr>
          <p:cNvPr id="9" name="Text / Производственные процессы"/>
          <p:cNvSpPr txBox="1"/>
          <p:nvPr/>
        </p:nvSpPr>
        <p:spPr>
          <a:xfrm>
            <a:off x="640080" y="4837176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Производственные процессы</a:t>
            </a:r>
          </a:p>
        </p:txBody>
      </p:sp>
      <p:sp>
        <p:nvSpPr>
          <p:cNvPr id="10" name="Text / Проекты для нефтегазового сектора"/>
          <p:cNvSpPr txBox="1"/>
          <p:nvPr/>
        </p:nvSpPr>
        <p:spPr>
          <a:xfrm>
            <a:off x="640080" y="5285231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Проекты для нефтегазового сектора</a:t>
            </a:r>
          </a:p>
        </p:txBody>
      </p:sp>
      <p:sp>
        <p:nvSpPr>
          <p:cNvPr id="11" name="Text / Команды на склад и производство"/>
          <p:cNvSpPr txBox="1"/>
          <p:nvPr/>
        </p:nvSpPr>
        <p:spPr>
          <a:xfrm>
            <a:off x="640080" y="5733288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Команды на склад и производство</a:t>
            </a:r>
          </a:p>
        </p:txBody>
      </p:sp>
      <p:sp>
        <p:nvSpPr>
          <p:cNvPr id="12" name="Text / Вахтовые проекты"/>
          <p:cNvSpPr txBox="1"/>
          <p:nvPr/>
        </p:nvSpPr>
        <p:spPr>
          <a:xfrm>
            <a:off x="640080" y="6181344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Вахтовые проекты</a:t>
            </a:r>
          </a:p>
        </p:txBody>
      </p:sp>
      <p:sp>
        <p:nvSpPr>
          <p:cNvPr id="13" name="Text / Клининг"/>
          <p:cNvSpPr txBox="1"/>
          <p:nvPr/>
        </p:nvSpPr>
        <p:spPr>
          <a:xfrm>
            <a:off x="640080" y="6629400"/>
            <a:ext cx="640080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11110"/>
                </a:solidFill>
                <a:latin typeface="Manrope"/>
              </a:defRPr>
            </a:pPr>
            <a:r>
              <a:t>Клининг</a:t>
            </a:r>
          </a:p>
        </p:txBody>
      </p:sp>
      <p:pic>
        <p:nvPicPr>
          <p:cNvPr id="14" name="Image / 14_7.png" descr="14_7.png"/>
          <p:cNvPicPr>
            <a:picLocks noChangeAspect="1"/>
          </p:cNvPicPr>
          <p:nvPr/>
        </p:nvPicPr>
        <p:blipFill>
          <a:blip r:embed="rId3"/>
          <a:srcRect t="20623" b="20623"/>
          <a:stretch>
            <a:fillRect/>
          </a:stretch>
        </p:blipFill>
        <p:spPr>
          <a:xfrm>
            <a:off x="7680960" y="2971800"/>
            <a:ext cx="6309360" cy="2468880"/>
          </a:xfrm>
          <a:prstGeom prst="rect">
            <a:avLst/>
          </a:prstGeom>
        </p:spPr>
      </p:pic>
      <p:sp>
        <p:nvSpPr>
          <p:cNvPr id="15" name="Text / Henkel / производственные линии"/>
          <p:cNvSpPr txBox="1"/>
          <p:nvPr/>
        </p:nvSpPr>
        <p:spPr>
          <a:xfrm>
            <a:off x="7680960" y="5577840"/>
            <a:ext cx="6309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11110"/>
                </a:solidFill>
                <a:latin typeface="Manrope"/>
              </a:defRPr>
            </a:pPr>
            <a:r>
              <a:t>Henkel / производственные линии</a:t>
            </a:r>
          </a:p>
        </p:txBody>
      </p:sp>
      <p:pic>
        <p:nvPicPr>
          <p:cNvPr id="16" name="Image / 14_5.png" descr="14_5.png"/>
          <p:cNvPicPr>
            <a:picLocks noChangeAspect="1"/>
          </p:cNvPicPr>
          <p:nvPr/>
        </p:nvPicPr>
        <p:blipFill>
          <a:blip r:embed="rId4"/>
          <a:srcRect t="27765" b="27765"/>
          <a:stretch>
            <a:fillRect/>
          </a:stretch>
        </p:blipFill>
        <p:spPr>
          <a:xfrm>
            <a:off x="7680960" y="6199632"/>
            <a:ext cx="2926080" cy="941832"/>
          </a:xfrm>
          <a:prstGeom prst="rect">
            <a:avLst/>
          </a:prstGeom>
        </p:spPr>
      </p:pic>
      <p:pic>
        <p:nvPicPr>
          <p:cNvPr id="17" name="Image / 14_6.png" descr="14_6.png"/>
          <p:cNvPicPr>
            <a:picLocks noChangeAspect="1"/>
          </p:cNvPicPr>
          <p:nvPr/>
        </p:nvPicPr>
        <p:blipFill>
          <a:blip r:embed="rId5"/>
          <a:srcRect t="28125" b="28125"/>
          <a:stretch>
            <a:fillRect/>
          </a:stretch>
        </p:blipFill>
        <p:spPr>
          <a:xfrm>
            <a:off x="11064240" y="6199632"/>
            <a:ext cx="2926080" cy="941832"/>
          </a:xfrm>
          <a:prstGeom prst="rect">
            <a:avLst/>
          </a:prstGeom>
        </p:spPr>
      </p:pic>
      <p:sp>
        <p:nvSpPr>
          <p:cNvPr id="18" name="Text / ДИКСИ / РАСПРЕДЕЛИТЕЛЬНЫЙ ЦЕНТР"/>
          <p:cNvSpPr txBox="1"/>
          <p:nvPr/>
        </p:nvSpPr>
        <p:spPr>
          <a:xfrm>
            <a:off x="7680960" y="7296912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ДИКСИ / РАСПРЕДЕЛИТЕЛЬНЫЙ ЦЕНТР</a:t>
            </a:r>
          </a:p>
        </p:txBody>
      </p:sp>
      <p:sp>
        <p:nvSpPr>
          <p:cNvPr id="19" name="Text / МАГНИТ / ОБСЛУЖИВАНИЕ СЕТИ"/>
          <p:cNvSpPr txBox="1"/>
          <p:nvPr/>
        </p:nvSpPr>
        <p:spPr>
          <a:xfrm>
            <a:off x="11064240" y="7296912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МАГНИТ / ОБСЛУЖИВАНИЕ СЕТИ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ИТ-СТАТУС С 2011 ГОД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ИТ-СТАТУС С 2011 ГОДА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17</a:t>
            </a:r>
          </a:p>
        </p:txBody>
      </p:sp>
      <p:sp>
        <p:nvSpPr>
          <p:cNvPr id="6" name="Text / Команда.&#10;Стек.&#10;Три дня."/>
          <p:cNvSpPr txBox="1"/>
          <p:nvPr/>
        </p:nvSpPr>
        <p:spPr>
          <a:xfrm>
            <a:off x="640080" y="1673352"/>
            <a:ext cx="7772400" cy="3017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731"/>
              </a:lnSpc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Команда.</a:t>
            </a:r>
          </a:p>
          <a:p>
            <a:pPr>
              <a:lnSpc>
                <a:spcPts val="6731"/>
              </a:lnSpc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Стек.</a:t>
            </a:r>
          </a:p>
          <a:p>
            <a:pPr>
              <a:lnSpc>
                <a:spcPts val="6731"/>
              </a:lnSpc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Три дня.</a:t>
            </a:r>
          </a:p>
        </p:txBody>
      </p:sp>
      <p:pic>
        <p:nvPicPr>
          <p:cNvPr id="7" name="Image / image90.png" descr="image90.png"/>
          <p:cNvPicPr>
            <a:picLocks noChangeAspect="1"/>
          </p:cNvPicPr>
          <p:nvPr/>
        </p:nvPicPr>
        <p:blipFill>
          <a:blip r:embed="rId3"/>
          <a:srcRect t="9064" b="9064"/>
          <a:stretch>
            <a:fillRect/>
          </a:stretch>
        </p:blipFill>
        <p:spPr>
          <a:xfrm>
            <a:off x="8778240" y="1737360"/>
            <a:ext cx="5212080" cy="3200400"/>
          </a:xfrm>
          <a:prstGeom prst="rect">
            <a:avLst/>
          </a:prstGeom>
        </p:spPr>
      </p:pic>
      <p:sp>
        <p:nvSpPr>
          <p:cNvPr id="8" name="Text / Внешняя и заказная разработка.&#10;1С-консалтинг."/>
          <p:cNvSpPr txBox="1"/>
          <p:nvPr/>
        </p:nvSpPr>
        <p:spPr>
          <a:xfrm>
            <a:off x="8778240" y="5212080"/>
            <a:ext cx="516636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Внешняя и заказная разработка.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1С-консалтинг. ИТ-инфраструктура.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Формирование команд и ИТ-рекрутмент.</a:t>
            </a:r>
          </a:p>
        </p:txBody>
      </p:sp>
      <p:sp>
        <p:nvSpPr>
          <p:cNvPr id="9" name="Colour field / B28E00"/>
          <p:cNvSpPr/>
          <p:nvPr/>
        </p:nvSpPr>
        <p:spPr>
          <a:xfrm>
            <a:off x="640080" y="6172200"/>
            <a:ext cx="7223760" cy="10972"/>
          </a:xfrm>
          <a:prstGeom prst="rect">
            <a:avLst/>
          </a:prstGeom>
          <a:solidFill>
            <a:srgbClr val="B28E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2 000+"/>
          <p:cNvSpPr txBox="1"/>
          <p:nvPr/>
        </p:nvSpPr>
        <p:spPr>
          <a:xfrm>
            <a:off x="640080" y="6565392"/>
            <a:ext cx="4206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2 000+</a:t>
            </a:r>
          </a:p>
        </p:txBody>
      </p:sp>
      <p:sp>
        <p:nvSpPr>
          <p:cNvPr id="11" name="Text / специалистов в штате"/>
          <p:cNvSpPr txBox="1"/>
          <p:nvPr/>
        </p:nvSpPr>
        <p:spPr>
          <a:xfrm>
            <a:off x="640080" y="7296912"/>
            <a:ext cx="4206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специалистов в штате</a:t>
            </a:r>
          </a:p>
        </p:txBody>
      </p:sp>
      <p:sp>
        <p:nvSpPr>
          <p:cNvPr id="12" name="Text / 350 000+"/>
          <p:cNvSpPr txBox="1"/>
          <p:nvPr/>
        </p:nvSpPr>
        <p:spPr>
          <a:xfrm>
            <a:off x="5212080" y="6565392"/>
            <a:ext cx="4206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350 000+</a:t>
            </a:r>
          </a:p>
        </p:txBody>
      </p:sp>
      <p:sp>
        <p:nvSpPr>
          <p:cNvPr id="13" name="Text / часов работы в месяц"/>
          <p:cNvSpPr txBox="1"/>
          <p:nvPr/>
        </p:nvSpPr>
        <p:spPr>
          <a:xfrm>
            <a:off x="5212080" y="7296912"/>
            <a:ext cx="4206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часов работы в месяц</a:t>
            </a:r>
          </a:p>
        </p:txBody>
      </p:sp>
      <p:sp>
        <p:nvSpPr>
          <p:cNvPr id="14" name="Text / 1 млн+"/>
          <p:cNvSpPr txBox="1"/>
          <p:nvPr/>
        </p:nvSpPr>
        <p:spPr>
          <a:xfrm>
            <a:off x="9784080" y="6565392"/>
            <a:ext cx="420624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1 млн+</a:t>
            </a:r>
          </a:p>
        </p:txBody>
      </p:sp>
      <p:sp>
        <p:nvSpPr>
          <p:cNvPr id="15" name="Text / ИТ-специалистов в базе"/>
          <p:cNvSpPr txBox="1"/>
          <p:nvPr/>
        </p:nvSpPr>
        <p:spPr>
          <a:xfrm>
            <a:off x="9784080" y="7296912"/>
            <a:ext cx="4206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ИТ-специалистов в базе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18</a:t>
            </a:r>
          </a:p>
        </p:txBody>
      </p:sp>
      <p:sp>
        <p:nvSpPr>
          <p:cNvPr id="6" name="Text / Технологии, которые работают."/>
          <p:cNvSpPr txBox="1"/>
          <p:nvPr/>
        </p:nvSpPr>
        <p:spPr>
          <a:xfrm>
            <a:off x="640080" y="169164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Технологии, которые работают.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2004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01"/>
          <p:cNvSpPr txBox="1"/>
          <p:nvPr/>
        </p:nvSpPr>
        <p:spPr>
          <a:xfrm>
            <a:off x="640080" y="342900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Высоконагруженные сервисы"/>
          <p:cNvSpPr txBox="1"/>
          <p:nvPr/>
        </p:nvSpPr>
        <p:spPr>
          <a:xfrm>
            <a:off x="1280160" y="3319272"/>
            <a:ext cx="5760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Высоконагруженные сервисы</a:t>
            </a:r>
          </a:p>
        </p:txBody>
      </p:sp>
      <p:sp>
        <p:nvSpPr>
          <p:cNvPr id="10" name="Text / Микросервисная архитектура и интеграция с SAP"/>
          <p:cNvSpPr txBox="1"/>
          <p:nvPr/>
        </p:nvSpPr>
        <p:spPr>
          <a:xfrm>
            <a:off x="1280160" y="4114800"/>
            <a:ext cx="5715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Микросервисная архитектура и интеграция с SAP для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международной ИТ-компании.</a:t>
            </a:r>
          </a:p>
        </p:txBody>
      </p:sp>
      <p:sp>
        <p:nvSpPr>
          <p:cNvPr id="11" name="Text / Java Spring / Python FastAPI / API-шлюзы"/>
          <p:cNvSpPr txBox="1"/>
          <p:nvPr/>
        </p:nvSpPr>
        <p:spPr>
          <a:xfrm>
            <a:off x="1280160" y="5001768"/>
            <a:ext cx="5715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0"/>
                </a:solidFill>
                <a:latin typeface="Manrope"/>
              </a:defRPr>
            </a:pPr>
            <a:r>
              <a:rPr spc="20"/>
              <a:t>Java Spring / Python FastAPI / API-шлюзы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7543800" y="32004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02"/>
          <p:cNvSpPr txBox="1"/>
          <p:nvPr/>
        </p:nvSpPr>
        <p:spPr>
          <a:xfrm>
            <a:off x="7543800" y="342900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4" name="Text / Интерфейсы luxury-ритейлера"/>
          <p:cNvSpPr txBox="1"/>
          <p:nvPr/>
        </p:nvSpPr>
        <p:spPr>
          <a:xfrm>
            <a:off x="8183879" y="3319272"/>
            <a:ext cx="5760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Интерфейсы luxury-ритейлера</a:t>
            </a:r>
          </a:p>
        </p:txBody>
      </p:sp>
      <p:sp>
        <p:nvSpPr>
          <p:cNvPr id="15" name="Text / Адаптивные интерфейсы, SSR и интеграция с BI-"/>
          <p:cNvSpPr txBox="1"/>
          <p:nvPr/>
        </p:nvSpPr>
        <p:spPr>
          <a:xfrm>
            <a:off x="8183879" y="4114800"/>
            <a:ext cx="5715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Адаптивные интерфейсы, SSR и интеграция с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BI-дашбордами.</a:t>
            </a:r>
          </a:p>
        </p:txBody>
      </p:sp>
      <p:sp>
        <p:nvSpPr>
          <p:cNvPr id="16" name="Text / ReactJS / VueJS / SSR"/>
          <p:cNvSpPr txBox="1"/>
          <p:nvPr/>
        </p:nvSpPr>
        <p:spPr>
          <a:xfrm>
            <a:off x="8183879" y="5001768"/>
            <a:ext cx="5715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0"/>
                </a:solidFill>
                <a:latin typeface="Manrope"/>
              </a:defRPr>
            </a:pPr>
            <a:r>
              <a:rPr spc="20"/>
              <a:t>ReactJS / VueJS / SSR</a:t>
            </a:r>
          </a:p>
        </p:txBody>
      </p:sp>
      <p:sp>
        <p:nvSpPr>
          <p:cNvPr id="17" name="Colour field / D2D2CB"/>
          <p:cNvSpPr/>
          <p:nvPr/>
        </p:nvSpPr>
        <p:spPr>
          <a:xfrm>
            <a:off x="640080" y="53492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 / 03"/>
          <p:cNvSpPr txBox="1"/>
          <p:nvPr/>
        </p:nvSpPr>
        <p:spPr>
          <a:xfrm>
            <a:off x="640080" y="5577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9" name="Text / Приложение FMCG-бренда"/>
          <p:cNvSpPr txBox="1"/>
          <p:nvPr/>
        </p:nvSpPr>
        <p:spPr>
          <a:xfrm>
            <a:off x="1280160" y="5468112"/>
            <a:ext cx="5760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Приложение FMCG-бренда</a:t>
            </a:r>
          </a:p>
        </p:txBody>
      </p:sp>
      <p:sp>
        <p:nvSpPr>
          <p:cNvPr id="20" name="Text / Мобильное приложение с push-уведомлениями и в"/>
          <p:cNvSpPr txBox="1"/>
          <p:nvPr/>
        </p:nvSpPr>
        <p:spPr>
          <a:xfrm>
            <a:off x="1280160" y="6263640"/>
            <a:ext cx="5715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Мобильное приложение с push-уведомлениями и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встроенной аналитикой.</a:t>
            </a:r>
          </a:p>
        </p:txBody>
      </p:sp>
      <p:sp>
        <p:nvSpPr>
          <p:cNvPr id="21" name="Text / Flutter / Mobile"/>
          <p:cNvSpPr txBox="1"/>
          <p:nvPr/>
        </p:nvSpPr>
        <p:spPr>
          <a:xfrm>
            <a:off x="1280160" y="7150607"/>
            <a:ext cx="5715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0"/>
                </a:solidFill>
                <a:latin typeface="Manrope"/>
              </a:defRPr>
            </a:pPr>
            <a:r>
              <a:rPr spc="20"/>
              <a:t>Flutter / Mobile</a:t>
            </a:r>
          </a:p>
        </p:txBody>
      </p:sp>
      <p:sp>
        <p:nvSpPr>
          <p:cNvPr id="22" name="Colour field / D2D2CB"/>
          <p:cNvSpPr/>
          <p:nvPr/>
        </p:nvSpPr>
        <p:spPr>
          <a:xfrm>
            <a:off x="7543800" y="53492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 / 04"/>
          <p:cNvSpPr txBox="1"/>
          <p:nvPr/>
        </p:nvSpPr>
        <p:spPr>
          <a:xfrm>
            <a:off x="7543800" y="5577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4" name="Text / Инфраструктура нефтесервиса"/>
          <p:cNvSpPr txBox="1"/>
          <p:nvPr/>
        </p:nvSpPr>
        <p:spPr>
          <a:xfrm>
            <a:off x="8183879" y="5468112"/>
            <a:ext cx="5760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Инфраструктура нефтесервиса</a:t>
            </a:r>
          </a:p>
        </p:txBody>
      </p:sp>
      <p:sp>
        <p:nvSpPr>
          <p:cNvPr id="25" name="Text / Время релиза сократилось с 2 недель до 3 дней"/>
          <p:cNvSpPr txBox="1"/>
          <p:nvPr/>
        </p:nvSpPr>
        <p:spPr>
          <a:xfrm>
            <a:off x="8183879" y="6263640"/>
            <a:ext cx="5715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Время релиза сократилось с 2 недель до 3 дней.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Повысилась стабильность инфраструктуры.</a:t>
            </a:r>
          </a:p>
        </p:txBody>
      </p:sp>
      <p:sp>
        <p:nvSpPr>
          <p:cNvPr id="26" name="Text / Kubernetes / GitLab CI/CD / Prometheus / Graf"/>
          <p:cNvSpPr txBox="1"/>
          <p:nvPr/>
        </p:nvSpPr>
        <p:spPr>
          <a:xfrm>
            <a:off x="8183879" y="7150607"/>
            <a:ext cx="5715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6"/>
              </a:lnSpc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11110"/>
                </a:solidFill>
                <a:latin typeface="Manrope"/>
              </a:defRPr>
            </a:pPr>
            <a:r>
              <a:rPr spc="20"/>
              <a:t>Kubernetes / GitLab CI/CD / Prometheus / Grafana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CC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VENTRA GO!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VENTRA GO!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19</a:t>
            </a:r>
          </a:p>
        </p:txBody>
      </p:sp>
      <p:sp>
        <p:nvSpPr>
          <p:cNvPr id="6" name="Text / Гибкость — ваше преимущество."/>
          <p:cNvSpPr txBox="1"/>
          <p:nvPr/>
        </p:nvSpPr>
        <p:spPr>
          <a:xfrm>
            <a:off x="640080" y="169164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7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Гибкость — ваше преимущество.</a:t>
            </a:r>
          </a:p>
        </p:txBody>
      </p:sp>
      <p:sp>
        <p:nvSpPr>
          <p:cNvPr id="7" name="Text / 2 000 000"/>
          <p:cNvSpPr txBox="1"/>
          <p:nvPr/>
        </p:nvSpPr>
        <p:spPr>
          <a:xfrm>
            <a:off x="457200" y="2926080"/>
            <a:ext cx="13716000" cy="1691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4"/>
              </a:lnSpc>
              <a:spcBef>
                <a:spcPts val="0"/>
              </a:spcBef>
              <a:spcAft>
                <a:spcPts val="0"/>
              </a:spcAft>
              <a:defRPr sz="13900" b="1">
                <a:solidFill>
                  <a:srgbClr val="111110"/>
                </a:solidFill>
                <a:latin typeface="Manrope"/>
              </a:defRPr>
            </a:pPr>
            <a:r>
              <a:rPr spc="-500"/>
              <a:t>2 000 000</a:t>
            </a:r>
          </a:p>
        </p:txBody>
      </p:sp>
      <p:sp>
        <p:nvSpPr>
          <p:cNvPr id="8" name="Text / проверенных исполнителей"/>
          <p:cNvSpPr txBox="1"/>
          <p:nvPr/>
        </p:nvSpPr>
        <p:spPr>
          <a:xfrm>
            <a:off x="640080" y="4892040"/>
            <a:ext cx="11887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111110"/>
                </a:solidFill>
                <a:latin typeface="Manrope"/>
              </a:defRPr>
            </a:pPr>
            <a:r>
              <a:t>проверенных исполнителей</a:t>
            </a:r>
          </a:p>
        </p:txBody>
      </p:sp>
      <p:sp>
        <p:nvSpPr>
          <p:cNvPr id="9" name="Colour field / 398600"/>
          <p:cNvSpPr/>
          <p:nvPr/>
        </p:nvSpPr>
        <p:spPr>
          <a:xfrm>
            <a:off x="640080" y="5897880"/>
            <a:ext cx="13350240" cy="10972"/>
          </a:xfrm>
          <a:prstGeom prst="rect">
            <a:avLst/>
          </a:prstGeom>
          <a:solidFill>
            <a:srgbClr val="398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25 000+"/>
          <p:cNvSpPr txBox="1"/>
          <p:nvPr/>
        </p:nvSpPr>
        <p:spPr>
          <a:xfrm>
            <a:off x="640080" y="6309360"/>
            <a:ext cx="4206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25 000+</a:t>
            </a:r>
          </a:p>
        </p:txBody>
      </p:sp>
      <p:sp>
        <p:nvSpPr>
          <p:cNvPr id="11" name="Text / торговых точек на платформе"/>
          <p:cNvSpPr txBox="1"/>
          <p:nvPr/>
        </p:nvSpPr>
        <p:spPr>
          <a:xfrm>
            <a:off x="640080" y="7159752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торговых точек на платформе</a:t>
            </a:r>
          </a:p>
        </p:txBody>
      </p:sp>
      <p:sp>
        <p:nvSpPr>
          <p:cNvPr id="12" name="Text / 200+"/>
          <p:cNvSpPr txBox="1"/>
          <p:nvPr/>
        </p:nvSpPr>
        <p:spPr>
          <a:xfrm>
            <a:off x="5212080" y="6309360"/>
            <a:ext cx="4206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200+</a:t>
            </a:r>
          </a:p>
        </p:txBody>
      </p:sp>
      <p:sp>
        <p:nvSpPr>
          <p:cNvPr id="13" name="Text / брендов ритейла, e-com и HoReCa"/>
          <p:cNvSpPr txBox="1"/>
          <p:nvPr/>
        </p:nvSpPr>
        <p:spPr>
          <a:xfrm>
            <a:off x="5212080" y="7159752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брендов ритейла, e-com и HoReCa</a:t>
            </a:r>
          </a:p>
        </p:txBody>
      </p:sp>
      <p:sp>
        <p:nvSpPr>
          <p:cNvPr id="14" name="Text / Все категории"/>
          <p:cNvSpPr txBox="1"/>
          <p:nvPr/>
        </p:nvSpPr>
        <p:spPr>
          <a:xfrm>
            <a:off x="9784080" y="6309360"/>
            <a:ext cx="4206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Все категории</a:t>
            </a:r>
          </a:p>
        </p:txBody>
      </p:sp>
      <p:sp>
        <p:nvSpPr>
          <p:cNvPr id="15" name="Text / работников для ритейла и HoReCa"/>
          <p:cNvSpPr txBox="1"/>
          <p:nvPr/>
        </p:nvSpPr>
        <p:spPr>
          <a:xfrm>
            <a:off x="9784080" y="7159752"/>
            <a:ext cx="4206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работников для ритейла и HoReCa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VENTRA GO!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VENTRA GO!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20</a:t>
            </a:r>
          </a:p>
        </p:txBody>
      </p:sp>
      <p:sp>
        <p:nvSpPr>
          <p:cNvPr id="6" name="Text / Когда нужны люди.&#10;Здесь и сейчас."/>
          <p:cNvSpPr txBox="1"/>
          <p:nvPr/>
        </p:nvSpPr>
        <p:spPr>
          <a:xfrm>
            <a:off x="640080" y="1691640"/>
            <a:ext cx="1335024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247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Когда нужны люди.</a:t>
            </a:r>
          </a:p>
          <a:p>
            <a:pPr>
              <a:lnSpc>
                <a:spcPts val="5247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Здесь и сейчас.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4069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Image / 18_7.png" descr="18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30087"/>
            <a:ext cx="3749039" cy="889664"/>
          </a:xfrm>
          <a:prstGeom prst="rect">
            <a:avLst/>
          </a:prstGeom>
        </p:spPr>
      </p:pic>
      <p:sp>
        <p:nvSpPr>
          <p:cNvPr id="9" name="Text / Работники зала,&#10;разнорабочие и пекари"/>
          <p:cNvSpPr txBox="1"/>
          <p:nvPr/>
        </p:nvSpPr>
        <p:spPr>
          <a:xfrm>
            <a:off x="640080" y="6172200"/>
            <a:ext cx="416052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Работники зала,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разнорабочие и пекари</a:t>
            </a:r>
          </a:p>
        </p:txBody>
      </p:sp>
      <p:sp>
        <p:nvSpPr>
          <p:cNvPr id="10" name="Colour field / D2D2CB"/>
          <p:cNvSpPr/>
          <p:nvPr/>
        </p:nvSpPr>
        <p:spPr>
          <a:xfrm>
            <a:off x="5212080" y="4069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Image / 18_8.png" descr="18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526280"/>
            <a:ext cx="1645920" cy="1097280"/>
          </a:xfrm>
          <a:prstGeom prst="rect">
            <a:avLst/>
          </a:prstGeom>
        </p:spPr>
      </p:pic>
      <p:sp>
        <p:nvSpPr>
          <p:cNvPr id="12" name="Text / Сборщики заказов, работники зала&#10;и курьеры в "/>
          <p:cNvSpPr txBox="1"/>
          <p:nvPr/>
        </p:nvSpPr>
        <p:spPr>
          <a:xfrm>
            <a:off x="5212080" y="6172200"/>
            <a:ext cx="416052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Сборщики заказов, работники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зала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и курьеры в гипермаркетах</a:t>
            </a:r>
          </a:p>
        </p:txBody>
      </p:sp>
      <p:sp>
        <p:nvSpPr>
          <p:cNvPr id="13" name="Colour field / D2D2CB"/>
          <p:cNvSpPr/>
          <p:nvPr/>
        </p:nvSpPr>
        <p:spPr>
          <a:xfrm>
            <a:off x="9784080" y="406908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Image / 18_9.png" descr="18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59" y="4526280"/>
            <a:ext cx="1097280" cy="1097280"/>
          </a:xfrm>
          <a:prstGeom prst="rect">
            <a:avLst/>
          </a:prstGeom>
        </p:spPr>
      </p:pic>
      <p:sp>
        <p:nvSpPr>
          <p:cNvPr id="15" name="Text / Работники&#10;торгового зала"/>
          <p:cNvSpPr txBox="1"/>
          <p:nvPr/>
        </p:nvSpPr>
        <p:spPr>
          <a:xfrm>
            <a:off x="9784080" y="6172200"/>
            <a:ext cx="416052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Работники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торгового зала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ДАВАЙТЕ ОБСУДИМ ВАШУ ЗАДАЧУ"/>
          <p:cNvSpPr txBox="1"/>
          <p:nvPr/>
        </p:nvSpPr>
        <p:spPr>
          <a:xfrm>
            <a:off x="9509760" y="777240"/>
            <a:ext cx="44805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ДАВАЙТЕ ОБСУДИМ ВАШУ ЗАДАЧУ</a:t>
            </a:r>
          </a:p>
        </p:txBody>
      </p:sp>
      <p:sp>
        <p:nvSpPr>
          <p:cNvPr id="4" name="Text / Что дальше&#10;для вашего&#10;бизнеса?"/>
          <p:cNvSpPr txBox="1"/>
          <p:nvPr/>
        </p:nvSpPr>
        <p:spPr>
          <a:xfrm>
            <a:off x="640080" y="1965960"/>
            <a:ext cx="12252960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820"/>
              </a:lnSpc>
              <a:spcBef>
                <a:spcPts val="0"/>
              </a:spcBef>
              <a:spcAft>
                <a:spcPts val="0"/>
              </a:spcAft>
              <a:defRPr sz="7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Что дальше</a:t>
            </a:r>
          </a:p>
          <a:p>
            <a:pPr>
              <a:lnSpc>
                <a:spcPts val="7820"/>
              </a:lnSpc>
              <a:spcBef>
                <a:spcPts val="0"/>
              </a:spcBef>
              <a:spcAft>
                <a:spcPts val="0"/>
              </a:spcAft>
              <a:defRPr sz="7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для вашего</a:t>
            </a:r>
          </a:p>
          <a:p>
            <a:pPr>
              <a:lnSpc>
                <a:spcPts val="7820"/>
              </a:lnSpc>
              <a:spcBef>
                <a:spcPts val="0"/>
              </a:spcBef>
              <a:spcAft>
                <a:spcPts val="0"/>
              </a:spcAft>
              <a:defRPr sz="7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бизнеса?</a:t>
            </a:r>
          </a:p>
        </p:txBody>
      </p:sp>
      <p:sp>
        <p:nvSpPr>
          <p:cNvPr id="5" name="Colour field / FF6600"/>
          <p:cNvSpPr/>
          <p:nvPr/>
        </p:nvSpPr>
        <p:spPr>
          <a:xfrm>
            <a:off x="13533120" y="2194560"/>
            <a:ext cx="118872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olour field / 44443F"/>
          <p:cNvSpPr/>
          <p:nvPr/>
        </p:nvSpPr>
        <p:spPr>
          <a:xfrm>
            <a:off x="640080" y="6400800"/>
            <a:ext cx="133502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/ client@ventra.ru"/>
          <p:cNvSpPr txBox="1"/>
          <p:nvPr/>
        </p:nvSpPr>
        <p:spPr>
          <a:xfrm>
            <a:off x="640080" y="6858000"/>
            <a:ext cx="77724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75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FFFFFF"/>
                </a:solidFill>
                <a:latin typeface="Manrope"/>
              </a:defRPr>
            </a:pPr>
            <a:r>
              <a:rPr spc="-70"/>
              <a:t>client@ventra.ru</a:t>
            </a:r>
          </a:p>
        </p:txBody>
      </p:sp>
      <p:sp>
        <p:nvSpPr>
          <p:cNvPr id="8" name="Text / +7 495 543-97-43"/>
          <p:cNvSpPr txBox="1"/>
          <p:nvPr/>
        </p:nvSpPr>
        <p:spPr>
          <a:xfrm>
            <a:off x="9281160" y="6995160"/>
            <a:ext cx="4754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anrope"/>
              </a:defRPr>
            </a:pPr>
            <a:r>
              <a:t>+7 495 543-97-43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0"/>
      </a:dk1>
      <a:lt1>
        <a:srgbClr val="F4F3EF"/>
      </a:lt1>
      <a:dk2>
        <a:srgbClr val="1F497D"/>
      </a:dk2>
      <a:lt2>
        <a:srgbClr val="EEECE1"/>
      </a:lt2>
      <a:accent1>
        <a:srgbClr val="FF6600"/>
      </a:accent1>
      <a:accent2>
        <a:srgbClr val="66CC00"/>
      </a:accent2>
      <a:accent3>
        <a:srgbClr val="FFCC00"/>
      </a:accent3>
      <a:accent4>
        <a:srgbClr val="FF3333"/>
      </a:accent4>
      <a:accent5>
        <a:srgbClr val="696A65"/>
      </a:accent5>
      <a:accent6>
        <a:srgbClr val="D2D2CB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Ventra — Бизнес двигают люди</dc:title>
  <dc:subject>Концепция обновления презентационной системы</dc:subject>
  <dc:creator>Ventra / Design concept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