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Версия 5. Новая архитектурная обложка без людей. Использовано созданное ИИ концептуальное изображение, а не реальный объект Ventra. Оригинальный белый логотип сохранён без изменения.</a:t>
            </a:r>
          </a:p>
          <a:p/>
          <a:p>
            <a:r>
              <a:t>ОСНОВА: исходная презентация, слайд 1.</a:t>
            </a:r>
          </a:p>
          <a:p>
            <a:r>
              <a:t>Контекст бренд-платформы Sensesay / Ventra, 29.06.2026: страницы PDF 3, 49, 55.</a:t>
            </a:r>
          </a:p>
          <a:p>
            <a:r>
              <a:t>Сохранена корпоративная роль HR-холдинга и описание партнёрства. Обложка версии 5 использует архитектурное изображение без людей. Оригинальный белый логотип не изменён.</a:t>
            </a:r>
          </a:p>
          <a:p/>
          <a:p>
            <a:r>
              <a:t>ИСХОДНЫЙ ТЕКСТ</a:t>
            </a:r>
          </a:p>
          <a:p>
            <a:r>
              <a:t>Ventra.</a:t>
            </a:r>
          </a:p>
          <a:p>
            <a:r>
              <a:t>HR-ХОЛДИНГ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2.</a:t>
            </a:r>
          </a:p>
          <a:p>
            <a:r>
              <a:t>Контекст бренд-платформы Sensesay / Ventra, 29.06.2026: страницы PDF 49, 52, 55.</a:t>
            </a:r>
          </a:p>
          <a:p>
            <a:r>
              <a:t>Услуги и структура направлений сохранены. Добавлена связка: опыт разных практик + контекст клиента. Ventra Go! включена по прямому указанию пользователя.</a:t>
            </a:r>
          </a:p>
          <a:p/>
          <a:p>
            <a:r>
              <a:t>ИСХОДНЫЙ ТЕКСТ</a:t>
            </a:r>
          </a:p>
          <a:p>
            <a:r>
              <a:t>HR-СЕРВИСЫ И ПОДБОР</a:t>
            </a:r>
          </a:p>
          <a:p>
            <a:r>
              <a:t>Рекрутмент</a:t>
            </a:r>
          </a:p>
          <a:p>
            <a:r>
              <a:t>Executive search</a:t>
            </a:r>
          </a:p>
          <a:p>
            <a:r>
              <a:t>Международный подбор</a:t>
            </a:r>
          </a:p>
          <a:p>
            <a:r>
              <a:t>Аутсорсинг процесса рекрутмента (RPO)</a:t>
            </a:r>
          </a:p>
          <a:p>
            <a:r>
              <a:t>HR-консалтинг</a:t>
            </a:r>
          </a:p>
          <a:p>
            <a:r>
              <a:t>Массовый подбор</a:t>
            </a:r>
          </a:p>
          <a:p/>
          <a:p>
            <a:r>
              <a:t>ИТ</a:t>
            </a:r>
          </a:p>
          <a:p>
            <a:r>
              <a:t>Услуги внешней разработки, разработка ПО “под ключ”,формирование ИТ-команд,</a:t>
            </a:r>
          </a:p>
          <a:p>
            <a:r>
              <a:t>1С консалтинг</a:t>
            </a:r>
          </a:p>
          <a:p>
            <a:r>
              <a:t>АУТСОРСИНГ</a:t>
            </a:r>
          </a:p>
          <a:p>
            <a:r>
              <a:t>ПРОДАЖИ</a:t>
            </a:r>
          </a:p>
          <a:p>
            <a:r>
              <a:t>Аутсорсинг продаж, мерчандайзинг, field force, BTL &amp; Promo</a:t>
            </a:r>
          </a:p>
          <a:p>
            <a:r>
              <a:t>ПРОИЗВОДСТВО И СКЛАД</a:t>
            </a:r>
          </a:p>
          <a:p>
            <a:r>
              <a:t>Вахтовые проекты, производственные процессы, логистика и комплектация, клининг и вспомогательные процессы</a:t>
            </a:r>
          </a:p>
          <a:p>
            <a:r>
              <a:t>АДМИНИСТРАТИВНЫЕ ФУНКЦИИ</a:t>
            </a:r>
          </a:p>
          <a:p>
            <a:r>
              <a:t>Управление закупками, поставщиками, офисом, ресепшеном, документами и др.</a:t>
            </a:r>
          </a:p>
          <a:p>
            <a:r>
              <a:t>Экосистема решений Ventra</a:t>
            </a:r>
          </a:p>
          <a:p>
            <a:r>
              <a:t>HR-TECH И ГИБКАЯ ЗАНЯТОСТЬ</a:t>
            </a:r>
          </a:p>
          <a:p>
            <a:r>
              <a:t>VENTRA GO! </a:t>
            </a:r>
          </a:p>
          <a:p>
            <a:r>
              <a:t>цифровая платформа для заказа работников массовых профессий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3.</a:t>
            </a:r>
          </a:p>
          <a:p>
            <a:r>
              <a:t>Контекст бренд-платформы Sensesay / Ventra, 29.06.2026: страницы PDF 55.</a:t>
            </a:r>
          </a:p>
          <a:p>
            <a:r>
              <a:t>Все семь показателей сохранены из исходной презентации. Данные платформы бренда не использованы для механической замены чисел; требуется редакторская сверка исходных периодов и определений. Установленные SLA, KPI и результаты не выдумывались.</a:t>
            </a:r>
          </a:p>
          <a:p/>
          <a:p>
            <a:r>
              <a:t>ИСХОДНЫЙ ТЕКСТ</a:t>
            </a:r>
          </a:p>
          <a:p>
            <a:r>
              <a:t>25 лет</a:t>
            </a:r>
            <a:br/>
            <a:r>
              <a:t>на рынке  </a:t>
            </a:r>
          </a:p>
          <a:p>
            <a:r>
              <a:t>42 города</a:t>
            </a:r>
            <a:br/>
            <a:r>
              <a:t>собственные </a:t>
            </a:r>
            <a:br/>
            <a:r>
              <a:t>офисы и инфраструктура</a:t>
            </a:r>
          </a:p>
          <a:p>
            <a:r>
              <a:t>850+ клиентов</a:t>
            </a:r>
            <a:br/>
            <a:r>
              <a:t>крупнейших компаний на рынке </a:t>
            </a:r>
          </a:p>
          <a:p>
            <a:r>
              <a:t>10 000+</a:t>
            </a:r>
            <a:br/>
            <a:r>
              <a:t>трудоустроенных в год</a:t>
            </a:r>
          </a:p>
          <a:p>
            <a:r>
              <a:t>900 </a:t>
            </a:r>
            <a:br/>
            <a:r>
              <a:t>сотрудников — внутренняя команда компании</a:t>
            </a:r>
          </a:p>
          <a:p>
            <a:r>
              <a:t>15 000</a:t>
            </a:r>
            <a:br/>
            <a:r>
              <a:t>работников </a:t>
            </a:r>
            <a:br/>
            <a:r>
              <a:t>на проектах </a:t>
            </a:r>
          </a:p>
          <a:p>
            <a:r>
              <a:t>2 000 000 </a:t>
            </a:r>
            <a:br/>
            <a:r>
              <a:t>исполнителей </a:t>
            </a:r>
            <a:br/>
            <a:r>
              <a:t>на платформе Ventra Go! </a:t>
            </a:r>
          </a:p>
          <a:p>
            <a:r>
              <a:t>В июне 2022 HR-холдинг Ventra приобрел бизнес Kelly в России, объединив сильнейшие </a:t>
            </a:r>
            <a:br/>
            <a:r>
              <a:t>на российском рынке команды в области решений </a:t>
            </a:r>
            <a:br/>
            <a:r>
              <a:t>по управлению персоналом и аутсорсинга</a:t>
            </a:r>
          </a:p>
          <a:p>
            <a:r>
              <a:t>О нас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Фотография — созданная ИИ редакционная иллюстрация партнёрского взаимодействия, не реальная встреча Ventra.</a:t>
            </a:r>
          </a:p>
          <a:p/>
          <a:p>
            <a:r>
              <a:t>ОСНОВА: исходная презентация, слайд 4.</a:t>
            </a:r>
          </a:p>
          <a:p>
            <a:r>
              <a:t>Контекст бренд-платформы Sensesay / Ventra, 29.06.2026: страницы PDF 4, 49, 53, 55.</a:t>
            </a:r>
          </a:p>
          <a:p>
            <a:r>
              <a:t>Сохранены шесть оснований выбора. «Люди = актив» переосмыслено как «Люди — ценность» в соответствии с итоговым вектором платформы. Нет обещаний гарантированного роста или отсутствия любых рисков.</a:t>
            </a:r>
          </a:p>
          <a:p/>
          <a:p>
            <a:r>
              <a:t>ИСХОДНЫЙ ТЕКСТ</a:t>
            </a:r>
          </a:p>
          <a:p>
            <a:r>
              <a:t>Экосистема вместо набора услуг</a:t>
            </a:r>
          </a:p>
          <a:p>
            <a:r>
              <a:t>Высокое качество</a:t>
            </a:r>
          </a:p>
          <a:p>
            <a:r>
              <a:t>берем ответственность за бизнес-таргеты: работаем по SLA и KPI</a:t>
            </a:r>
          </a:p>
          <a:p>
            <a:r>
              <a:t>Соответствие законам</a:t>
            </a:r>
          </a:p>
          <a:p>
            <a:r>
              <a:t>берем на себя полную юридическую безопасность в работе с персоналом</a:t>
            </a:r>
          </a:p>
          <a:p>
            <a:r>
              <a:t>Люди = актив</a:t>
            </a:r>
          </a:p>
          <a:p>
            <a:r>
              <a:t>Наши эксперты обеспечивают доступ к лучшим кандидатам на рынке</a:t>
            </a:r>
          </a:p>
          <a:p>
            <a:r>
              <a:t>Стратегическое партнерство</a:t>
            </a:r>
          </a:p>
          <a:p>
            <a:r>
              <a:t>закрываем весь контур работы с персоналом — от подбора С-level и ИТ до платформенной занятости</a:t>
            </a:r>
          </a:p>
          <a:p>
            <a:r>
              <a:t>Скорость</a:t>
            </a:r>
          </a:p>
          <a:p>
            <a:r>
              <a:t>формируем и масштабируем команды и находим редкие таланты быстрее рынка </a:t>
            </a:r>
          </a:p>
          <a:p>
            <a:r>
              <a:t>Масштаб без ограничений</a:t>
            </a:r>
          </a:p>
          <a:p>
            <a:r>
              <a:t>закрываем от одной позиции до нескольких тысяч  сотрудников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5.</a:t>
            </a:r>
          </a:p>
          <a:p>
            <a:r>
              <a:t>На векторной карте выделены и подписаны Россия, Беларусь, Казахстан и Узбекистан. Точки подписей привязаны к географическим координатам. Проекция Ламберта. 42 города — из исходного слайда «О нас». Контуры Natural Earth, public domain; карта — презентационная графика, не инструмент определения границ.</a:t>
            </a:r>
          </a:p>
          <a:p/>
          <a:p>
            <a:r>
              <a:t>ИСХОДНЫЙ ТЕКСТ</a:t>
            </a:r>
          </a:p>
          <a:p>
            <a:r>
              <a:t>География проектов</a:t>
            </a:r>
            <a:br/>
          </a:p>
          <a:p>
            <a:r>
              <a:t>вся Россия, Республика Беларусь, Казахстан, Грузия, Узбекистан</a:t>
            </a:r>
          </a:p>
          <a:p>
            <a:r>
              <a:t>собственные офисы </a:t>
            </a:r>
          </a:p>
          <a:p>
            <a:r>
              <a:t>и инфраструктура</a:t>
            </a:r>
          </a:p>
          <a:p>
            <a:r>
              <a:t>100+ клиентов </a:t>
            </a:r>
          </a:p>
          <a:p>
            <a:r>
              <a:t>250+ проектов</a:t>
            </a:r>
          </a:p>
          <a:p>
            <a:r>
              <a:t>за пределами России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6.</a:t>
            </a:r>
          </a:p>
          <a:p>
            <a:r>
              <a:t>Контекст бренд-платформы Sensesay / Ventra, 29.06.2026: страницы PDF 52, 55.</a:t>
            </a:r>
          </a:p>
          <a:p>
            <a:r>
              <a:t>Сохранены 750+ клиентов, 1200+ проектов, все девять отраслей. Все клиентские логотипы перенесены на последний слайд приложения. Расхождение исходника 750+ / 850+ клиентов сохранено для редакторской сверки; не объединять автоматически.</a:t>
            </a:r>
          </a:p>
          <a:p/>
          <a:p>
            <a:r>
              <a:t>ИСХОДНЫЙ ТЕКСТ</a:t>
            </a:r>
          </a:p>
          <a:p>
            <a:r>
              <a:t>750+ клиентов     1200+ проектов</a:t>
            </a:r>
          </a:p>
          <a:p>
            <a:r>
              <a:t>Опыт Ventra </a:t>
            </a:r>
          </a:p>
          <a:p>
            <a:r>
              <a:t>FMCG &amp; Retail</a:t>
            </a:r>
          </a:p>
          <a:p>
            <a:r>
              <a:t>Финтех &amp; ИТ</a:t>
            </a:r>
          </a:p>
          <a:p>
            <a:r>
              <a:t>Фарма и медицина</a:t>
            </a:r>
          </a:p>
          <a:p>
            <a:r>
              <a:t>Электроника и бытовая техника</a:t>
            </a:r>
          </a:p>
          <a:p>
            <a:r>
              <a:t>Производство и склад</a:t>
            </a:r>
          </a:p>
          <a:p>
            <a:r>
              <a:t>Автопром</a:t>
            </a:r>
          </a:p>
          <a:p>
            <a:r>
              <a:t>Fashion &amp; Beauty</a:t>
            </a:r>
          </a:p>
          <a:p>
            <a:r>
              <a:t>Телеком</a:t>
            </a:r>
          </a:p>
          <a:p>
            <a:r>
              <a:t>Агро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7.</a:t>
            </a:r>
          </a:p>
          <a:p>
            <a:r>
              <a:t>Сохранены все три категории и все рейтинговые утверждения исходника. Награды и места не перепроверялись по внешним источникам. Внешняя версия требует проверки актуальности дат.</a:t>
            </a:r>
          </a:p>
          <a:p/>
          <a:p>
            <a:r>
              <a:t>ИСХОДНЫЙ ТЕКСТ</a:t>
            </a:r>
          </a:p>
          <a:p>
            <a:r>
              <a:t>Рейтинг лучших работодателей (HH.ru)</a:t>
            </a:r>
          </a:p>
          <a:p>
            <a:r>
              <a:t>Рейтинг лучших работодателей России Forbes</a:t>
            </a:r>
          </a:p>
          <a:p>
            <a:r>
              <a:t>Рейтинг лучших работодателей России РБК</a:t>
            </a:r>
          </a:p>
          <a:p>
            <a:r>
              <a:t>Руководители входят в ТОП 1000 российских менеджеров (АМР, КоммерсантЪ)</a:t>
            </a:r>
          </a:p>
          <a:p>
            <a:r>
              <a:t>Топ-5 рейтинга поставщиков ИТ услуг РАЭКС</a:t>
            </a:r>
          </a:p>
          <a:p>
            <a:r>
              <a:t>Топ- 15 рейтинга ИТ-компаний РАЭКС</a:t>
            </a:r>
          </a:p>
          <a:p>
            <a:r>
              <a:t>Топ-100 крупнейших ИТ-компаний по версии CNews (63 место)</a:t>
            </a:r>
          </a:p>
          <a:p>
            <a:r>
              <a:t>Рейтинг трейд-маркетинговых агентств 2024</a:t>
            </a:r>
          </a:p>
          <a:p>
            <a:r>
              <a:t>ЛИДЕР ГИБКОЙ ЗАНЯТОСТИ В РФ</a:t>
            </a:r>
          </a:p>
          <a:p>
            <a:r>
              <a:t>№1 среди платформ гибкой занятости Smart Ranking</a:t>
            </a:r>
          </a:p>
          <a:p>
            <a:r>
              <a:t>№1 как самая быстрорастущая HR Tech-компания России 2024 (Smart Ranking)</a:t>
            </a:r>
          </a:p>
          <a:p>
            <a:r>
              <a:t>ТОП-20</a:t>
            </a:r>
          </a:p>
          <a:p>
            <a:r>
              <a:t>бесплатных приложений категории «Бизнес» в Appstore &amp; Google Play</a:t>
            </a:r>
          </a:p>
          <a:p>
            <a:r>
              <a:t>Награда Product Market Fit 2024 Smart Ranking</a:t>
            </a:r>
          </a:p>
          <a:p>
            <a:r>
              <a:t>РЕЙТИНГИ РАБОТОДАТЕЛЕЙ</a:t>
            </a:r>
          </a:p>
          <a:p>
            <a:r>
              <a:t>ПРОФЕССИОНАЛЬНЫЕ РЕЙТИНГИ</a:t>
            </a:r>
          </a:p>
          <a:p>
            <a:r>
              <a:t>TECH</a:t>
            </a:r>
          </a:p>
          <a:p>
            <a:r>
              <a:t>2024-2025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8.</a:t>
            </a:r>
          </a:p>
          <a:p>
            <a:r>
              <a:t>Контекст бренд-платформы Sensesay / Ventra, 29.06.2026: страницы PDF 3, 49, 55.</a:t>
            </a:r>
          </a:p>
          <a:p>
            <a:r>
              <a:t>Восстановлено название раздела из исходника. Добавлена краткая связка между пониманием контекста и ответственностью за результат.</a:t>
            </a:r>
          </a:p>
          <a:p/>
          <a:p>
            <a:r>
              <a:t>ИСХОДНЫЙ ТЕКСТ</a:t>
            </a:r>
          </a:p>
          <a:p>
            <a:r>
              <a:t>НАПРАВЛЕНИЯ</a:t>
            </a:r>
          </a:p>
          <a:p>
            <a:r>
              <a:t>РАБОТЫ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Новая фотография подбора — ИИ-иллюстрация. Она не изображает сотрудников, кандидатов или фактическую встречу Ventra.</a:t>
            </a:r>
          </a:p>
          <a:p/>
          <a:p>
            <a:r>
              <a:t>ОСНОВА: исходная презентация, слайд 9.</a:t>
            </a:r>
          </a:p>
          <a:p>
            <a:r>
              <a:t>Контекст бренд-платформы Sensesay / Ventra, 29.06.2026: страницы PDF 38, 45, 55.</a:t>
            </a:r>
          </a:p>
          <a:p>
            <a:r>
              <a:t>Полный список семи услуг и все четыре показателя исходника сохранены. Из платформы добавлено понимание контекста, культуры команды и осмысленности подбора.</a:t>
            </a:r>
          </a:p>
          <a:p/>
          <a:p>
            <a:r>
              <a:t>ИСХОДНЫЙ ТЕКСТ</a:t>
            </a:r>
          </a:p>
          <a:p>
            <a:r>
              <a:t>Подбор и HR-сервисы</a:t>
            </a:r>
          </a:p>
          <a:p>
            <a:r>
              <a:t>Топ 2 на рынке </a:t>
            </a:r>
          </a:p>
          <a:p>
            <a:r>
              <a:t>HR SERVICES</a:t>
            </a:r>
          </a:p>
          <a:p>
            <a:r>
              <a:t>Executive search</a:t>
            </a:r>
          </a:p>
          <a:p>
            <a:r>
              <a:t>Профессиональный рекрутмент</a:t>
            </a:r>
          </a:p>
          <a:p>
            <a:r>
              <a:t>Международный подбор</a:t>
            </a:r>
          </a:p>
          <a:p>
            <a:r>
              <a:t>Формирование и управление проектными команд</a:t>
            </a:r>
          </a:p>
          <a:p>
            <a:r>
              <a:t>Аутсорсинг процесса рекрутмента RPO</a:t>
            </a:r>
          </a:p>
          <a:p>
            <a:r>
              <a:t>Массовый подбор</a:t>
            </a:r>
          </a:p>
          <a:p>
            <a:r>
              <a:t>HR-консалтинг</a:t>
            </a:r>
          </a:p>
          <a:p>
            <a:r>
              <a:t>9500+</a:t>
            </a:r>
          </a:p>
          <a:p>
            <a:r>
              <a:t>позиций закрыто </a:t>
            </a:r>
          </a:p>
          <a:p>
            <a:r>
              <a:t>в 2022-2025 гг.</a:t>
            </a:r>
          </a:p>
          <a:p>
            <a:r>
              <a:t>&gt;10 лет</a:t>
            </a:r>
          </a:p>
          <a:p>
            <a:r>
              <a:t>опыт работы консультантов в подборе </a:t>
            </a:r>
          </a:p>
          <a:p>
            <a:r>
              <a:t>&gt;5 млн</a:t>
            </a:r>
          </a:p>
          <a:p>
            <a:r>
              <a:t>специалистов в базе </a:t>
            </a:r>
          </a:p>
          <a:p>
            <a:r>
              <a:t>2 мес.</a:t>
            </a:r>
          </a:p>
          <a:p>
            <a:r>
              <a:t>срок закрытия позиции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три новые фотографии — созданные ИИ отраслевые иллюстрации. Они не документируют фактические объекты клиентов. Описания кейсов, клиенты и результаты сохранены из исходника.</a:t>
            </a:r>
          </a:p>
          <a:p/>
          <a:p>
            <a:r>
              <a:t>ОСНОВА: исходная презентация, слайд 10.</a:t>
            </a:r>
          </a:p>
          <a:p>
            <a:r>
              <a:t>Сохранены те же три проекта, их масштаб и виды работ. Новые результаты и KPI не приписывались. Полный перечень закрытых вакансий видимым текстом вынесен в приложение.</a:t>
            </a:r>
          </a:p>
          <a:p/>
          <a:p>
            <a:r>
              <a:t>ИСХОДНЫЙ ТЕКСТ</a:t>
            </a:r>
          </a:p>
          <a:p>
            <a:r>
              <a:t>Примеры закрытых вакансий</a:t>
            </a:r>
          </a:p>
          <a:p>
            <a:r>
              <a:t>Генеральный директор</a:t>
            </a:r>
          </a:p>
          <a:p>
            <a:r>
              <a:t>Директор завода</a:t>
            </a:r>
          </a:p>
          <a:p>
            <a:r>
              <a:t>Операционный директор</a:t>
            </a:r>
          </a:p>
          <a:p>
            <a:r>
              <a:t>Независимый директор</a:t>
            </a:r>
          </a:p>
          <a:p>
            <a:r>
              <a:t>R&amp;D Директор</a:t>
            </a:r>
          </a:p>
          <a:p>
            <a:r>
              <a:t>Председатель правления банка</a:t>
            </a:r>
          </a:p>
          <a:p>
            <a:r>
              <a:t>Исполнительный директор </a:t>
            </a:r>
          </a:p>
          <a:p>
            <a:r>
              <a:t>Директор по стратегическому развитию</a:t>
            </a:r>
          </a:p>
          <a:p>
            <a:r>
              <a:t>Финансовый директор</a:t>
            </a:r>
          </a:p>
          <a:p>
            <a:r>
              <a:t>Директор по маркетингу/CMO</a:t>
            </a:r>
          </a:p>
          <a:p>
            <a:r>
              <a:t>Директор по продукту/CPO</a:t>
            </a:r>
          </a:p>
          <a:p>
            <a:r>
              <a:t>Supply chain director</a:t>
            </a:r>
          </a:p>
          <a:p>
            <a:r>
              <a:t>Директор по персоналу Россия и СНГ</a:t>
            </a:r>
          </a:p>
          <a:p>
            <a:r>
              <a:t>Член совета директоров по HR</a:t>
            </a:r>
          </a:p>
          <a:p>
            <a:r>
              <a:t>Директор по строительству</a:t>
            </a:r>
          </a:p>
          <a:p>
            <a:r>
              <a:t>Директор юридической службы холдинга</a:t>
            </a:r>
          </a:p>
          <a:p>
            <a:r>
              <a:t>E-com директор</a:t>
            </a:r>
          </a:p>
          <a:p>
            <a:r>
              <a:t>Директор по закупкам</a:t>
            </a:r>
          </a:p>
          <a:p>
            <a:r>
              <a:t>Подбор и HR-сервисы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Аутсорсинг процесса  рекрутмента крупной  фармацевтической  компании</a:t>
            </a:r>
          </a:p>
          <a:p/>
          <a:p>
            <a:r>
              <a:t>Формирование команды 400+ работников </a:t>
            </a:r>
            <a:br/>
            <a:r>
              <a:t>для крупного  производителю бытовой</a:t>
            </a:r>
          </a:p>
          <a:p>
            <a:r>
              <a:t>техники</a:t>
            </a:r>
          </a:p>
          <a:p/>
          <a:p>
            <a:r>
              <a:t>Аутсорсинг административной  поддержки офиса крупного  производителю электронного  оборудования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Фотография офисной архитектуры — новая ИИ-иллюстрация направления, не офис клиента.</a:t>
            </a:r>
          </a:p>
          <a:p/>
          <a:p>
            <a:r>
              <a:t>ОСНОВА: исходная презентация, слайд 11.</a:t>
            </a:r>
          </a:p>
          <a:p>
            <a:r>
              <a:t>Контекст бренд-платформы Sensesay / Ventra, 29.06.2026: страницы PDF 34, 36, 39, 55.</a:t>
            </a:r>
          </a:p>
          <a:p>
            <a:r>
              <a:t>Сохранены пять услуг, топ-2, 500+ проектов, 1+ млн специалистов и 2 месяца. Добавлен смысл разделённой операционной нагрузки.</a:t>
            </a:r>
          </a:p>
          <a:p/>
          <a:p>
            <a:r>
              <a:t>ИСХОДНЫЙ ТЕКСТ</a:t>
            </a:r>
          </a:p>
          <a:p>
            <a:r>
              <a:t>Аутсорсинг административных функций</a:t>
            </a:r>
          </a:p>
          <a:p>
            <a:r>
              <a:t>Топ 2 на рынке </a:t>
            </a:r>
          </a:p>
          <a:p>
            <a:r>
              <a:t>HR SERVICES</a:t>
            </a:r>
          </a:p>
          <a:p>
            <a:r>
              <a:t>Управление закупками и поставщиками</a:t>
            </a:r>
          </a:p>
          <a:p>
            <a:r>
              <a:t>Организация ресепшена</a:t>
            </a:r>
          </a:p>
          <a:p>
            <a:r>
              <a:t>Управление почтовой службой и работой с документами</a:t>
            </a:r>
          </a:p>
          <a:p>
            <a:r>
              <a:t>Предоставление административного персонала на проекты</a:t>
            </a:r>
          </a:p>
          <a:p>
            <a:r>
              <a:t>Подбор секретарей и ассистентов</a:t>
            </a:r>
          </a:p>
          <a:p>
            <a:r>
              <a:t>500+</a:t>
            </a:r>
          </a:p>
          <a:p>
            <a:r>
              <a:t>проектов реализовано</a:t>
            </a:r>
          </a:p>
          <a:p>
            <a:r>
              <a:t>в 2022-2025 гг.</a:t>
            </a:r>
          </a:p>
          <a:p>
            <a:r>
              <a:t>1+ млн</a:t>
            </a:r>
          </a:p>
          <a:p>
            <a:r>
              <a:t>админ. специалистов в базе </a:t>
            </a:r>
          </a:p>
          <a:p>
            <a:r>
              <a:t>2 мес.</a:t>
            </a:r>
          </a:p>
          <a:p>
            <a:r>
              <a:t>срок закрытия позиции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Новая фотография розницы — ИИ-иллюстрация направления продаж, не реальная торговая точка Ventra или конкретного клиента.</a:t>
            </a:r>
          </a:p>
          <a:p/>
          <a:p>
            <a:r>
              <a:t>ОСНОВА: исходная презентация, слайд 12.</a:t>
            </a:r>
          </a:p>
          <a:p>
            <a:r>
              <a:t>Контекст бренд-платформы Sensesay / Ventra, 29.06.2026: страницы PDF 33, 42.</a:t>
            </a:r>
          </a:p>
          <a:p>
            <a:r>
              <a:t>Сохранены позиционирование торговой компании, пять услуг и три показателя. Из платформы добавлено прозрачное управление исполнением и региональными командами; измеримые улучшения не выдуманы.</a:t>
            </a:r>
          </a:p>
          <a:p/>
          <a:p>
            <a:r>
              <a:t>ИСХОДНЫЙ ТЕКСТ</a:t>
            </a:r>
          </a:p>
          <a:p>
            <a:r>
              <a:t>Продажи</a:t>
            </a:r>
          </a:p>
          <a:p>
            <a:r>
              <a:t>Торговая компания и эксперт в области управления продажами</a:t>
            </a:r>
          </a:p>
          <a:p>
            <a:r>
              <a:t>TRADE</a:t>
            </a:r>
          </a:p>
          <a:p>
            <a:r>
              <a:t>Топ 2 </a:t>
            </a:r>
          </a:p>
          <a:p>
            <a:r>
              <a:t>на рынке трейд-маркетинга </a:t>
            </a:r>
          </a:p>
          <a:p>
            <a:r>
              <a:t>35%+</a:t>
            </a:r>
          </a:p>
          <a:p>
            <a:r>
              <a:t>рынка электронного ритейла</a:t>
            </a:r>
          </a:p>
          <a:p>
            <a:r>
              <a:t>5000 чел.</a:t>
            </a:r>
          </a:p>
          <a:p>
            <a:r>
              <a:t>работают на проектах</a:t>
            </a:r>
          </a:p>
          <a:p>
            <a:r>
              <a:t>Открытие и развитие собственной розницы</a:t>
            </a:r>
          </a:p>
          <a:p>
            <a:r>
              <a:t>Аутсорсинг продаж и управление торговым персоналом</a:t>
            </a:r>
          </a:p>
          <a:p>
            <a:r>
              <a:t>Field force</a:t>
            </a:r>
          </a:p>
          <a:p>
            <a:r>
              <a:t>Мерчандайзинг</a:t>
            </a:r>
          </a:p>
          <a:p>
            <a:r>
              <a:t>BTL &amp; Promo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Новые фотографии в кейсах Dyson, IQOS и BEKO — созданные ИИ иллюстрации категорий. Это не фотографии названных клиентских объектов. Имена клиентов и фактические виды работ не изменены.</a:t>
            </a:r>
          </a:p>
          <a:p/>
          <a:p>
            <a:r>
              <a:t>ОСНОВА: исходная презентация, слайд 13.</a:t>
            </a:r>
          </a:p>
          <a:p>
            <a:r>
              <a:t>Три клиента и формулировки кейсов сохранены из исходника. Исправлена только неверная рубрика HR Services на Trade.</a:t>
            </a:r>
          </a:p>
          <a:p/>
          <a:p>
            <a:r>
              <a:t>ИСХОДНЫЙ ТЕКСТ</a:t>
            </a:r>
          </a:p>
          <a:p>
            <a:r>
              <a:t>Продажи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Запуск собственной</a:t>
            </a:r>
          </a:p>
          <a:p>
            <a:r>
              <a:t>розницы Dyson</a:t>
            </a:r>
          </a:p>
          <a:p>
            <a:r>
              <a:t>Распределенные</a:t>
            </a:r>
          </a:p>
          <a:p>
            <a:r>
              <a:t>продажи IQOS</a:t>
            </a:r>
          </a:p>
          <a:p>
            <a:r>
              <a:t>Управление проектом</a:t>
            </a:r>
          </a:p>
          <a:p>
            <a:r>
              <a:t>продаж BEKO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Новые производственная, складская и ритейл-фотографии — ИИ-иллюстрации. Они не показывают реальные объекты Henkel, Дикси или Магнит. Названия и описания кейсов из исходника сохранены.</a:t>
            </a:r>
          </a:p>
          <a:p/>
          <a:p>
            <a:r>
              <a:t>ОСНОВА: исходная презентация, слайд 14.</a:t>
            </a:r>
          </a:p>
          <a:p>
            <a:r>
              <a:t>Контекст бренд-платформы Sensesay / Ventra, 29.06.2026: страницы PDF 33, 40, 41.</a:t>
            </a:r>
          </a:p>
          <a:p>
            <a:r>
              <a:t>Полные шесть услуг и три исходных кейса сохранены. Дополнение платформы — непрерывность процессов, безопасность и управление командой на площадке. Конкретные гарантии выхода в смену не добавлялись.</a:t>
            </a:r>
          </a:p>
          <a:p/>
          <a:p>
            <a:r>
              <a:t>ИСХОДНЫЙ ТЕКСТ</a:t>
            </a:r>
          </a:p>
          <a:p>
            <a:r>
              <a:t>INDUSTRIAL</a:t>
            </a:r>
          </a:p>
          <a:p>
            <a:r>
              <a:t>Обслуживание</a:t>
            </a:r>
          </a:p>
          <a:p>
            <a:r>
              <a:t>производственных </a:t>
            </a:r>
          </a:p>
          <a:p>
            <a:r>
              <a:t>линий Henkel</a:t>
            </a:r>
          </a:p>
          <a:p/>
          <a:p>
            <a:r>
              <a:t>Обслуживание</a:t>
            </a:r>
          </a:p>
          <a:p>
            <a:r>
              <a:t>РЦ Дикси</a:t>
            </a:r>
          </a:p>
          <a:p>
            <a:r>
              <a:t>Обслуживание</a:t>
            </a:r>
          </a:p>
          <a:p>
            <a:r>
              <a:t>сети Магнит</a:t>
            </a:r>
          </a:p>
          <a:p/>
          <a:p>
            <a:r>
              <a:t>Производство и склад</a:t>
            </a:r>
          </a:p>
          <a:p>
            <a:r>
              <a:t>Поддержка производственных и логистических функций</a:t>
            </a:r>
          </a:p>
          <a:p>
            <a:r>
              <a:t>Аутсорсинг складской логистики</a:t>
            </a:r>
          </a:p>
          <a:p>
            <a:r>
              <a:t>Аутсорсинг производственных процессов</a:t>
            </a:r>
          </a:p>
          <a:p>
            <a:r>
              <a:t>Аутсорсинг проектов для нефтегазового сектора</a:t>
            </a:r>
          </a:p>
          <a:p>
            <a:r>
              <a:t>Формирование команд на склад </a:t>
            </a:r>
          </a:p>
          <a:p>
            <a:r>
              <a:t>и производство</a:t>
            </a:r>
          </a:p>
          <a:p>
            <a:r>
              <a:t>Аутсорсинг вахтовых проектов</a:t>
            </a:r>
          </a:p>
          <a:p>
            <a:r>
              <a:t>Клининг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Новая ИТ-фотография — ИИ-иллюстрация технологической команды, не реальный специалист Ventra.</a:t>
            </a:r>
          </a:p>
          <a:p/>
          <a:p>
            <a:r>
              <a:t>ОСНОВА: исходная презентация, слайд 15.</a:t>
            </a:r>
          </a:p>
          <a:p>
            <a:r>
              <a:t>Контекст бренд-платформы Sensesay / Ventra, 29.06.2026: страницы PDF 38, 46.</a:t>
            </a:r>
          </a:p>
          <a:p>
            <a:r>
              <a:t>Сохранены шесть услуг, обещание команды за 3 дня, три показателя и ИТ-статус с 2011 года. Сроки не трактуются как гарантия для любых условий; перед внешней отправкой подтвердить применимость. Добавлен смысл управляемой команды и фокуса клиента на продукте.</a:t>
            </a:r>
          </a:p>
          <a:p/>
          <a:p>
            <a:r>
              <a:t>ИСХОДНЫЙ ТЕКСТ</a:t>
            </a:r>
          </a:p>
          <a:p>
            <a:r>
              <a:t>IT</a:t>
            </a:r>
          </a:p>
          <a:p>
            <a:r>
              <a:t>IT</a:t>
            </a:r>
          </a:p>
          <a:p>
            <a:r>
              <a:t>Предоставим готовую команду под любой технологический стек за 3 дня</a:t>
            </a:r>
          </a:p>
          <a:p>
            <a:r>
              <a:t>Формирование ИТ-команд</a:t>
            </a:r>
          </a:p>
          <a:p>
            <a:r>
              <a:t>Услуги внешней разработки</a:t>
            </a:r>
          </a:p>
          <a:p>
            <a:r>
              <a:t>Разработка ПО</a:t>
            </a:r>
          </a:p>
          <a:p>
            <a:r>
              <a:t>1С консалтинг</a:t>
            </a:r>
          </a:p>
          <a:p>
            <a:r>
              <a:t>Управление ИТ-инфраструктурой</a:t>
            </a:r>
          </a:p>
          <a:p>
            <a:r>
              <a:t>ИТ-рекрутмент</a:t>
            </a:r>
          </a:p>
          <a:p>
            <a:r>
              <a:t>2 000 +</a:t>
            </a:r>
          </a:p>
          <a:p>
            <a:r>
              <a:t>человек в нашем штате</a:t>
            </a:r>
          </a:p>
          <a:p>
            <a:r>
              <a:t>350 000 +</a:t>
            </a:r>
          </a:p>
          <a:p>
            <a:r>
              <a:t>часов в месяц работают наши специалисты над проектами </a:t>
            </a:r>
          </a:p>
          <a:p>
            <a:r>
              <a:t>1 млн +</a:t>
            </a:r>
          </a:p>
          <a:p>
            <a:r>
              <a:t>ИТ-специалистов </a:t>
            </a:r>
          </a:p>
          <a:p>
            <a:r>
              <a:t>в базе</a:t>
            </a:r>
          </a:p>
          <a:p>
            <a:r>
              <a:t>ИТ-СТАТУС С 2011 ГОДА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Миниатюры кейсов — ИИ-иллюстрации отраслей и технологий. Описания, стек, интеграции и численный эффект полностью сохранены.</a:t>
            </a:r>
          </a:p>
          <a:p/>
          <a:p>
            <a:r>
              <a:t>ОСНОВА: исходная презентация, слайд 16.</a:t>
            </a:r>
          </a:p>
          <a:p>
            <a:r>
              <a:t>Все четыре кейса и их технические детали восстановлены видимым текстом. Срок релиза «с 2 недель до 3 дней» — единственный численный эффект, он взят из исходника. Исправлена рубрика HR Services на IT.</a:t>
            </a:r>
          </a:p>
          <a:p/>
          <a:p>
            <a:r>
              <a:t>ИСХОДНЫЙ ТЕКСТ</a:t>
            </a:r>
          </a:p>
          <a:p>
            <a:r>
              <a:t>HR SERVICES</a:t>
            </a:r>
          </a:p>
          <a:p>
            <a:r>
              <a:t>РАЗРАБОТКА ВЫСОКОНАГРУЖЕННЫХ СЕРВИСОВ ДЛЯ МЕЖДУНАРОДНОЙ IT-КОМПАНИИ</a:t>
            </a:r>
          </a:p>
          <a:p>
            <a:r>
              <a:t>команда Backend-разработчиков Ventra IT спроектировала микросервисную архитектуру (Java Spring, Python FastAPI), внедрила API-шлюзы и обеспечила интеграцию с SAP.</a:t>
            </a:r>
          </a:p>
          <a:p>
            <a:r>
              <a:t>КЛИЕНТСКИЙ ИНТЕРФЕЙС ДЛЯ LUXURY-РИТЕЙЛЕРА</a:t>
            </a:r>
          </a:p>
          <a:p>
            <a:r>
              <a:t>фронтенд-команда Ventra IT разработала адаптивные интерфейсы на ReactJS и VueJS, внедрила SSR для ускорения загрузки, интеграцию с BI-дашбордами.</a:t>
            </a:r>
          </a:p>
          <a:p>
            <a:r>
              <a:t>ПРИЛОЖЕНИЕ ДЛЯ МЕЖДУНАРОДНОГО FMCG-БРЕНДА</a:t>
            </a:r>
          </a:p>
          <a:p>
            <a:r>
              <a:t>Ventra IT реализовала приложение на Flutter с push-уведомлениями и встроенной аналитикой.</a:t>
            </a:r>
          </a:p>
          <a:p>
            <a:r>
              <a:t>ИНФРАСТРУКТУРА И РАЗВЕРТЫВАНИЕ ДЛЯ НЕФТЕСЕРВИСНОЙ КОМПАНИИ</a:t>
            </a:r>
          </a:p>
          <a:p>
            <a:r>
              <a:t>команда DevOps Ventra IT внедрила Kubernetes-кластер, GitLab CI/CD и систему мониторинга Prometheus + Grafana. Время релиза сократилось с 2 недель до 3 дней, повысилась стабильность инфраструктуры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Новое изображение ритейла — ИИ-иллюстрация сферы применения платформы, не конкретный клиентский объект.</a:t>
            </a:r>
          </a:p>
          <a:p/>
          <a:p>
            <a:r>
              <a:t>ОСНОВА: исходная презентация, слайд 17.</a:t>
            </a:r>
          </a:p>
          <a:p>
            <a:r>
              <a:t>Раздел Ventra Go! сохранён по прямому указанию пользователя. Показатели, назначение платформы и топ-1 взяты из исходной презентации. Новые данные из вводной бренд-платформы не подставлялись.</a:t>
            </a:r>
          </a:p>
          <a:p/>
          <a:p>
            <a:r>
              <a:t>ИСХОДНЫЙ ТЕКСТ</a:t>
            </a:r>
          </a:p>
          <a:p>
            <a:r>
              <a:t>HR TECH</a:t>
            </a:r>
          </a:p>
          <a:p>
            <a:r>
              <a:t>Ventra Go!</a:t>
            </a:r>
          </a:p>
          <a:p>
            <a:r>
              <a:t>Цифровая платформа гибкой занятости</a:t>
            </a:r>
          </a:p>
          <a:p/>
          <a:p/>
          <a:p>
            <a:r>
              <a:t>ТОП 1 НА РЫНКЕ ПЛАТФОРМ</a:t>
            </a:r>
          </a:p>
          <a:p>
            <a:r>
              <a:t>2 000 000</a:t>
            </a:r>
          </a:p>
          <a:p>
            <a:r>
              <a:t>проверенных исполнителей </a:t>
            </a:r>
          </a:p>
          <a:p>
            <a:r>
              <a:t>для 200+ брендов ритейла екома и хореки</a:t>
            </a:r>
          </a:p>
          <a:p>
            <a:r>
              <a:t>25 000+ </a:t>
            </a:r>
          </a:p>
          <a:p>
            <a:r>
              <a:t>торговых точек </a:t>
            </a:r>
          </a:p>
          <a:p>
            <a:r>
              <a:t>на платформе</a:t>
            </a:r>
          </a:p>
          <a:p>
            <a:r>
              <a:t>ВСЕ КАТЕГОРИИ</a:t>
            </a:r>
          </a:p>
          <a:p>
            <a:r>
              <a:t>работников для ритейла и HoReCa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новые фотографии — ИИ-иллюстрации ритейла, логистики и fashion. Это не объекты Пятёрочки, Ленты или Gloria Jeans. Оригинальные клиентские логотипы и описания услуг сохранены.</a:t>
            </a:r>
          </a:p>
          <a:p/>
          <a:p>
            <a:r>
              <a:t>ОСНОВА: исходная презентация, слайд 18.</a:t>
            </a:r>
          </a:p>
          <a:p>
            <a:r>
              <a:t>Контекст бренд-платформы Sensesay / Ventra, 29.06.2026: страницы PDF 49, 55.</a:t>
            </a:r>
          </a:p>
          <a:p>
            <a:r>
              <a:t>Сохранены клиенты и точные виды работ исходника. Добавлена связка между возможностями людей и гибкостью бизнеса. Не добавлялись финансовые или операционные эффекты, отсутствующие в исходнике.</a:t>
            </a:r>
          </a:p>
          <a:p/>
          <a:p>
            <a:r>
              <a:t>ИСХОДНЫЙ ТЕКСТ</a:t>
            </a:r>
          </a:p>
          <a:p>
            <a:r>
              <a:t>Ventra Go!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Предоставление работников зала, разнорабочих и пекарей</a:t>
            </a:r>
          </a:p>
          <a:p>
            <a:r>
              <a:t>Предоставление сборщиков заказов, работников зала и курьеров в гипермаркеты</a:t>
            </a:r>
          </a:p>
          <a:p>
            <a:r>
              <a:t>Предоставление работников </a:t>
            </a:r>
          </a:p>
          <a:p>
            <a:r>
              <a:t>зала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Архитектурный фрагмент — то же концептуальное ИИ-изображение, что на обложке; не объект Ventra.</a:t>
            </a:r>
          </a:p>
          <a:p/>
          <a:p>
            <a:r>
              <a:t>ОСНОВА: исходная презентация, слайд 19.</a:t>
            </a:r>
          </a:p>
          <a:p>
            <a:r>
              <a:t>Контекст бренд-платформы Sensesay / Ventra, 29.06.2026: страницы PDF 55.</a:t>
            </a:r>
          </a:p>
          <a:p>
            <a:r>
              <a:t>Контакты и призыв сохранены. Финальная фраза приглашает к диалогу о контексте клиента, как в платформе бренда.</a:t>
            </a:r>
          </a:p>
          <a:p/>
          <a:p>
            <a:r>
              <a:t>ИСХОДНЫЙ ТЕКСТ</a:t>
            </a:r>
          </a:p>
          <a:p>
            <a:r>
              <a:t>+7 495 543-97-43</a:t>
            </a:r>
            <a:br/>
            <a:r>
              <a:t>client@ventra.ru</a:t>
            </a:r>
            <a:br/>
          </a:p>
          <a:p>
            <a:r>
              <a:t>HR-ХОЛДИНГ</a:t>
            </a:r>
          </a:p>
          <a:p/>
          <a:p>
            <a:r>
              <a:t>Напишите нам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10.</a:t>
            </a:r>
          </a:p>
          <a:p>
            <a:r>
              <a:t>Все 18 должностей исходника восстановлены отдельным читаемым приложением. Исправлены только орфография и разделители.</a:t>
            </a:r>
          </a:p>
          <a:p/>
          <a:p>
            <a:r>
              <a:t>ИСХОДНЫЙ ТЕКСТ</a:t>
            </a:r>
          </a:p>
          <a:p>
            <a:r>
              <a:t>Примеры закрытых вакансий</a:t>
            </a:r>
          </a:p>
          <a:p>
            <a:r>
              <a:t>Генеральный директор</a:t>
            </a:r>
          </a:p>
          <a:p>
            <a:r>
              <a:t>Директор завода</a:t>
            </a:r>
          </a:p>
          <a:p>
            <a:r>
              <a:t>Операционный директор</a:t>
            </a:r>
          </a:p>
          <a:p>
            <a:r>
              <a:t>Независимый директор</a:t>
            </a:r>
          </a:p>
          <a:p>
            <a:r>
              <a:t>R&amp;D Директор</a:t>
            </a:r>
          </a:p>
          <a:p>
            <a:r>
              <a:t>Председатель правления банка</a:t>
            </a:r>
          </a:p>
          <a:p>
            <a:r>
              <a:t>Исполнительный директор </a:t>
            </a:r>
          </a:p>
          <a:p>
            <a:r>
              <a:t>Директор по стратегическому развитию</a:t>
            </a:r>
          </a:p>
          <a:p>
            <a:r>
              <a:t>Финансовый директор</a:t>
            </a:r>
          </a:p>
          <a:p>
            <a:r>
              <a:t>Директор по маркетингу/CMO</a:t>
            </a:r>
          </a:p>
          <a:p>
            <a:r>
              <a:t>Директор по продукту/CPO</a:t>
            </a:r>
          </a:p>
          <a:p>
            <a:r>
              <a:t>Supply chain director</a:t>
            </a:r>
          </a:p>
          <a:p>
            <a:r>
              <a:t>Директор по персоналу Россия и СНГ</a:t>
            </a:r>
          </a:p>
          <a:p>
            <a:r>
              <a:t>Член совета директоров по HR</a:t>
            </a:r>
          </a:p>
          <a:p>
            <a:r>
              <a:t>Директор по строительству</a:t>
            </a:r>
          </a:p>
          <a:p>
            <a:r>
              <a:t>Директор юридической службы холдинга</a:t>
            </a:r>
          </a:p>
          <a:p>
            <a:r>
              <a:t>E-com директор</a:t>
            </a:r>
          </a:p>
          <a:p>
            <a:r>
              <a:t>Директор по закупкам</a:t>
            </a:r>
          </a:p>
          <a:p>
            <a:r>
              <a:t>Подбор и HR-сервисы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Аутсорсинг процесса  рекрутмента крупной  фармацевтической  компании</a:t>
            </a:r>
          </a:p>
          <a:p/>
          <a:p>
            <a:r>
              <a:t>Формирование команды 400+ работников </a:t>
            </a:r>
            <a:br/>
            <a:r>
              <a:t>для крупного  производителю бытовой</a:t>
            </a:r>
          </a:p>
          <a:p>
            <a:r>
              <a:t>техники</a:t>
            </a:r>
          </a:p>
          <a:p/>
          <a:p>
            <a:r>
              <a:t>Аутсорсинг административной  поддержки офиса крупного  производителю электронного  оборудования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6.</a:t>
            </a:r>
          </a:p>
          <a:p>
            <a:r>
              <a:t>Все 51 изображения клиентских логотипов перенесены из исходного слайда без перекраски, замены и перерисовки.</a:t>
            </a:r>
          </a:p>
          <a:p/>
          <a:p>
            <a:r>
              <a:t>ИСХОДНЫЙ ТЕКСТ</a:t>
            </a:r>
          </a:p>
          <a:p>
            <a:r>
              <a:t>750+ клиентов     1200+ проектов</a:t>
            </a:r>
          </a:p>
          <a:p>
            <a:r>
              <a:t>Опыт Ventra </a:t>
            </a:r>
          </a:p>
          <a:p>
            <a:r>
              <a:t>FMCG &amp; Retail</a:t>
            </a:r>
          </a:p>
          <a:p>
            <a:r>
              <a:t>Финтех &amp; ИТ</a:t>
            </a:r>
          </a:p>
          <a:p>
            <a:r>
              <a:t>Фарма и медицина</a:t>
            </a:r>
          </a:p>
          <a:p>
            <a:r>
              <a:t>Электроника и бытовая техника</a:t>
            </a:r>
          </a:p>
          <a:p>
            <a:r>
              <a:t>Производство и склад</a:t>
            </a:r>
          </a:p>
          <a:p>
            <a:r>
              <a:t>Автопром</a:t>
            </a:r>
          </a:p>
          <a:p>
            <a:r>
              <a:t>Fashion &amp; Beauty</a:t>
            </a:r>
          </a:p>
          <a:p>
            <a:r>
              <a:t>Телеком</a:t>
            </a:r>
          </a:p>
          <a:p>
            <a:r>
              <a:t>Агро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0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7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7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7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7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6" Type="http://schemas.openxmlformats.org/officeDocument/2006/relationships/notesSlide" Target="../notesSlides/notesSlide10.xml"/><Relationship Id="rId7" Type="http://schemas.openxmlformats.org/officeDocument/2006/relationships/image" Target="../media/image71.png"/><Relationship Id="rId8" Type="http://schemas.openxmlformats.org/officeDocument/2006/relationships/image" Target="../media/image7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7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7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6" Type="http://schemas.openxmlformats.org/officeDocument/2006/relationships/notesSlide" Target="../notesSlides/notesSlide13.xml"/><Relationship Id="rId7" Type="http://schemas.openxmlformats.org/officeDocument/2006/relationships/image" Target="../media/image7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74.png"/><Relationship Id="rId8" Type="http://schemas.openxmlformats.org/officeDocument/2006/relationships/image" Target="../media/image7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7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74.png"/><Relationship Id="rId5" Type="http://schemas.openxmlformats.org/officeDocument/2006/relationships/image" Target="../media/image7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7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notesSlide" Target="../notesSlides/notesSlide18.xml"/><Relationship Id="rId7" Type="http://schemas.openxmlformats.org/officeDocument/2006/relationships/image" Target="../media/image72.png"/><Relationship Id="rId8" Type="http://schemas.openxmlformats.org/officeDocument/2006/relationships/image" Target="../media/image7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7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Relationship Id="rId18" Type="http://schemas.openxmlformats.org/officeDocument/2006/relationships/image" Target="../media/image45.png"/><Relationship Id="rId19" Type="http://schemas.openxmlformats.org/officeDocument/2006/relationships/image" Target="../media/image46.png"/><Relationship Id="rId20" Type="http://schemas.openxmlformats.org/officeDocument/2006/relationships/image" Target="../media/image11.png"/><Relationship Id="rId21" Type="http://schemas.openxmlformats.org/officeDocument/2006/relationships/image" Target="../media/image47.png"/><Relationship Id="rId22" Type="http://schemas.openxmlformats.org/officeDocument/2006/relationships/image" Target="../media/image48.png"/><Relationship Id="rId23" Type="http://schemas.openxmlformats.org/officeDocument/2006/relationships/image" Target="../media/image49.png"/><Relationship Id="rId24" Type="http://schemas.openxmlformats.org/officeDocument/2006/relationships/image" Target="../media/image50.png"/><Relationship Id="rId25" Type="http://schemas.openxmlformats.org/officeDocument/2006/relationships/image" Target="../media/image12.png"/><Relationship Id="rId26" Type="http://schemas.openxmlformats.org/officeDocument/2006/relationships/image" Target="../media/image51.png"/><Relationship Id="rId27" Type="http://schemas.openxmlformats.org/officeDocument/2006/relationships/image" Target="../media/image52.png"/><Relationship Id="rId28" Type="http://schemas.openxmlformats.org/officeDocument/2006/relationships/image" Target="../media/image53.png"/><Relationship Id="rId29" Type="http://schemas.openxmlformats.org/officeDocument/2006/relationships/image" Target="../media/image54.png"/><Relationship Id="rId30" Type="http://schemas.openxmlformats.org/officeDocument/2006/relationships/image" Target="../media/image10.png"/><Relationship Id="rId31" Type="http://schemas.openxmlformats.org/officeDocument/2006/relationships/image" Target="../media/image55.png"/><Relationship Id="rId32" Type="http://schemas.openxmlformats.org/officeDocument/2006/relationships/image" Target="../media/image56.png"/><Relationship Id="rId33" Type="http://schemas.openxmlformats.org/officeDocument/2006/relationships/image" Target="../media/image8.png"/><Relationship Id="rId34" Type="http://schemas.openxmlformats.org/officeDocument/2006/relationships/image" Target="../media/image57.png"/><Relationship Id="rId35" Type="http://schemas.openxmlformats.org/officeDocument/2006/relationships/image" Target="../media/image6.png"/><Relationship Id="rId36" Type="http://schemas.openxmlformats.org/officeDocument/2006/relationships/image" Target="../media/image4.png"/><Relationship Id="rId37" Type="http://schemas.openxmlformats.org/officeDocument/2006/relationships/image" Target="../media/image58.png"/><Relationship Id="rId38" Type="http://schemas.openxmlformats.org/officeDocument/2006/relationships/image" Target="../media/image59.png"/><Relationship Id="rId39" Type="http://schemas.openxmlformats.org/officeDocument/2006/relationships/image" Target="../media/image60.png"/><Relationship Id="rId40" Type="http://schemas.openxmlformats.org/officeDocument/2006/relationships/image" Target="../media/image61.png"/><Relationship Id="rId41" Type="http://schemas.openxmlformats.org/officeDocument/2006/relationships/image" Target="../media/image5.png"/><Relationship Id="rId42" Type="http://schemas.openxmlformats.org/officeDocument/2006/relationships/image" Target="../media/image62.png"/><Relationship Id="rId43" Type="http://schemas.openxmlformats.org/officeDocument/2006/relationships/image" Target="../media/image63.png"/><Relationship Id="rId44" Type="http://schemas.openxmlformats.org/officeDocument/2006/relationships/image" Target="../media/image64.png"/><Relationship Id="rId45" Type="http://schemas.openxmlformats.org/officeDocument/2006/relationships/image" Target="../media/image65.png"/><Relationship Id="rId46" Type="http://schemas.openxmlformats.org/officeDocument/2006/relationships/image" Target="../media/image14.png"/><Relationship Id="rId47" Type="http://schemas.openxmlformats.org/officeDocument/2006/relationships/image" Target="../media/image66.png"/><Relationship Id="rId48" Type="http://schemas.openxmlformats.org/officeDocument/2006/relationships/image" Target="../media/image67.png"/><Relationship Id="rId49" Type="http://schemas.openxmlformats.org/officeDocument/2006/relationships/image" Target="../media/image9.png"/><Relationship Id="rId50" Type="http://schemas.openxmlformats.org/officeDocument/2006/relationships/image" Target="../media/image7.png"/><Relationship Id="rId51" Type="http://schemas.openxmlformats.org/officeDocument/2006/relationships/image" Target="../media/image68.png"/><Relationship Id="rId52" Type="http://schemas.openxmlformats.org/officeDocument/2006/relationships/image" Target="../media/image69.png"/><Relationship Id="rId53" Type="http://schemas.openxmlformats.org/officeDocument/2006/relationships/image" Target="../media/image13.png"/><Relationship Id="rId5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ditorial image / cover/None" descr="exec-09f01960-7655-40ee-b1b9-4b308daea5a5.png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/ image5.png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7200"/>
            <a:ext cx="2560320" cy="1003701"/>
          </a:xfrm>
          <a:prstGeom prst="rect">
            <a:avLst/>
          </a:prstGeom>
        </p:spPr>
      </p:pic>
      <p:sp>
        <p:nvSpPr>
          <p:cNvPr id="4" name="Text / О КОМПАНИИ / 2026"/>
          <p:cNvSpPr txBox="1"/>
          <p:nvPr/>
        </p:nvSpPr>
        <p:spPr>
          <a:xfrm>
            <a:off x="10972800" y="731520"/>
            <a:ext cx="3017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rPr spc="70"/>
              <a:t>О КОМПАНИИ / 2026</a:t>
            </a:r>
          </a:p>
        </p:txBody>
      </p:sp>
      <p:sp>
        <p:nvSpPr>
          <p:cNvPr id="5" name="Text / HR-&#10;холдинг"/>
          <p:cNvSpPr txBox="1"/>
          <p:nvPr/>
        </p:nvSpPr>
        <p:spPr>
          <a:xfrm>
            <a:off x="640080" y="2468880"/>
            <a:ext cx="7909560" cy="2468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009"/>
              </a:lnSpc>
              <a:spcBef>
                <a:spcPts val="0"/>
              </a:spcBef>
              <a:spcAft>
                <a:spcPts val="0"/>
              </a:spcAft>
              <a:defRPr sz="9100" b="1">
                <a:solidFill>
                  <a:srgbClr val="FFFFFF"/>
                </a:solidFill>
                <a:latin typeface="Manrope"/>
              </a:defRPr>
            </a:pPr>
            <a:r>
              <a:rPr spc="-70"/>
              <a:t>HR-</a:t>
            </a:r>
          </a:p>
          <a:p>
            <a:pPr>
              <a:lnSpc>
                <a:spcPts val="9009"/>
              </a:lnSpc>
              <a:spcBef>
                <a:spcPts val="0"/>
              </a:spcBef>
              <a:spcAft>
                <a:spcPts val="0"/>
              </a:spcAft>
              <a:defRPr sz="9100" b="1">
                <a:solidFill>
                  <a:srgbClr val="FFFFFF"/>
                </a:solidFill>
                <a:latin typeface="Manrope"/>
              </a:defRPr>
            </a:pPr>
            <a:r>
              <a:rPr spc="-70"/>
              <a:t>холдинг</a:t>
            </a:r>
          </a:p>
        </p:txBody>
      </p:sp>
      <p:sp>
        <p:nvSpPr>
          <p:cNvPr id="6" name="Text / Партнёр в управлении&#10;людьми и бизнес-процесса"/>
          <p:cNvSpPr txBox="1"/>
          <p:nvPr/>
        </p:nvSpPr>
        <p:spPr>
          <a:xfrm>
            <a:off x="685800" y="5687568"/>
            <a:ext cx="71323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Manrope"/>
              </a:defRPr>
            </a:pPr>
            <a:r>
              <a:t>Партнёр в управлении</a:t>
            </a:r>
          </a:p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Manrope"/>
              </a:defRPr>
            </a:pPr>
            <a:r>
              <a:t>людьми и бизнес-процессами.</a:t>
            </a:r>
          </a:p>
        </p:txBody>
      </p:sp>
      <p:sp>
        <p:nvSpPr>
          <p:cNvPr id="7" name="Colour field / 111110"/>
          <p:cNvSpPr/>
          <p:nvPr/>
        </p:nvSpPr>
        <p:spPr>
          <a:xfrm>
            <a:off x="8092440" y="6720840"/>
            <a:ext cx="6537960" cy="15087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/ Объединяем экспертизу.&#10;Раскрываем потенциал."/>
          <p:cNvSpPr txBox="1"/>
          <p:nvPr/>
        </p:nvSpPr>
        <p:spPr>
          <a:xfrm>
            <a:off x="8458200" y="7114032"/>
            <a:ext cx="548640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Объединяем экспертизу.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Раскрываем потенциал.</a:t>
            </a:r>
          </a:p>
        </p:txBody>
      </p:sp>
      <p:cxnSp>
        <p:nvCxnSpPr>
          <p:cNvPr id="9" name="Graphic / connection"/>
          <p:cNvCxnSpPr/>
          <p:nvPr/>
        </p:nvCxnSpPr>
        <p:spPr>
          <a:xfrm>
            <a:off x="640080" y="7104888"/>
            <a:ext cx="5669280" cy="0"/>
          </a:xfrm>
          <a:prstGeom prst="line">
            <a:avLst/>
          </a:prstGeom>
          <a:ln w="8890">
            <a:solidFill>
              <a:srgbClr val="777C70"/>
            </a:solidFill>
          </a:ln>
        </p:spPr>
      </p:cxnSp>
      <p:cxnSp>
        <p:nvCxnSpPr>
          <p:cNvPr id="10" name="Graphic / connection"/>
          <p:cNvCxnSpPr/>
          <p:nvPr/>
        </p:nvCxnSpPr>
        <p:spPr>
          <a:xfrm flipV="1">
            <a:off x="6995160" y="5120640"/>
            <a:ext cx="1325880" cy="822960"/>
          </a:xfrm>
          <a:prstGeom prst="line">
            <a:avLst/>
          </a:prstGeom>
          <a:ln w="11430">
            <a:solidFill>
              <a:srgbClr val="C1C6B8"/>
            </a:solidFill>
          </a:ln>
        </p:spPr>
      </p:cxnSp>
      <p:sp>
        <p:nvSpPr>
          <p:cNvPr id="11" name="Colour field / FF6600"/>
          <p:cNvSpPr/>
          <p:nvPr/>
        </p:nvSpPr>
        <p:spPr>
          <a:xfrm>
            <a:off x="8257031" y="5056632"/>
            <a:ext cx="128016" cy="1280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Graphic / connection"/>
          <p:cNvCxnSpPr/>
          <p:nvPr/>
        </p:nvCxnSpPr>
        <p:spPr>
          <a:xfrm>
            <a:off x="457200" y="2340864"/>
            <a:ext cx="0" cy="566928"/>
          </a:xfrm>
          <a:prstGeom prst="line">
            <a:avLst/>
          </a:prstGeom>
          <a:ln w="8890">
            <a:solidFill>
              <a:srgbClr val="A0A393"/>
            </a:solidFill>
          </a:ln>
        </p:spPr>
      </p:cxnSp>
      <p:cxnSp>
        <p:nvCxnSpPr>
          <p:cNvPr id="13" name="Graphic / connection"/>
          <p:cNvCxnSpPr/>
          <p:nvPr/>
        </p:nvCxnSpPr>
        <p:spPr>
          <a:xfrm>
            <a:off x="457200" y="2340864"/>
            <a:ext cx="530352" cy="0"/>
          </a:xfrm>
          <a:prstGeom prst="line">
            <a:avLst/>
          </a:prstGeom>
          <a:ln w="8890">
            <a:solidFill>
              <a:srgbClr val="A0A393"/>
            </a:solidFill>
          </a:ln>
        </p:spPr>
      </p:cxnSp>
      <p:cxnSp>
        <p:nvCxnSpPr>
          <p:cNvPr id="14" name="Graphic / connection"/>
          <p:cNvCxnSpPr/>
          <p:nvPr/>
        </p:nvCxnSpPr>
        <p:spPr>
          <a:xfrm>
            <a:off x="7132320" y="4800600"/>
            <a:ext cx="502920" cy="0"/>
          </a:xfrm>
          <a:prstGeom prst="line">
            <a:avLst/>
          </a:prstGeom>
          <a:ln w="8890">
            <a:solidFill>
              <a:srgbClr val="C1C6B8"/>
            </a:solidFill>
          </a:ln>
        </p:spPr>
      </p:cxnSp>
      <p:cxnSp>
        <p:nvCxnSpPr>
          <p:cNvPr id="15" name="Graphic / connection"/>
          <p:cNvCxnSpPr/>
          <p:nvPr/>
        </p:nvCxnSpPr>
        <p:spPr>
          <a:xfrm>
            <a:off x="7635240" y="4343400"/>
            <a:ext cx="0" cy="457200"/>
          </a:xfrm>
          <a:prstGeom prst="line">
            <a:avLst/>
          </a:prstGeom>
          <a:ln w="8890">
            <a:solidFill>
              <a:srgbClr val="C1C6B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Colour field / E1E2D9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ЭКОСИСТЕМ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ЭКОСИСТЕМА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2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6" name="Text / Экосистема решений Ventra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5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Экосистема решений Ventra</a:t>
            </a:r>
          </a:p>
        </p:txBody>
      </p:sp>
      <p:sp>
        <p:nvSpPr>
          <p:cNvPr id="7" name="Text / Соединяем&#10;экспертизу.&#10;Решаем задачи&#10;бизнеса."/>
          <p:cNvSpPr txBox="1"/>
          <p:nvPr/>
        </p:nvSpPr>
        <p:spPr>
          <a:xfrm>
            <a:off x="640080" y="2834640"/>
            <a:ext cx="5577840" cy="2331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63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11110"/>
                </a:solidFill>
                <a:latin typeface="Manrope"/>
              </a:defRPr>
            </a:pPr>
            <a:r>
              <a:rPr spc="-60"/>
              <a:t>Соединяем</a:t>
            </a:r>
          </a:p>
          <a:p>
            <a:pPr>
              <a:lnSpc>
                <a:spcPts val="3663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11110"/>
                </a:solidFill>
                <a:latin typeface="Manrope"/>
              </a:defRPr>
            </a:pPr>
            <a:r>
              <a:rPr spc="-60"/>
              <a:t>экспертизу.</a:t>
            </a:r>
          </a:p>
          <a:p>
            <a:pPr>
              <a:lnSpc>
                <a:spcPts val="3663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11110"/>
                </a:solidFill>
                <a:latin typeface="Manrope"/>
              </a:defRPr>
            </a:pPr>
            <a:r>
              <a:rPr spc="-60"/>
              <a:t>Решаем задачи</a:t>
            </a:r>
          </a:p>
          <a:p>
            <a:pPr>
              <a:lnSpc>
                <a:spcPts val="3663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11110"/>
                </a:solidFill>
                <a:latin typeface="Manrope"/>
              </a:defRPr>
            </a:pPr>
            <a:r>
              <a:rPr spc="-60"/>
              <a:t>бизнеса.</a:t>
            </a:r>
          </a:p>
        </p:txBody>
      </p:sp>
      <p:sp>
        <p:nvSpPr>
          <p:cNvPr id="9" name="Colour field / D2D2CB"/>
          <p:cNvSpPr/>
          <p:nvPr/>
        </p:nvSpPr>
        <p:spPr>
          <a:xfrm>
            <a:off x="6492240" y="2697480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/ 01"/>
          <p:cNvSpPr txBox="1"/>
          <p:nvPr/>
        </p:nvSpPr>
        <p:spPr>
          <a:xfrm>
            <a:off x="6492240" y="286207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11" name="Text / HR-сервисы и подбор"/>
          <p:cNvSpPr txBox="1"/>
          <p:nvPr/>
        </p:nvSpPr>
        <p:spPr>
          <a:xfrm>
            <a:off x="7178040" y="2788920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HR-сервисы и подбор</a:t>
            </a:r>
          </a:p>
        </p:txBody>
      </p:sp>
      <p:sp>
        <p:nvSpPr>
          <p:cNvPr id="12" name="Text / Рекрутмент, Executive search, международный и"/>
          <p:cNvSpPr txBox="1"/>
          <p:nvPr/>
        </p:nvSpPr>
        <p:spPr>
          <a:xfrm>
            <a:off x="7178040" y="3163824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32"/>
              </a:lnSpc>
              <a:spcBef>
                <a:spcPts val="0"/>
              </a:spcBef>
              <a:spcAft>
                <a:spcPts val="0"/>
              </a:spcAft>
              <a:defRPr sz="1190" b="0">
                <a:solidFill>
                  <a:srgbClr val="696A65"/>
                </a:solidFill>
                <a:latin typeface="Manrope"/>
              </a:defRPr>
            </a:pPr>
            <a:r>
              <a:t>Рекрутмент, Executive search, международный и массовый подбор, RPO, HR-консалтинг</a:t>
            </a:r>
          </a:p>
        </p:txBody>
      </p:sp>
      <p:sp>
        <p:nvSpPr>
          <p:cNvPr id="13" name="Colour field / D2D2CB"/>
          <p:cNvSpPr/>
          <p:nvPr/>
        </p:nvSpPr>
        <p:spPr>
          <a:xfrm>
            <a:off x="13862304" y="2834640"/>
            <a:ext cx="54864" cy="384048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lour field / D2D2CB"/>
          <p:cNvSpPr/>
          <p:nvPr/>
        </p:nvSpPr>
        <p:spPr>
          <a:xfrm>
            <a:off x="6492240" y="3483864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 / 02"/>
          <p:cNvSpPr txBox="1"/>
          <p:nvPr/>
        </p:nvSpPr>
        <p:spPr>
          <a:xfrm>
            <a:off x="6492240" y="3648456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6" name="Text / ИТ"/>
          <p:cNvSpPr txBox="1"/>
          <p:nvPr/>
        </p:nvSpPr>
        <p:spPr>
          <a:xfrm>
            <a:off x="7178040" y="3575304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ИТ</a:t>
            </a:r>
          </a:p>
        </p:txBody>
      </p:sp>
      <p:sp>
        <p:nvSpPr>
          <p:cNvPr id="17" name="Text / Внешняя разработка, ПО «под ключ», ИТ-команды"/>
          <p:cNvSpPr txBox="1"/>
          <p:nvPr/>
        </p:nvSpPr>
        <p:spPr>
          <a:xfrm>
            <a:off x="7178040" y="3950208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Внешняя разработка, ПО «под ключ», ИТ-команды, 1С-консалтинг</a:t>
            </a:r>
          </a:p>
        </p:txBody>
      </p:sp>
      <p:sp>
        <p:nvSpPr>
          <p:cNvPr id="18" name="Colour field / D2D2CB"/>
          <p:cNvSpPr/>
          <p:nvPr/>
        </p:nvSpPr>
        <p:spPr>
          <a:xfrm>
            <a:off x="13862304" y="3621024"/>
            <a:ext cx="54864" cy="384048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olour field / D2D2CB"/>
          <p:cNvSpPr/>
          <p:nvPr/>
        </p:nvSpPr>
        <p:spPr>
          <a:xfrm>
            <a:off x="6492240" y="4270248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 / 03"/>
          <p:cNvSpPr txBox="1"/>
          <p:nvPr/>
        </p:nvSpPr>
        <p:spPr>
          <a:xfrm>
            <a:off x="6492240" y="44348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21" name="Text / Продажи"/>
          <p:cNvSpPr txBox="1"/>
          <p:nvPr/>
        </p:nvSpPr>
        <p:spPr>
          <a:xfrm>
            <a:off x="7178040" y="4361688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Продажи</a:t>
            </a:r>
          </a:p>
        </p:txBody>
      </p:sp>
      <p:sp>
        <p:nvSpPr>
          <p:cNvPr id="22" name="Text / Аутсорсинг продаж, мерчандайзинг, field force"/>
          <p:cNvSpPr txBox="1"/>
          <p:nvPr/>
        </p:nvSpPr>
        <p:spPr>
          <a:xfrm>
            <a:off x="7178040" y="4736592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Аутсорсинг продаж, мерчандайзинг, field force, BTL &amp; Promo</a:t>
            </a:r>
          </a:p>
        </p:txBody>
      </p:sp>
      <p:sp>
        <p:nvSpPr>
          <p:cNvPr id="23" name="Colour field / D2D2CB"/>
          <p:cNvSpPr/>
          <p:nvPr/>
        </p:nvSpPr>
        <p:spPr>
          <a:xfrm>
            <a:off x="13862304" y="4407408"/>
            <a:ext cx="54864" cy="384048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olour field / D2D2CB"/>
          <p:cNvSpPr/>
          <p:nvPr/>
        </p:nvSpPr>
        <p:spPr>
          <a:xfrm>
            <a:off x="6492240" y="5056632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 / 04"/>
          <p:cNvSpPr txBox="1"/>
          <p:nvPr/>
        </p:nvSpPr>
        <p:spPr>
          <a:xfrm>
            <a:off x="6492240" y="522122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04</a:t>
            </a:r>
          </a:p>
        </p:txBody>
      </p:sp>
      <p:sp>
        <p:nvSpPr>
          <p:cNvPr id="26" name="Text / Производство и склад"/>
          <p:cNvSpPr txBox="1"/>
          <p:nvPr/>
        </p:nvSpPr>
        <p:spPr>
          <a:xfrm>
            <a:off x="7178040" y="5148072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Производство и склад</a:t>
            </a:r>
          </a:p>
        </p:txBody>
      </p:sp>
      <p:sp>
        <p:nvSpPr>
          <p:cNvPr id="27" name="Text / Вахта, производственные процессы, логистика, "/>
          <p:cNvSpPr txBox="1"/>
          <p:nvPr/>
        </p:nvSpPr>
        <p:spPr>
          <a:xfrm>
            <a:off x="7178040" y="5522976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Вахта, производственные процессы, логистика, комплектация, клининг</a:t>
            </a:r>
          </a:p>
        </p:txBody>
      </p:sp>
      <p:sp>
        <p:nvSpPr>
          <p:cNvPr id="28" name="Colour field / D2D2CB"/>
          <p:cNvSpPr/>
          <p:nvPr/>
        </p:nvSpPr>
        <p:spPr>
          <a:xfrm>
            <a:off x="13862304" y="5193792"/>
            <a:ext cx="54864" cy="384048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Colour field / D2D2CB"/>
          <p:cNvSpPr/>
          <p:nvPr/>
        </p:nvSpPr>
        <p:spPr>
          <a:xfrm>
            <a:off x="6492240" y="5843016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 / 05"/>
          <p:cNvSpPr txBox="1"/>
          <p:nvPr/>
        </p:nvSpPr>
        <p:spPr>
          <a:xfrm>
            <a:off x="6492240" y="6007608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05</a:t>
            </a:r>
          </a:p>
        </p:txBody>
      </p:sp>
      <p:sp>
        <p:nvSpPr>
          <p:cNvPr id="31" name="Text / Административные функции"/>
          <p:cNvSpPr txBox="1"/>
          <p:nvPr/>
        </p:nvSpPr>
        <p:spPr>
          <a:xfrm>
            <a:off x="7178040" y="5934456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Административные функции</a:t>
            </a:r>
          </a:p>
        </p:txBody>
      </p:sp>
      <p:sp>
        <p:nvSpPr>
          <p:cNvPr id="32" name="Text / Закупки, поставщики, офис, ресепшен, документ"/>
          <p:cNvSpPr txBox="1"/>
          <p:nvPr/>
        </p:nvSpPr>
        <p:spPr>
          <a:xfrm>
            <a:off x="7178040" y="6309360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Закупки, поставщики, офис, ресепшен, документы</a:t>
            </a:r>
          </a:p>
        </p:txBody>
      </p:sp>
      <p:sp>
        <p:nvSpPr>
          <p:cNvPr id="33" name="Colour field / D2D2CB"/>
          <p:cNvSpPr/>
          <p:nvPr/>
        </p:nvSpPr>
        <p:spPr>
          <a:xfrm>
            <a:off x="13862304" y="5980176"/>
            <a:ext cx="54864" cy="384048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Colour field / D2D2CB"/>
          <p:cNvSpPr/>
          <p:nvPr/>
        </p:nvSpPr>
        <p:spPr>
          <a:xfrm>
            <a:off x="6492240" y="6629400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 / 06"/>
          <p:cNvSpPr txBox="1"/>
          <p:nvPr/>
        </p:nvSpPr>
        <p:spPr>
          <a:xfrm>
            <a:off x="6492240" y="679399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06</a:t>
            </a:r>
          </a:p>
        </p:txBody>
      </p:sp>
      <p:sp>
        <p:nvSpPr>
          <p:cNvPr id="36" name="Text / HR-tech и гибкая занятость"/>
          <p:cNvSpPr txBox="1"/>
          <p:nvPr/>
        </p:nvSpPr>
        <p:spPr>
          <a:xfrm>
            <a:off x="7178040" y="6720840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HR-tech и гибкая занятость</a:t>
            </a:r>
          </a:p>
        </p:txBody>
      </p:sp>
      <p:sp>
        <p:nvSpPr>
          <p:cNvPr id="37" name="Text / Ventra Go! — платформа для заказа работников "/>
          <p:cNvSpPr txBox="1"/>
          <p:nvPr/>
        </p:nvSpPr>
        <p:spPr>
          <a:xfrm>
            <a:off x="7178040" y="7095744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Ventra Go! — платформа для заказа работников массовых профессий</a:t>
            </a:r>
          </a:p>
        </p:txBody>
      </p:sp>
      <p:sp>
        <p:nvSpPr>
          <p:cNvPr id="38" name="Colour field / D2D2CB"/>
          <p:cNvSpPr/>
          <p:nvPr/>
        </p:nvSpPr>
        <p:spPr>
          <a:xfrm>
            <a:off x="13862304" y="6766560"/>
            <a:ext cx="54864" cy="384048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2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sp>
        <p:nvSpPr>
          <p:cNvPr id="45" name="Text / Сочетаем опыт разных направлений&#10;с пониманием"/>
          <p:cNvSpPr txBox="1"/>
          <p:nvPr/>
        </p:nvSpPr>
        <p:spPr>
          <a:xfrm>
            <a:off x="640080" y="5440680"/>
            <a:ext cx="5577840" cy="941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Сочетаем опыт разных направлений</a:t>
            </a:r>
          </a:p>
          <a:p>
            <a:pPr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с пониманием контекста клиента —</a:t>
            </a:r>
          </a:p>
          <a:p>
            <a:pPr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для устойчивого развития бизнеса.</a:t>
            </a:r>
          </a:p>
        </p:txBody>
      </p:sp>
      <p:pic>
        <p:nvPicPr>
          <p:cNvPr id="46" name="Editorial image / cover/None" descr="exec-09f01960-7655-40ee-b1b9-4b308daea5a5.png"/>
          <p:cNvPicPr>
            <a:picLocks noChangeAspect="1"/>
          </p:cNvPicPr>
          <p:nvPr/>
        </p:nvPicPr>
        <p:blipFill>
          <a:blip r:embed="rId4"/>
          <a:srcRect l="45000" t="48375" b="38375"/>
          <a:stretch>
            <a:fillRect/>
          </a:stretch>
        </p:blipFill>
        <p:spPr>
          <a:xfrm>
            <a:off x="640080" y="6629400"/>
            <a:ext cx="5394960" cy="731520"/>
          </a:xfrm>
          <a:prstGeom prst="rect">
            <a:avLst/>
          </a:prstGeom>
        </p:spPr>
      </p:pic>
      <p:cxnSp>
        <p:nvCxnSpPr>
          <p:cNvPr id="47" name="Graphic / connection"/>
          <p:cNvCxnSpPr/>
          <p:nvPr/>
        </p:nvCxnSpPr>
        <p:spPr>
          <a:xfrm>
            <a:off x="512063" y="650138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8" name="Graphic / connection"/>
          <p:cNvCxnSpPr/>
          <p:nvPr/>
        </p:nvCxnSpPr>
        <p:spPr>
          <a:xfrm>
            <a:off x="512063" y="650138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9" name="Graphic / connection"/>
          <p:cNvCxnSpPr/>
          <p:nvPr/>
        </p:nvCxnSpPr>
        <p:spPr>
          <a:xfrm flipH="1">
            <a:off x="5888736" y="650138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0" name="Graphic / connection"/>
          <p:cNvCxnSpPr/>
          <p:nvPr/>
        </p:nvCxnSpPr>
        <p:spPr>
          <a:xfrm>
            <a:off x="6163056" y="650138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1" name="Graphic / connection"/>
          <p:cNvCxnSpPr/>
          <p:nvPr/>
        </p:nvCxnSpPr>
        <p:spPr>
          <a:xfrm>
            <a:off x="512063" y="748893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2" name="Graphic / connection"/>
          <p:cNvCxnSpPr/>
          <p:nvPr/>
        </p:nvCxnSpPr>
        <p:spPr>
          <a:xfrm flipV="1">
            <a:off x="512063" y="72146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3" name="Graphic / connection"/>
          <p:cNvCxnSpPr/>
          <p:nvPr/>
        </p:nvCxnSpPr>
        <p:spPr>
          <a:xfrm flipH="1">
            <a:off x="5888736" y="748893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4" name="Graphic / connection"/>
          <p:cNvCxnSpPr/>
          <p:nvPr/>
        </p:nvCxnSpPr>
        <p:spPr>
          <a:xfrm flipV="1">
            <a:off x="6163056" y="72146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5" name="Graphic / connection"/>
          <p:cNvCxnSpPr/>
          <p:nvPr/>
        </p:nvCxnSpPr>
        <p:spPr>
          <a:xfrm>
            <a:off x="6263640" y="2907792"/>
            <a:ext cx="210312" cy="0"/>
          </a:xfrm>
          <a:prstGeom prst="line">
            <a:avLst/>
          </a:prstGeom>
          <a:ln w="8890">
            <a:solidFill>
              <a:srgbClr val="979E8D"/>
            </a:solidFill>
          </a:ln>
        </p:spPr>
      </p:cxnSp>
      <p:sp>
        <p:nvSpPr>
          <p:cNvPr id="56" name="Colour field / FF6600"/>
          <p:cNvSpPr/>
          <p:nvPr/>
        </p:nvSpPr>
        <p:spPr>
          <a:xfrm>
            <a:off x="6199632" y="2875788"/>
            <a:ext cx="64008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7" name="Graphic / connection"/>
          <p:cNvCxnSpPr/>
          <p:nvPr/>
        </p:nvCxnSpPr>
        <p:spPr>
          <a:xfrm>
            <a:off x="6263640" y="3694176"/>
            <a:ext cx="210312" cy="0"/>
          </a:xfrm>
          <a:prstGeom prst="line">
            <a:avLst/>
          </a:prstGeom>
          <a:ln w="8890">
            <a:solidFill>
              <a:srgbClr val="979E8D"/>
            </a:solidFill>
          </a:ln>
        </p:spPr>
      </p:cxnSp>
      <p:sp>
        <p:nvSpPr>
          <p:cNvPr id="58" name="Colour field / A9AE9E"/>
          <p:cNvSpPr/>
          <p:nvPr/>
        </p:nvSpPr>
        <p:spPr>
          <a:xfrm>
            <a:off x="6199632" y="3662172"/>
            <a:ext cx="64008" cy="64008"/>
          </a:xfrm>
          <a:prstGeom prst="rect">
            <a:avLst/>
          </a:prstGeom>
          <a:solidFill>
            <a:srgbClr val="A9A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9" name="Graphic / connection"/>
          <p:cNvCxnSpPr/>
          <p:nvPr/>
        </p:nvCxnSpPr>
        <p:spPr>
          <a:xfrm>
            <a:off x="6263640" y="4480560"/>
            <a:ext cx="210312" cy="0"/>
          </a:xfrm>
          <a:prstGeom prst="line">
            <a:avLst/>
          </a:prstGeom>
          <a:ln w="8890">
            <a:solidFill>
              <a:srgbClr val="979E8D"/>
            </a:solidFill>
          </a:ln>
        </p:spPr>
      </p:cxnSp>
      <p:sp>
        <p:nvSpPr>
          <p:cNvPr id="60" name="Colour field / A9AE9E"/>
          <p:cNvSpPr/>
          <p:nvPr/>
        </p:nvSpPr>
        <p:spPr>
          <a:xfrm>
            <a:off x="6199632" y="4448556"/>
            <a:ext cx="64008" cy="64008"/>
          </a:xfrm>
          <a:prstGeom prst="rect">
            <a:avLst/>
          </a:prstGeom>
          <a:solidFill>
            <a:srgbClr val="A9A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1" name="Graphic / connection"/>
          <p:cNvCxnSpPr/>
          <p:nvPr/>
        </p:nvCxnSpPr>
        <p:spPr>
          <a:xfrm>
            <a:off x="6263640" y="5266944"/>
            <a:ext cx="210312" cy="0"/>
          </a:xfrm>
          <a:prstGeom prst="line">
            <a:avLst/>
          </a:prstGeom>
          <a:ln w="8890">
            <a:solidFill>
              <a:srgbClr val="979E8D"/>
            </a:solidFill>
          </a:ln>
        </p:spPr>
      </p:cxnSp>
      <p:sp>
        <p:nvSpPr>
          <p:cNvPr id="62" name="Colour field / A9AE9E"/>
          <p:cNvSpPr/>
          <p:nvPr/>
        </p:nvSpPr>
        <p:spPr>
          <a:xfrm>
            <a:off x="6199632" y="5234940"/>
            <a:ext cx="64008" cy="64008"/>
          </a:xfrm>
          <a:prstGeom prst="rect">
            <a:avLst/>
          </a:prstGeom>
          <a:solidFill>
            <a:srgbClr val="A9A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3" name="Graphic / connection"/>
          <p:cNvCxnSpPr/>
          <p:nvPr/>
        </p:nvCxnSpPr>
        <p:spPr>
          <a:xfrm>
            <a:off x="6263640" y="6053328"/>
            <a:ext cx="210312" cy="0"/>
          </a:xfrm>
          <a:prstGeom prst="line">
            <a:avLst/>
          </a:prstGeom>
          <a:ln w="8890">
            <a:solidFill>
              <a:srgbClr val="979E8D"/>
            </a:solidFill>
          </a:ln>
        </p:spPr>
      </p:cxnSp>
      <p:sp>
        <p:nvSpPr>
          <p:cNvPr id="64" name="Colour field / A9AE9E"/>
          <p:cNvSpPr/>
          <p:nvPr/>
        </p:nvSpPr>
        <p:spPr>
          <a:xfrm>
            <a:off x="6199632" y="6021324"/>
            <a:ext cx="64008" cy="64008"/>
          </a:xfrm>
          <a:prstGeom prst="rect">
            <a:avLst/>
          </a:prstGeom>
          <a:solidFill>
            <a:srgbClr val="A9A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5" name="Graphic / connection"/>
          <p:cNvCxnSpPr/>
          <p:nvPr/>
        </p:nvCxnSpPr>
        <p:spPr>
          <a:xfrm>
            <a:off x="6263640" y="6839712"/>
            <a:ext cx="210312" cy="0"/>
          </a:xfrm>
          <a:prstGeom prst="line">
            <a:avLst/>
          </a:prstGeom>
          <a:ln w="8890">
            <a:solidFill>
              <a:srgbClr val="979E8D"/>
            </a:solidFill>
          </a:ln>
        </p:spPr>
      </p:cxnSp>
      <p:sp>
        <p:nvSpPr>
          <p:cNvPr id="66" name="Colour field / A9AE9E"/>
          <p:cNvSpPr/>
          <p:nvPr/>
        </p:nvSpPr>
        <p:spPr>
          <a:xfrm>
            <a:off x="6199632" y="6807708"/>
            <a:ext cx="64008" cy="64008"/>
          </a:xfrm>
          <a:prstGeom prst="rect">
            <a:avLst/>
          </a:prstGeom>
          <a:solidFill>
            <a:srgbClr val="A9A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Colour field / 272A24"/>
          <p:cNvSpPr/>
          <p:nvPr/>
        </p:nvSpPr>
        <p:spPr>
          <a:xfrm>
            <a:off x="14100048" y="2514600"/>
            <a:ext cx="9144" cy="4434840"/>
          </a:xfrm>
          <a:prstGeom prst="rect">
            <a:avLst/>
          </a:prstGeom>
          <a:solidFill>
            <a:srgbClr val="272A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Colour field / 272A24"/>
          <p:cNvSpPr/>
          <p:nvPr/>
        </p:nvSpPr>
        <p:spPr>
          <a:xfrm>
            <a:off x="10287000" y="2514600"/>
            <a:ext cx="9144" cy="4434840"/>
          </a:xfrm>
          <a:prstGeom prst="rect">
            <a:avLst/>
          </a:prstGeom>
          <a:solidFill>
            <a:srgbClr val="272A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Colour field / 272A24"/>
          <p:cNvSpPr/>
          <p:nvPr/>
        </p:nvSpPr>
        <p:spPr>
          <a:xfrm>
            <a:off x="6492240" y="2514600"/>
            <a:ext cx="9144" cy="4434840"/>
          </a:xfrm>
          <a:prstGeom prst="rect">
            <a:avLst/>
          </a:prstGeom>
          <a:solidFill>
            <a:srgbClr val="272A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О НАС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anrope"/>
              </a:defRPr>
            </a:pPr>
            <a:r>
              <a:rPr spc="90"/>
              <a:t>О НАС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99A92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3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6" name="Text / О нас"/>
          <p:cNvSpPr txBox="1"/>
          <p:nvPr/>
        </p:nvSpPr>
        <p:spPr>
          <a:xfrm>
            <a:off x="640080" y="160020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О нас</a:t>
            </a:r>
          </a:p>
        </p:txBody>
      </p:sp>
      <p:sp>
        <p:nvSpPr>
          <p:cNvPr id="7" name="Text / 25"/>
          <p:cNvSpPr txBox="1"/>
          <p:nvPr/>
        </p:nvSpPr>
        <p:spPr>
          <a:xfrm>
            <a:off x="411480" y="2560320"/>
            <a:ext cx="5669280" cy="2331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15"/>
              </a:lnSpc>
              <a:spcBef>
                <a:spcPts val="0"/>
              </a:spcBef>
              <a:spcAft>
                <a:spcPts val="0"/>
              </a:spcAft>
              <a:defRPr sz="17700" b="1">
                <a:solidFill>
                  <a:srgbClr val="FFFFFF"/>
                </a:solidFill>
                <a:latin typeface="Manrope"/>
              </a:defRPr>
            </a:pPr>
            <a:r>
              <a:rPr spc="-650"/>
              <a:t>25</a:t>
            </a:r>
          </a:p>
        </p:txBody>
      </p:sp>
      <p:sp>
        <p:nvSpPr>
          <p:cNvPr id="8" name="Text / лет на рынке"/>
          <p:cNvSpPr txBox="1"/>
          <p:nvPr/>
        </p:nvSpPr>
        <p:spPr>
          <a:xfrm>
            <a:off x="731520" y="5120640"/>
            <a:ext cx="55778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08"/>
              </a:lnSpc>
              <a:spcBef>
                <a:spcPts val="0"/>
              </a:spcBef>
              <a:spcAft>
                <a:spcPts val="0"/>
              </a:spcAft>
              <a:defRPr sz="3400" b="0">
                <a:solidFill>
                  <a:srgbClr val="FFFFFF"/>
                </a:solidFill>
                <a:latin typeface="Manrope"/>
              </a:defRPr>
            </a:pPr>
            <a:r>
              <a:t>лет на рынке</a:t>
            </a:r>
          </a:p>
        </p:txBody>
      </p:sp>
      <p:sp>
        <p:nvSpPr>
          <p:cNvPr id="9" name="Colour field / 3E413A"/>
          <p:cNvSpPr/>
          <p:nvPr/>
        </p:nvSpPr>
        <p:spPr>
          <a:xfrm>
            <a:off x="6629400" y="269748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/ 42"/>
          <p:cNvSpPr txBox="1"/>
          <p:nvPr/>
        </p:nvSpPr>
        <p:spPr>
          <a:xfrm>
            <a:off x="6629400" y="288036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42</a:t>
            </a:r>
          </a:p>
        </p:txBody>
      </p:sp>
      <p:sp>
        <p:nvSpPr>
          <p:cNvPr id="11" name="Text / города: офисы&#10;и инфраструктура"/>
          <p:cNvSpPr txBox="1"/>
          <p:nvPr/>
        </p:nvSpPr>
        <p:spPr>
          <a:xfrm>
            <a:off x="6629400" y="357530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города: офисы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и инфраструктура</a:t>
            </a:r>
          </a:p>
        </p:txBody>
      </p:sp>
      <p:sp>
        <p:nvSpPr>
          <p:cNvPr id="12" name="Colour field / 3E413A"/>
          <p:cNvSpPr/>
          <p:nvPr/>
        </p:nvSpPr>
        <p:spPr>
          <a:xfrm>
            <a:off x="10424160" y="269748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/ 850+"/>
          <p:cNvSpPr txBox="1"/>
          <p:nvPr/>
        </p:nvSpPr>
        <p:spPr>
          <a:xfrm>
            <a:off x="10424160" y="288036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850+</a:t>
            </a:r>
          </a:p>
        </p:txBody>
      </p:sp>
      <p:sp>
        <p:nvSpPr>
          <p:cNvPr id="14" name="Text / клиентов — крупнейших&#10;компаний на рынке"/>
          <p:cNvSpPr txBox="1"/>
          <p:nvPr/>
        </p:nvSpPr>
        <p:spPr>
          <a:xfrm>
            <a:off x="10424160" y="357530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клиентов — крупнейших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компаний на рынке</a:t>
            </a:r>
          </a:p>
        </p:txBody>
      </p:sp>
      <p:sp>
        <p:nvSpPr>
          <p:cNvPr id="15" name="Colour field / 3E413A"/>
          <p:cNvSpPr/>
          <p:nvPr/>
        </p:nvSpPr>
        <p:spPr>
          <a:xfrm>
            <a:off x="6629400" y="411480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 / 10 000+"/>
          <p:cNvSpPr txBox="1"/>
          <p:nvPr/>
        </p:nvSpPr>
        <p:spPr>
          <a:xfrm>
            <a:off x="6629400" y="429768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10 000+</a:t>
            </a:r>
          </a:p>
        </p:txBody>
      </p:sp>
      <p:sp>
        <p:nvSpPr>
          <p:cNvPr id="17" name="Text / трудоустроенных&#10;в год"/>
          <p:cNvSpPr txBox="1"/>
          <p:nvPr/>
        </p:nvSpPr>
        <p:spPr>
          <a:xfrm>
            <a:off x="6629400" y="499262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трудоустроенных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в год</a:t>
            </a:r>
          </a:p>
        </p:txBody>
      </p:sp>
      <p:sp>
        <p:nvSpPr>
          <p:cNvPr id="18" name="Colour field / 3E413A"/>
          <p:cNvSpPr/>
          <p:nvPr/>
        </p:nvSpPr>
        <p:spPr>
          <a:xfrm>
            <a:off x="10424160" y="411480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 / 900"/>
          <p:cNvSpPr txBox="1"/>
          <p:nvPr/>
        </p:nvSpPr>
        <p:spPr>
          <a:xfrm>
            <a:off x="10424160" y="429768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900</a:t>
            </a:r>
          </a:p>
        </p:txBody>
      </p:sp>
      <p:sp>
        <p:nvSpPr>
          <p:cNvPr id="20" name="Text / сотрудников&#10;внутренней команды"/>
          <p:cNvSpPr txBox="1"/>
          <p:nvPr/>
        </p:nvSpPr>
        <p:spPr>
          <a:xfrm>
            <a:off x="10424160" y="499262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сотрудников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внутренней команды</a:t>
            </a:r>
          </a:p>
        </p:txBody>
      </p:sp>
      <p:sp>
        <p:nvSpPr>
          <p:cNvPr id="21" name="Colour field / 3E413A"/>
          <p:cNvSpPr/>
          <p:nvPr/>
        </p:nvSpPr>
        <p:spPr>
          <a:xfrm>
            <a:off x="6629400" y="553212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/ 15 000"/>
          <p:cNvSpPr txBox="1"/>
          <p:nvPr/>
        </p:nvSpPr>
        <p:spPr>
          <a:xfrm>
            <a:off x="6629400" y="571500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15 000</a:t>
            </a:r>
          </a:p>
        </p:txBody>
      </p:sp>
      <p:sp>
        <p:nvSpPr>
          <p:cNvPr id="23" name="Text / работников&#10;на проектах"/>
          <p:cNvSpPr txBox="1"/>
          <p:nvPr/>
        </p:nvSpPr>
        <p:spPr>
          <a:xfrm>
            <a:off x="6629400" y="640994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работников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на проектах</a:t>
            </a:r>
          </a:p>
        </p:txBody>
      </p:sp>
      <p:sp>
        <p:nvSpPr>
          <p:cNvPr id="24" name="Colour field / 3E413A"/>
          <p:cNvSpPr/>
          <p:nvPr/>
        </p:nvSpPr>
        <p:spPr>
          <a:xfrm>
            <a:off x="10424160" y="553212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 / 2 млн"/>
          <p:cNvSpPr txBox="1"/>
          <p:nvPr/>
        </p:nvSpPr>
        <p:spPr>
          <a:xfrm>
            <a:off x="10424160" y="571500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2 млн</a:t>
            </a:r>
          </a:p>
        </p:txBody>
      </p:sp>
      <p:sp>
        <p:nvSpPr>
          <p:cNvPr id="26" name="Text / исполнителей&#10;на Ventra Go!"/>
          <p:cNvSpPr txBox="1"/>
          <p:nvPr/>
        </p:nvSpPr>
        <p:spPr>
          <a:xfrm>
            <a:off x="10424160" y="640994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исполнителей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на Ventra Go!</a:t>
            </a:r>
          </a:p>
        </p:txBody>
      </p:sp>
      <p:sp>
        <p:nvSpPr>
          <p:cNvPr id="27" name="Text / В июне 2022 года HR-холдинг Ventra приобрёл б"/>
          <p:cNvSpPr txBox="1"/>
          <p:nvPr/>
        </p:nvSpPr>
        <p:spPr>
          <a:xfrm>
            <a:off x="731520" y="7132320"/>
            <a:ext cx="131673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4B6AB"/>
                </a:solidFill>
                <a:latin typeface="Manrope"/>
              </a:defRPr>
            </a:pPr>
            <a:r>
              <a:t>В июне 2022 года HR-холдинг Ventra приобрёл бизнес Kelly в России, объединив команды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4B6AB"/>
                </a:solidFill>
                <a:latin typeface="Manrope"/>
              </a:defRPr>
            </a:pPr>
            <a:r>
              <a:t>в области управления персоналом и аутсорсинга.</a:t>
            </a:r>
          </a:p>
        </p:txBody>
      </p:sp>
      <p:sp>
        <p:nvSpPr>
          <p:cNvPr id="28" name="Colour field / A0A393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Colour field / A0A393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Colour field / A0A393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777C6D"/>
            </a:solidFill>
          </a:ln>
        </p:spPr>
      </p:cxnSp>
      <p:cxnSp>
        <p:nvCxnSpPr>
          <p:cNvPr id="35" name="Graphic / connection"/>
          <p:cNvCxnSpPr/>
          <p:nvPr/>
        </p:nvCxnSpPr>
        <p:spPr>
          <a:xfrm flipV="1">
            <a:off x="5074920" y="4901184"/>
            <a:ext cx="822960" cy="822960"/>
          </a:xfrm>
          <a:prstGeom prst="line">
            <a:avLst/>
          </a:prstGeom>
          <a:ln w="10160">
            <a:solidFill>
              <a:srgbClr val="9FA68E"/>
            </a:solidFill>
          </a:ln>
        </p:spPr>
      </p:cxnSp>
      <p:sp>
        <p:nvSpPr>
          <p:cNvPr id="36" name="Graphic / planar junction"/>
          <p:cNvSpPr/>
          <p:nvPr/>
        </p:nvSpPr>
        <p:spPr>
          <a:xfrm>
            <a:off x="5623560" y="490118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Colour field / E1E2D9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ОДХОД К РАБОТЕ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ПОДХОД К РАБОТЕ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4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6" name="Text / Экосистема вместо набора услуг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6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Экосистема вместо набора услуг</a:t>
            </a:r>
          </a:p>
        </p:txBody>
      </p:sp>
      <p:sp>
        <p:nvSpPr>
          <p:cNvPr id="7" name="Text / Глубоко понимаем контекст клиента и связываем"/>
          <p:cNvSpPr txBox="1"/>
          <p:nvPr/>
        </p:nvSpPr>
        <p:spPr>
          <a:xfrm>
            <a:off x="640080" y="2697480"/>
            <a:ext cx="133502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Глубоко понимаем контекст клиента и связываем опыт разных направлений в одно решение.</a:t>
            </a:r>
          </a:p>
        </p:txBody>
      </p:sp>
      <p:sp>
        <p:nvSpPr>
          <p:cNvPr id="32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pic>
        <p:nvPicPr>
          <p:cNvPr id="38" name="Editorial image / office/0" descr="exec-a12304ee-99f9-4d4b-8b35-e35ea8c91cce.png"/>
          <p:cNvPicPr>
            <a:picLocks noChangeAspect="1"/>
          </p:cNvPicPr>
          <p:nvPr/>
        </p:nvPicPr>
        <p:blipFill>
          <a:blip r:embed="rId4"/>
          <a:srcRect l="5766" r="55766" t="200" b="50200"/>
          <a:stretch>
            <a:fillRect/>
          </a:stretch>
        </p:blipFill>
        <p:spPr>
          <a:xfrm>
            <a:off x="640080" y="3611880"/>
            <a:ext cx="5166360" cy="3749039"/>
          </a:xfrm>
          <a:prstGeom prst="rect">
            <a:avLst/>
          </a:prstGeom>
        </p:spPr>
      </p:pic>
      <p:cxnSp>
        <p:nvCxnSpPr>
          <p:cNvPr id="39" name="Graphic / connection"/>
          <p:cNvCxnSpPr/>
          <p:nvPr/>
        </p:nvCxnSpPr>
        <p:spPr>
          <a:xfrm>
            <a:off x="512063" y="348386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0" name="Graphic / connection"/>
          <p:cNvCxnSpPr/>
          <p:nvPr/>
        </p:nvCxnSpPr>
        <p:spPr>
          <a:xfrm>
            <a:off x="512063" y="348386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1" name="Graphic / connection"/>
          <p:cNvCxnSpPr/>
          <p:nvPr/>
        </p:nvCxnSpPr>
        <p:spPr>
          <a:xfrm flipH="1">
            <a:off x="5660136" y="348386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2" name="Graphic / connection"/>
          <p:cNvCxnSpPr/>
          <p:nvPr/>
        </p:nvCxnSpPr>
        <p:spPr>
          <a:xfrm>
            <a:off x="5934456" y="348386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3" name="Graphic / connection"/>
          <p:cNvCxnSpPr/>
          <p:nvPr/>
        </p:nvCxnSpPr>
        <p:spPr>
          <a:xfrm>
            <a:off x="512063" y="748893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4" name="Graphic / connection"/>
          <p:cNvCxnSpPr/>
          <p:nvPr/>
        </p:nvCxnSpPr>
        <p:spPr>
          <a:xfrm flipV="1">
            <a:off x="512063" y="72146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5" name="Graphic / connection"/>
          <p:cNvCxnSpPr/>
          <p:nvPr/>
        </p:nvCxnSpPr>
        <p:spPr>
          <a:xfrm flipH="1">
            <a:off x="5660136" y="748893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6" name="Graphic / connection"/>
          <p:cNvCxnSpPr/>
          <p:nvPr/>
        </p:nvCxnSpPr>
        <p:spPr>
          <a:xfrm flipV="1">
            <a:off x="5934456" y="72146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8" name="Graphic / planar junction"/>
          <p:cNvSpPr/>
          <p:nvPr/>
        </p:nvSpPr>
        <p:spPr>
          <a:xfrm>
            <a:off x="5440680" y="36118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Colour field / D2D2CB"/>
          <p:cNvSpPr/>
          <p:nvPr/>
        </p:nvSpPr>
        <p:spPr>
          <a:xfrm>
            <a:off x="6446520" y="3566160"/>
            <a:ext cx="35204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 / 01"/>
          <p:cNvSpPr txBox="1"/>
          <p:nvPr/>
        </p:nvSpPr>
        <p:spPr>
          <a:xfrm>
            <a:off x="6446520" y="3703320"/>
            <a:ext cx="411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49" name="Text / Высокое качество"/>
          <p:cNvSpPr txBox="1"/>
          <p:nvPr/>
        </p:nvSpPr>
        <p:spPr>
          <a:xfrm>
            <a:off x="6903720" y="3657600"/>
            <a:ext cx="3063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  <a:defRPr sz="2020" b="1">
                <a:solidFill>
                  <a:srgbClr val="111110"/>
                </a:solidFill>
                <a:latin typeface="Manrope"/>
              </a:defRPr>
            </a:pPr>
            <a:r>
              <a:t>Высокое качество</a:t>
            </a:r>
          </a:p>
        </p:txBody>
      </p:sp>
      <p:sp>
        <p:nvSpPr>
          <p:cNvPr id="50" name="Text / Согласуем бизнес-цели, работаем по SLA и KPI."/>
          <p:cNvSpPr txBox="1"/>
          <p:nvPr/>
        </p:nvSpPr>
        <p:spPr>
          <a:xfrm>
            <a:off x="6903720" y="4224528"/>
            <a:ext cx="3035808" cy="6675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Согласуем бизнес-цели,</a:t>
            </a:r>
          </a:p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работаем по SLA и KPI. Берём</a:t>
            </a:r>
          </a:p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ответственность за результат.</a:t>
            </a:r>
          </a:p>
        </p:txBody>
      </p:sp>
      <p:sp>
        <p:nvSpPr>
          <p:cNvPr id="51" name="Colour field / D2D2CB"/>
          <p:cNvSpPr/>
          <p:nvPr/>
        </p:nvSpPr>
        <p:spPr>
          <a:xfrm>
            <a:off x="10241280" y="3566160"/>
            <a:ext cx="35204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 / 02"/>
          <p:cNvSpPr txBox="1"/>
          <p:nvPr/>
        </p:nvSpPr>
        <p:spPr>
          <a:xfrm>
            <a:off x="10241280" y="3703320"/>
            <a:ext cx="411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53" name="Text / Соответствие законам"/>
          <p:cNvSpPr txBox="1"/>
          <p:nvPr/>
        </p:nvSpPr>
        <p:spPr>
          <a:xfrm>
            <a:off x="10698480" y="3657600"/>
            <a:ext cx="3063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  <a:defRPr sz="2020" b="1">
                <a:solidFill>
                  <a:srgbClr val="111110"/>
                </a:solidFill>
                <a:latin typeface="Manrope"/>
              </a:defRPr>
            </a:pPr>
            <a:r>
              <a:t>Соответствие законам</a:t>
            </a:r>
          </a:p>
        </p:txBody>
      </p:sp>
      <p:sp>
        <p:nvSpPr>
          <p:cNvPr id="54" name="Text / Выстраиваем прозрачную и законную модель рабо"/>
          <p:cNvSpPr txBox="1"/>
          <p:nvPr/>
        </p:nvSpPr>
        <p:spPr>
          <a:xfrm>
            <a:off x="10698480" y="4224528"/>
            <a:ext cx="3035808" cy="6675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Выстраиваем прозрачную и</a:t>
            </a:r>
          </a:p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законную модель работы с</a:t>
            </a:r>
          </a:p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персоналом.</a:t>
            </a:r>
          </a:p>
        </p:txBody>
      </p:sp>
      <p:sp>
        <p:nvSpPr>
          <p:cNvPr id="55" name="Colour field / D2D2CB"/>
          <p:cNvSpPr/>
          <p:nvPr/>
        </p:nvSpPr>
        <p:spPr>
          <a:xfrm>
            <a:off x="6446520" y="4919472"/>
            <a:ext cx="35204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 / 03"/>
          <p:cNvSpPr txBox="1"/>
          <p:nvPr/>
        </p:nvSpPr>
        <p:spPr>
          <a:xfrm>
            <a:off x="6446520" y="5056632"/>
            <a:ext cx="411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57" name="Text / Люди — ценность"/>
          <p:cNvSpPr txBox="1"/>
          <p:nvPr/>
        </p:nvSpPr>
        <p:spPr>
          <a:xfrm>
            <a:off x="6903720" y="5010912"/>
            <a:ext cx="3063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  <a:defRPr sz="2020" b="1">
                <a:solidFill>
                  <a:srgbClr val="111110"/>
                </a:solidFill>
                <a:latin typeface="Manrope"/>
              </a:defRPr>
            </a:pPr>
            <a:r>
              <a:t>Люди — ценность</a:t>
            </a:r>
          </a:p>
        </p:txBody>
      </p:sp>
      <p:sp>
        <p:nvSpPr>
          <p:cNvPr id="58" name="Text / Учитываем мотивацию и контекст команд, помога"/>
          <p:cNvSpPr txBox="1"/>
          <p:nvPr/>
        </p:nvSpPr>
        <p:spPr>
          <a:xfrm>
            <a:off x="6903720" y="5577840"/>
            <a:ext cx="3035808" cy="6675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Учитываем мотивацию и</a:t>
            </a:r>
          </a:p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контекст команд, помогая</a:t>
            </a:r>
          </a:p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талантам раскрываться.</a:t>
            </a:r>
          </a:p>
        </p:txBody>
      </p:sp>
      <p:sp>
        <p:nvSpPr>
          <p:cNvPr id="59" name="Colour field / D2D2CB"/>
          <p:cNvSpPr/>
          <p:nvPr/>
        </p:nvSpPr>
        <p:spPr>
          <a:xfrm>
            <a:off x="10241280" y="4919472"/>
            <a:ext cx="35204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 / 04"/>
          <p:cNvSpPr txBox="1"/>
          <p:nvPr/>
        </p:nvSpPr>
        <p:spPr>
          <a:xfrm>
            <a:off x="10241280" y="5056632"/>
            <a:ext cx="411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04</a:t>
            </a:r>
          </a:p>
        </p:txBody>
      </p:sp>
      <p:sp>
        <p:nvSpPr>
          <p:cNvPr id="61" name="Text / Стратегическое партнёрство"/>
          <p:cNvSpPr txBox="1"/>
          <p:nvPr/>
        </p:nvSpPr>
        <p:spPr>
          <a:xfrm>
            <a:off x="10698480" y="5010912"/>
            <a:ext cx="3063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  <a:defRPr sz="2020" b="1">
                <a:solidFill>
                  <a:srgbClr val="111110"/>
                </a:solidFill>
                <a:latin typeface="Manrope"/>
              </a:defRPr>
            </a:pPr>
            <a:r>
              <a:t>Стратегическое</a:t>
            </a:r>
          </a:p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  <a:defRPr sz="2020" b="1">
                <a:solidFill>
                  <a:srgbClr val="111110"/>
                </a:solidFill>
                <a:latin typeface="Manrope"/>
              </a:defRPr>
            </a:pPr>
            <a:r>
              <a:t>партнёрство</a:t>
            </a:r>
          </a:p>
        </p:txBody>
      </p:sp>
      <p:sp>
        <p:nvSpPr>
          <p:cNvPr id="62" name="Text / Закрываем весь контур: от C-level и ИТ до пла"/>
          <p:cNvSpPr txBox="1"/>
          <p:nvPr/>
        </p:nvSpPr>
        <p:spPr>
          <a:xfrm>
            <a:off x="10698480" y="5577840"/>
            <a:ext cx="3035808" cy="6675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Закрываем весь контур: от</a:t>
            </a:r>
          </a:p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C-level и ИТ до платформенной</a:t>
            </a:r>
          </a:p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занятости.</a:t>
            </a:r>
          </a:p>
        </p:txBody>
      </p:sp>
      <p:sp>
        <p:nvSpPr>
          <p:cNvPr id="63" name="Colour field / D2D2CB"/>
          <p:cNvSpPr/>
          <p:nvPr/>
        </p:nvSpPr>
        <p:spPr>
          <a:xfrm>
            <a:off x="6446520" y="6272783"/>
            <a:ext cx="35204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 / 05"/>
          <p:cNvSpPr txBox="1"/>
          <p:nvPr/>
        </p:nvSpPr>
        <p:spPr>
          <a:xfrm>
            <a:off x="6446520" y="6409944"/>
            <a:ext cx="411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05</a:t>
            </a:r>
          </a:p>
        </p:txBody>
      </p:sp>
      <p:sp>
        <p:nvSpPr>
          <p:cNvPr id="65" name="Text / Скорость"/>
          <p:cNvSpPr txBox="1"/>
          <p:nvPr/>
        </p:nvSpPr>
        <p:spPr>
          <a:xfrm>
            <a:off x="6903720" y="6364223"/>
            <a:ext cx="3063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  <a:defRPr sz="2020" b="1">
                <a:solidFill>
                  <a:srgbClr val="111110"/>
                </a:solidFill>
                <a:latin typeface="Manrope"/>
              </a:defRPr>
            </a:pPr>
            <a:r>
              <a:t>Скорость</a:t>
            </a:r>
          </a:p>
        </p:txBody>
      </p:sp>
      <p:sp>
        <p:nvSpPr>
          <p:cNvPr id="66" name="Text / Работаем в темпе бизнеса, сохраняя точность и"/>
          <p:cNvSpPr txBox="1"/>
          <p:nvPr/>
        </p:nvSpPr>
        <p:spPr>
          <a:xfrm>
            <a:off x="6903720" y="6931151"/>
            <a:ext cx="3035808" cy="6675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Работаем в темпе бизнеса,</a:t>
            </a:r>
          </a:p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сохраняя точность и качество</a:t>
            </a:r>
          </a:p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решений.</a:t>
            </a:r>
          </a:p>
        </p:txBody>
      </p:sp>
      <p:sp>
        <p:nvSpPr>
          <p:cNvPr id="67" name="Colour field / D2D2CB"/>
          <p:cNvSpPr/>
          <p:nvPr/>
        </p:nvSpPr>
        <p:spPr>
          <a:xfrm>
            <a:off x="10241280" y="6272783"/>
            <a:ext cx="35204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 / 06"/>
          <p:cNvSpPr txBox="1"/>
          <p:nvPr/>
        </p:nvSpPr>
        <p:spPr>
          <a:xfrm>
            <a:off x="10241280" y="6409944"/>
            <a:ext cx="411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06</a:t>
            </a:r>
          </a:p>
        </p:txBody>
      </p:sp>
      <p:sp>
        <p:nvSpPr>
          <p:cNvPr id="69" name="Text / Масштаб без ограничений"/>
          <p:cNvSpPr txBox="1"/>
          <p:nvPr/>
        </p:nvSpPr>
        <p:spPr>
          <a:xfrm>
            <a:off x="10698480" y="6364223"/>
            <a:ext cx="3063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  <a:defRPr sz="2020" b="1">
                <a:solidFill>
                  <a:srgbClr val="111110"/>
                </a:solidFill>
                <a:latin typeface="Manrope"/>
              </a:defRPr>
            </a:pPr>
            <a:r>
              <a:t>Масштаб без</a:t>
            </a:r>
          </a:p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  <a:defRPr sz="2020" b="1">
                <a:solidFill>
                  <a:srgbClr val="111110"/>
                </a:solidFill>
                <a:latin typeface="Manrope"/>
              </a:defRPr>
            </a:pPr>
            <a:r>
              <a:t>ограничений</a:t>
            </a:r>
          </a:p>
        </p:txBody>
      </p:sp>
      <p:sp>
        <p:nvSpPr>
          <p:cNvPr id="70" name="Text / Закрываем от одной позиции до нескольких тыся"/>
          <p:cNvSpPr txBox="1"/>
          <p:nvPr/>
        </p:nvSpPr>
        <p:spPr>
          <a:xfrm>
            <a:off x="10698480" y="6931151"/>
            <a:ext cx="3035808" cy="6675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Закрываем от одной позиции до</a:t>
            </a:r>
          </a:p>
          <a:p>
            <a:pPr>
              <a:lnSpc>
                <a:spcPts val="1691"/>
              </a:lnSpc>
              <a:spcBef>
                <a:spcPts val="0"/>
              </a:spcBef>
              <a:spcAft>
                <a:spcPts val="0"/>
              </a:spcAft>
              <a:defRPr sz="1510" b="0">
                <a:solidFill>
                  <a:srgbClr val="696A65"/>
                </a:solidFill>
                <a:latin typeface="Manrope"/>
              </a:defRPr>
            </a:pPr>
            <a:r>
              <a:t>нескольких тысяч сотрудников.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СТРАНЫ ПРИСУТСТВИЯ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anrope"/>
              </a:defRPr>
            </a:pPr>
            <a:r>
              <a:rPr spc="90"/>
              <a:t>СТРАНЫ ПРИСУТСТВИЯ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99A92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5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t>05</a:t>
            </a:r>
          </a:p>
        </p:txBody>
      </p:sp>
      <p:sp>
        <p:nvSpPr>
          <p:cNvPr id="6" name="Text / География проектов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География проектов</a:t>
            </a:r>
          </a:p>
        </p:txBody>
      </p:sp>
      <p:sp>
        <p:nvSpPr>
          <p:cNvPr id="7" name="Text / 42"/>
          <p:cNvSpPr txBox="1"/>
          <p:nvPr/>
        </p:nvSpPr>
        <p:spPr>
          <a:xfrm>
            <a:off x="640080" y="2743200"/>
            <a:ext cx="2926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7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FFFFFF"/>
                </a:solidFill>
                <a:latin typeface="Manrope"/>
              </a:defRPr>
            </a:pPr>
            <a:r>
              <a:rPr spc="-80"/>
              <a:t>42</a:t>
            </a:r>
          </a:p>
        </p:txBody>
      </p:sp>
      <p:sp>
        <p:nvSpPr>
          <p:cNvPr id="8" name="Text / города: собственные офисы&#10;и инфраструктура"/>
          <p:cNvSpPr txBox="1"/>
          <p:nvPr/>
        </p:nvSpPr>
        <p:spPr>
          <a:xfrm>
            <a:off x="640080" y="3639312"/>
            <a:ext cx="2926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города: собственные офисы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и инфраструктура</a:t>
            </a:r>
          </a:p>
        </p:txBody>
      </p:sp>
      <p:sp>
        <p:nvSpPr>
          <p:cNvPr id="9" name="Text / 100+"/>
          <p:cNvSpPr txBox="1"/>
          <p:nvPr/>
        </p:nvSpPr>
        <p:spPr>
          <a:xfrm>
            <a:off x="640080" y="4434840"/>
            <a:ext cx="2926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7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FFFFFF"/>
                </a:solidFill>
                <a:latin typeface="Manrope"/>
              </a:defRPr>
            </a:pPr>
            <a:r>
              <a:rPr spc="-80"/>
              <a:t>100+</a:t>
            </a:r>
          </a:p>
        </p:txBody>
      </p:sp>
      <p:sp>
        <p:nvSpPr>
          <p:cNvPr id="10" name="Text / клиентов&#10;за пределами России"/>
          <p:cNvSpPr txBox="1"/>
          <p:nvPr/>
        </p:nvSpPr>
        <p:spPr>
          <a:xfrm>
            <a:off x="640080" y="5330952"/>
            <a:ext cx="2926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клиентов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за пределами России</a:t>
            </a:r>
          </a:p>
        </p:txBody>
      </p:sp>
      <p:sp>
        <p:nvSpPr>
          <p:cNvPr id="11" name="Text / 250+"/>
          <p:cNvSpPr txBox="1"/>
          <p:nvPr/>
        </p:nvSpPr>
        <p:spPr>
          <a:xfrm>
            <a:off x="640080" y="6126480"/>
            <a:ext cx="2926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7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FFFFFF"/>
                </a:solidFill>
                <a:latin typeface="Manrope"/>
              </a:defRPr>
            </a:pPr>
            <a:r>
              <a:rPr spc="-80"/>
              <a:t>250+</a:t>
            </a:r>
          </a:p>
        </p:txBody>
      </p:sp>
      <p:sp>
        <p:nvSpPr>
          <p:cNvPr id="12" name="Text / проектов&#10;за пределами России"/>
          <p:cNvSpPr txBox="1"/>
          <p:nvPr/>
        </p:nvSpPr>
        <p:spPr>
          <a:xfrm>
            <a:off x="640080" y="7022592"/>
            <a:ext cx="2926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проектов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за пределами России</a:t>
            </a:r>
          </a:p>
        </p:txBody>
      </p:sp>
      <p:sp>
        <p:nvSpPr>
          <p:cNvPr id="13" name="Map / Norway"/>
          <p:cNvSpPr/>
          <p:nvPr/>
        </p:nvSpPr>
        <p:spPr>
          <a:xfrm>
            <a:off x="8282581" y="2476440"/>
            <a:ext cx="169271" cy="88968"/>
          </a:xfrm>
          <a:custGeom>
            <a:avLst/>
            <a:gdLst/>
            <a:ahLst/>
            <a:cxnLst/>
            <a:rect l="l" t="t" r="r" b="b"/>
            <a:pathLst>
              <a:path w="169271" h="88968">
                <a:moveTo>
                  <a:pt x="169271" y="0"/>
                </a:moveTo>
                <a:lnTo>
                  <a:pt x="165283" y="6642"/>
                </a:lnTo>
                <a:lnTo>
                  <a:pt x="130332" y="88968"/>
                </a:lnTo>
                <a:lnTo>
                  <a:pt x="77084" y="66127"/>
                </a:lnTo>
                <a:lnTo>
                  <a:pt x="12307" y="87168"/>
                </a:lnTo>
                <a:lnTo>
                  <a:pt x="0" y="8312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Map / Norway"/>
          <p:cNvSpPr/>
          <p:nvPr/>
        </p:nvSpPr>
        <p:spPr>
          <a:xfrm>
            <a:off x="7565579" y="2885147"/>
            <a:ext cx="342965" cy="320174"/>
          </a:xfrm>
          <a:custGeom>
            <a:avLst/>
            <a:gdLst/>
            <a:ahLst/>
            <a:cxnLst/>
            <a:rect l="l" t="t" r="r" b="b"/>
            <a:pathLst>
              <a:path w="342965" h="320174">
                <a:moveTo>
                  <a:pt x="278732" y="320174"/>
                </a:moveTo>
                <a:lnTo>
                  <a:pt x="221147" y="299313"/>
                </a:lnTo>
                <a:lnTo>
                  <a:pt x="200675" y="283894"/>
                </a:lnTo>
                <a:lnTo>
                  <a:pt x="256685" y="259970"/>
                </a:lnTo>
                <a:lnTo>
                  <a:pt x="263167" y="209905"/>
                </a:lnTo>
                <a:lnTo>
                  <a:pt x="214098" y="188178"/>
                </a:lnTo>
                <a:lnTo>
                  <a:pt x="153820" y="209554"/>
                </a:lnTo>
                <a:lnTo>
                  <a:pt x="106612" y="204841"/>
                </a:lnTo>
                <a:lnTo>
                  <a:pt x="107001" y="166106"/>
                </a:lnTo>
                <a:lnTo>
                  <a:pt x="83268" y="133810"/>
                </a:lnTo>
                <a:lnTo>
                  <a:pt x="105904" y="82579"/>
                </a:lnTo>
                <a:lnTo>
                  <a:pt x="77602" y="77482"/>
                </a:lnTo>
                <a:lnTo>
                  <a:pt x="65691" y="62565"/>
                </a:lnTo>
                <a:lnTo>
                  <a:pt x="14338" y="84521"/>
                </a:lnTo>
                <a:lnTo>
                  <a:pt x="0" y="26511"/>
                </a:lnTo>
                <a:lnTo>
                  <a:pt x="53985" y="0"/>
                </a:lnTo>
                <a:lnTo>
                  <a:pt x="110786" y="10830"/>
                </a:lnTo>
                <a:lnTo>
                  <a:pt x="173702" y="49629"/>
                </a:lnTo>
                <a:lnTo>
                  <a:pt x="193239" y="93124"/>
                </a:lnTo>
                <a:lnTo>
                  <a:pt x="276186" y="93755"/>
                </a:lnTo>
                <a:lnTo>
                  <a:pt x="300183" y="138743"/>
                </a:lnTo>
                <a:lnTo>
                  <a:pt x="342151" y="170676"/>
                </a:lnTo>
                <a:lnTo>
                  <a:pt x="342965" y="278625"/>
                </a:lnTo>
                <a:lnTo>
                  <a:pt x="302559" y="262552"/>
                </a:lnTo>
                <a:lnTo>
                  <a:pt x="278732" y="32017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Map / Norway"/>
          <p:cNvSpPr/>
          <p:nvPr/>
        </p:nvSpPr>
        <p:spPr>
          <a:xfrm>
            <a:off x="8450613" y="2468880"/>
            <a:ext cx="95744" cy="134872"/>
          </a:xfrm>
          <a:custGeom>
            <a:avLst/>
            <a:gdLst/>
            <a:ahLst/>
            <a:cxnLst/>
            <a:rect l="l" t="t" r="r" b="b"/>
            <a:pathLst>
              <a:path w="95744" h="134872">
                <a:moveTo>
                  <a:pt x="95744" y="128589"/>
                </a:moveTo>
                <a:lnTo>
                  <a:pt x="45958" y="134872"/>
                </a:lnTo>
                <a:lnTo>
                  <a:pt x="10802" y="98519"/>
                </a:lnTo>
                <a:lnTo>
                  <a:pt x="0" y="47185"/>
                </a:lnTo>
                <a:lnTo>
                  <a:pt x="21380" y="32554"/>
                </a:lnTo>
                <a:lnTo>
                  <a:pt x="12045" y="10742"/>
                </a:lnTo>
                <a:lnTo>
                  <a:pt x="21374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Map / Norway"/>
          <p:cNvSpPr/>
          <p:nvPr/>
        </p:nvSpPr>
        <p:spPr>
          <a:xfrm>
            <a:off x="8301286" y="2584820"/>
            <a:ext cx="83481" cy="82295"/>
          </a:xfrm>
          <a:custGeom>
            <a:avLst/>
            <a:gdLst/>
            <a:ahLst/>
            <a:cxnLst/>
            <a:rect l="l" t="t" r="r" b="b"/>
            <a:pathLst>
              <a:path w="83481" h="82295">
                <a:moveTo>
                  <a:pt x="54130" y="82295"/>
                </a:moveTo>
                <a:lnTo>
                  <a:pt x="0" y="64036"/>
                </a:lnTo>
                <a:lnTo>
                  <a:pt x="1599" y="23658"/>
                </a:lnTo>
                <a:lnTo>
                  <a:pt x="28568" y="24018"/>
                </a:lnTo>
                <a:lnTo>
                  <a:pt x="48692" y="0"/>
                </a:lnTo>
                <a:lnTo>
                  <a:pt x="83481" y="24421"/>
                </a:lnTo>
                <a:lnTo>
                  <a:pt x="57566" y="48174"/>
                </a:lnTo>
                <a:lnTo>
                  <a:pt x="54130" y="82295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Map / Iraq"/>
          <p:cNvSpPr/>
          <p:nvPr/>
        </p:nvSpPr>
        <p:spPr>
          <a:xfrm>
            <a:off x="6012127" y="5404522"/>
            <a:ext cx="312146" cy="315898"/>
          </a:xfrm>
          <a:custGeom>
            <a:avLst/>
            <a:gdLst/>
            <a:ahLst/>
            <a:cxnLst/>
            <a:rect l="l" t="t" r="r" b="b"/>
            <a:pathLst>
              <a:path w="312146" h="315898">
                <a:moveTo>
                  <a:pt x="0" y="82118"/>
                </a:moveTo>
                <a:lnTo>
                  <a:pt x="48341" y="52893"/>
                </a:lnTo>
                <a:lnTo>
                  <a:pt x="88061" y="3022"/>
                </a:lnTo>
                <a:lnTo>
                  <a:pt x="130271" y="14333"/>
                </a:lnTo>
                <a:lnTo>
                  <a:pt x="193155" y="0"/>
                </a:lnTo>
                <a:lnTo>
                  <a:pt x="223752" y="10548"/>
                </a:lnTo>
                <a:lnTo>
                  <a:pt x="274693" y="72916"/>
                </a:lnTo>
                <a:lnTo>
                  <a:pt x="277834" y="105433"/>
                </a:lnTo>
                <a:lnTo>
                  <a:pt x="312146" y="116586"/>
                </a:lnTo>
                <a:lnTo>
                  <a:pt x="277694" y="223823"/>
                </a:lnTo>
                <a:lnTo>
                  <a:pt x="295586" y="273757"/>
                </a:lnTo>
                <a:lnTo>
                  <a:pt x="266598" y="315898"/>
                </a:lnTo>
                <a:lnTo>
                  <a:pt x="253927" y="31576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Map / North Korea"/>
          <p:cNvSpPr/>
          <p:nvPr/>
        </p:nvSpPr>
        <p:spPr>
          <a:xfrm>
            <a:off x="11620094" y="5724814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Map / North Korea"/>
          <p:cNvSpPr/>
          <p:nvPr/>
        </p:nvSpPr>
        <p:spPr>
          <a:xfrm>
            <a:off x="11337076" y="5692459"/>
            <a:ext cx="293121" cy="541800"/>
          </a:xfrm>
          <a:custGeom>
            <a:avLst/>
            <a:gdLst/>
            <a:ahLst/>
            <a:cxnLst/>
            <a:rect l="l" t="t" r="r" b="b"/>
            <a:pathLst>
              <a:path w="293121" h="541800">
                <a:moveTo>
                  <a:pt x="268122" y="23831"/>
                </a:moveTo>
                <a:lnTo>
                  <a:pt x="268123" y="23832"/>
                </a:lnTo>
                <a:lnTo>
                  <a:pt x="283017" y="32356"/>
                </a:lnTo>
                <a:lnTo>
                  <a:pt x="259860" y="39643"/>
                </a:lnTo>
                <a:lnTo>
                  <a:pt x="250053" y="77874"/>
                </a:lnTo>
                <a:lnTo>
                  <a:pt x="247454" y="112167"/>
                </a:lnTo>
                <a:lnTo>
                  <a:pt x="278855" y="164367"/>
                </a:lnTo>
                <a:lnTo>
                  <a:pt x="258626" y="196744"/>
                </a:lnTo>
                <a:lnTo>
                  <a:pt x="255623" y="215376"/>
                </a:lnTo>
                <a:lnTo>
                  <a:pt x="245870" y="249057"/>
                </a:lnTo>
                <a:lnTo>
                  <a:pt x="213933" y="281560"/>
                </a:lnTo>
                <a:lnTo>
                  <a:pt x="199131" y="314873"/>
                </a:lnTo>
                <a:lnTo>
                  <a:pt x="214047" y="348739"/>
                </a:lnTo>
                <a:lnTo>
                  <a:pt x="211433" y="360648"/>
                </a:lnTo>
                <a:lnTo>
                  <a:pt x="241257" y="361043"/>
                </a:lnTo>
                <a:lnTo>
                  <a:pt x="292079" y="376985"/>
                </a:lnTo>
                <a:lnTo>
                  <a:pt x="293121" y="399840"/>
                </a:lnTo>
                <a:lnTo>
                  <a:pt x="270270" y="418026"/>
                </a:lnTo>
                <a:lnTo>
                  <a:pt x="229681" y="443266"/>
                </a:lnTo>
                <a:lnTo>
                  <a:pt x="223332" y="489734"/>
                </a:lnTo>
                <a:lnTo>
                  <a:pt x="194746" y="500320"/>
                </a:lnTo>
                <a:lnTo>
                  <a:pt x="194323" y="509196"/>
                </a:lnTo>
                <a:lnTo>
                  <a:pt x="157503" y="508717"/>
                </a:lnTo>
                <a:lnTo>
                  <a:pt x="157032" y="526832"/>
                </a:lnTo>
                <a:lnTo>
                  <a:pt x="142024" y="541800"/>
                </a:lnTo>
                <a:lnTo>
                  <a:pt x="132988" y="528155"/>
                </a:lnTo>
                <a:lnTo>
                  <a:pt x="113731" y="528434"/>
                </a:lnTo>
                <a:lnTo>
                  <a:pt x="91464" y="523603"/>
                </a:lnTo>
                <a:lnTo>
                  <a:pt x="92393" y="481587"/>
                </a:lnTo>
                <a:lnTo>
                  <a:pt x="102473" y="465799"/>
                </a:lnTo>
                <a:lnTo>
                  <a:pt x="90464" y="454137"/>
                </a:lnTo>
                <a:lnTo>
                  <a:pt x="86150" y="405231"/>
                </a:lnTo>
                <a:lnTo>
                  <a:pt x="76311" y="394439"/>
                </a:lnTo>
                <a:lnTo>
                  <a:pt x="37599" y="402159"/>
                </a:lnTo>
                <a:lnTo>
                  <a:pt x="0" y="394150"/>
                </a:lnTo>
                <a:lnTo>
                  <a:pt x="25363" y="322520"/>
                </a:lnTo>
                <a:lnTo>
                  <a:pt x="69727" y="250952"/>
                </a:lnTo>
                <a:lnTo>
                  <a:pt x="82405" y="177837"/>
                </a:lnTo>
                <a:lnTo>
                  <a:pt x="121112" y="188098"/>
                </a:lnTo>
                <a:lnTo>
                  <a:pt x="171303" y="165791"/>
                </a:lnTo>
                <a:lnTo>
                  <a:pt x="141972" y="130752"/>
                </a:lnTo>
                <a:lnTo>
                  <a:pt x="210116" y="53249"/>
                </a:lnTo>
                <a:lnTo>
                  <a:pt x="208894" y="0"/>
                </a:lnTo>
                <a:lnTo>
                  <a:pt x="268122" y="23831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Map / South Korea"/>
          <p:cNvSpPr/>
          <p:nvPr/>
        </p:nvSpPr>
        <p:spPr>
          <a:xfrm>
            <a:off x="11531399" y="6069444"/>
            <a:ext cx="286878" cy="339877"/>
          </a:xfrm>
          <a:custGeom>
            <a:avLst/>
            <a:gdLst/>
            <a:ahLst/>
            <a:cxnLst/>
            <a:rect l="l" t="t" r="r" b="b"/>
            <a:pathLst>
              <a:path w="286878" h="339877">
                <a:moveTo>
                  <a:pt x="0" y="132211"/>
                </a:moveTo>
                <a:lnTo>
                  <a:pt x="423" y="123335"/>
                </a:lnTo>
                <a:lnTo>
                  <a:pt x="29009" y="112749"/>
                </a:lnTo>
                <a:lnTo>
                  <a:pt x="35358" y="66281"/>
                </a:lnTo>
                <a:lnTo>
                  <a:pt x="75947" y="41041"/>
                </a:lnTo>
                <a:lnTo>
                  <a:pt x="98798" y="22855"/>
                </a:lnTo>
                <a:lnTo>
                  <a:pt x="97756" y="0"/>
                </a:lnTo>
                <a:lnTo>
                  <a:pt x="196963" y="62070"/>
                </a:lnTo>
                <a:lnTo>
                  <a:pt x="238613" y="103130"/>
                </a:lnTo>
                <a:lnTo>
                  <a:pt x="286878" y="190591"/>
                </a:lnTo>
                <a:lnTo>
                  <a:pt x="286118" y="245437"/>
                </a:lnTo>
                <a:lnTo>
                  <a:pt x="265011" y="264869"/>
                </a:lnTo>
                <a:lnTo>
                  <a:pt x="117713" y="339877"/>
                </a:lnTo>
                <a:lnTo>
                  <a:pt x="102276" y="281043"/>
                </a:lnTo>
                <a:lnTo>
                  <a:pt x="34941" y="213452"/>
                </a:lnTo>
                <a:lnTo>
                  <a:pt x="74692" y="177755"/>
                </a:lnTo>
                <a:lnTo>
                  <a:pt x="0" y="132211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Map / Mongolia"/>
          <p:cNvSpPr/>
          <p:nvPr/>
        </p:nvSpPr>
        <p:spPr>
          <a:xfrm>
            <a:off x="9091116" y="5467652"/>
            <a:ext cx="1769064" cy="830753"/>
          </a:xfrm>
          <a:custGeom>
            <a:avLst/>
            <a:gdLst/>
            <a:ahLst/>
            <a:cxnLst/>
            <a:rect l="l" t="t" r="r" b="b"/>
            <a:pathLst>
              <a:path w="1769064" h="830753">
                <a:moveTo>
                  <a:pt x="0" y="212056"/>
                </a:moveTo>
                <a:lnTo>
                  <a:pt x="57917" y="203298"/>
                </a:lnTo>
                <a:lnTo>
                  <a:pt x="164620" y="140003"/>
                </a:lnTo>
                <a:lnTo>
                  <a:pt x="246278" y="105283"/>
                </a:lnTo>
                <a:lnTo>
                  <a:pt x="290920" y="132142"/>
                </a:lnTo>
                <a:lnTo>
                  <a:pt x="345710" y="134450"/>
                </a:lnTo>
                <a:lnTo>
                  <a:pt x="380733" y="173307"/>
                </a:lnTo>
                <a:lnTo>
                  <a:pt x="433779" y="176038"/>
                </a:lnTo>
                <a:lnTo>
                  <a:pt x="511290" y="195104"/>
                </a:lnTo>
                <a:lnTo>
                  <a:pt x="560520" y="135552"/>
                </a:lnTo>
                <a:lnTo>
                  <a:pt x="537186" y="87934"/>
                </a:lnTo>
                <a:lnTo>
                  <a:pt x="586128" y="0"/>
                </a:lnTo>
                <a:lnTo>
                  <a:pt x="645245" y="30356"/>
                </a:lnTo>
                <a:lnTo>
                  <a:pt x="692381" y="36330"/>
                </a:lnTo>
                <a:lnTo>
                  <a:pt x="754614" y="51765"/>
                </a:lnTo>
                <a:lnTo>
                  <a:pt x="770888" y="112258"/>
                </a:lnTo>
                <a:lnTo>
                  <a:pt x="849356" y="138149"/>
                </a:lnTo>
                <a:lnTo>
                  <a:pt x="896900" y="116366"/>
                </a:lnTo>
                <a:lnTo>
                  <a:pt x="961265" y="95828"/>
                </a:lnTo>
                <a:lnTo>
                  <a:pt x="1015174" y="97893"/>
                </a:lnTo>
                <a:lnTo>
                  <a:pt x="1073413" y="127714"/>
                </a:lnTo>
                <a:lnTo>
                  <a:pt x="1113420" y="163059"/>
                </a:lnTo>
                <a:lnTo>
                  <a:pt x="1162289" y="152185"/>
                </a:lnTo>
                <a:lnTo>
                  <a:pt x="1231702" y="150646"/>
                </a:lnTo>
                <a:lnTo>
                  <a:pt x="1275273" y="119208"/>
                </a:lnTo>
                <a:lnTo>
                  <a:pt x="1340493" y="88452"/>
                </a:lnTo>
                <a:lnTo>
                  <a:pt x="1400160" y="11522"/>
                </a:lnTo>
                <a:lnTo>
                  <a:pt x="1433112" y="11187"/>
                </a:lnTo>
                <a:lnTo>
                  <a:pt x="1467754" y="29675"/>
                </a:lnTo>
                <a:lnTo>
                  <a:pt x="1526355" y="3995"/>
                </a:lnTo>
                <a:lnTo>
                  <a:pt x="1520483" y="71374"/>
                </a:lnTo>
                <a:lnTo>
                  <a:pt x="1508131" y="161935"/>
                </a:lnTo>
                <a:lnTo>
                  <a:pt x="1531795" y="190159"/>
                </a:lnTo>
                <a:lnTo>
                  <a:pt x="1558766" y="170650"/>
                </a:lnTo>
                <a:lnTo>
                  <a:pt x="1615106" y="165857"/>
                </a:lnTo>
                <a:lnTo>
                  <a:pt x="1645737" y="123069"/>
                </a:lnTo>
                <a:lnTo>
                  <a:pt x="1696672" y="133215"/>
                </a:lnTo>
                <a:lnTo>
                  <a:pt x="1764548" y="170167"/>
                </a:lnTo>
                <a:lnTo>
                  <a:pt x="1769064" y="200048"/>
                </a:lnTo>
                <a:lnTo>
                  <a:pt x="1723588" y="206717"/>
                </a:lnTo>
                <a:lnTo>
                  <a:pt x="1648963" y="244388"/>
                </a:lnTo>
                <a:lnTo>
                  <a:pt x="1618117" y="279548"/>
                </a:lnTo>
                <a:lnTo>
                  <a:pt x="1594483" y="344948"/>
                </a:lnTo>
                <a:lnTo>
                  <a:pt x="1518415" y="401656"/>
                </a:lnTo>
                <a:lnTo>
                  <a:pt x="1473805" y="460337"/>
                </a:lnTo>
                <a:lnTo>
                  <a:pt x="1410590" y="459586"/>
                </a:lnTo>
                <a:lnTo>
                  <a:pt x="1376506" y="460424"/>
                </a:lnTo>
                <a:lnTo>
                  <a:pt x="1359062" y="520252"/>
                </a:lnTo>
                <a:lnTo>
                  <a:pt x="1385313" y="547014"/>
                </a:lnTo>
                <a:lnTo>
                  <a:pt x="1401462" y="571557"/>
                </a:lnTo>
                <a:lnTo>
                  <a:pt x="1366738" y="609077"/>
                </a:lnTo>
                <a:lnTo>
                  <a:pt x="1334017" y="662947"/>
                </a:lnTo>
                <a:lnTo>
                  <a:pt x="1269609" y="707328"/>
                </a:lnTo>
                <a:lnTo>
                  <a:pt x="1178804" y="728550"/>
                </a:lnTo>
                <a:lnTo>
                  <a:pt x="1084513" y="774746"/>
                </a:lnTo>
                <a:lnTo>
                  <a:pt x="1018965" y="830753"/>
                </a:lnTo>
                <a:lnTo>
                  <a:pt x="987613" y="808642"/>
                </a:lnTo>
                <a:lnTo>
                  <a:pt x="912141" y="818511"/>
                </a:lnTo>
                <a:lnTo>
                  <a:pt x="814585" y="777655"/>
                </a:lnTo>
                <a:lnTo>
                  <a:pt x="752416" y="770765"/>
                </a:lnTo>
                <a:lnTo>
                  <a:pt x="670976" y="788644"/>
                </a:lnTo>
                <a:lnTo>
                  <a:pt x="542188" y="776221"/>
                </a:lnTo>
                <a:lnTo>
                  <a:pt x="474040" y="780056"/>
                </a:lnTo>
                <a:lnTo>
                  <a:pt x="437158" y="730625"/>
                </a:lnTo>
                <a:lnTo>
                  <a:pt x="408941" y="653435"/>
                </a:lnTo>
                <a:lnTo>
                  <a:pt x="371867" y="644129"/>
                </a:lnTo>
                <a:lnTo>
                  <a:pt x="300616" y="591009"/>
                </a:lnTo>
                <a:lnTo>
                  <a:pt x="221445" y="576815"/>
                </a:lnTo>
                <a:lnTo>
                  <a:pt x="152254" y="559036"/>
                </a:lnTo>
                <a:lnTo>
                  <a:pt x="133452" y="521598"/>
                </a:lnTo>
                <a:lnTo>
                  <a:pt x="161522" y="425764"/>
                </a:lnTo>
                <a:lnTo>
                  <a:pt x="126934" y="356491"/>
                </a:lnTo>
                <a:lnTo>
                  <a:pt x="50214" y="319181"/>
                </a:lnTo>
                <a:lnTo>
                  <a:pt x="8264" y="271003"/>
                </a:lnTo>
                <a:lnTo>
                  <a:pt x="0" y="21205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Map / India"/>
          <p:cNvSpPr/>
          <p:nvPr/>
        </p:nvSpPr>
        <p:spPr>
          <a:xfrm>
            <a:off x="8228073" y="6716971"/>
            <a:ext cx="70706" cy="49589"/>
          </a:xfrm>
          <a:custGeom>
            <a:avLst/>
            <a:gdLst/>
            <a:ahLst/>
            <a:cxnLst/>
            <a:rect l="l" t="t" r="r" b="b"/>
            <a:pathLst>
              <a:path w="70706" h="49589">
                <a:moveTo>
                  <a:pt x="0" y="31595"/>
                </a:moveTo>
                <a:lnTo>
                  <a:pt x="49874" y="0"/>
                </a:lnTo>
                <a:lnTo>
                  <a:pt x="70706" y="49589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Map / Pakistan"/>
          <p:cNvSpPr/>
          <p:nvPr/>
        </p:nvSpPr>
        <p:spPr>
          <a:xfrm>
            <a:off x="7829341" y="6511631"/>
            <a:ext cx="448606" cy="236935"/>
          </a:xfrm>
          <a:custGeom>
            <a:avLst/>
            <a:gdLst/>
            <a:ahLst/>
            <a:cxnLst/>
            <a:rect l="l" t="t" r="r" b="b"/>
            <a:pathLst>
              <a:path w="448606" h="236935">
                <a:moveTo>
                  <a:pt x="448606" y="205340"/>
                </a:moveTo>
                <a:lnTo>
                  <a:pt x="398732" y="236935"/>
                </a:lnTo>
                <a:lnTo>
                  <a:pt x="0" y="114103"/>
                </a:lnTo>
                <a:lnTo>
                  <a:pt x="16680" y="105824"/>
                </a:lnTo>
                <a:lnTo>
                  <a:pt x="23442" y="62285"/>
                </a:lnTo>
                <a:lnTo>
                  <a:pt x="20102" y="22021"/>
                </a:lnTo>
                <a:lnTo>
                  <a:pt x="71133" y="0"/>
                </a:lnTo>
                <a:lnTo>
                  <a:pt x="147590" y="6764"/>
                </a:lnTo>
                <a:lnTo>
                  <a:pt x="226312" y="21537"/>
                </a:lnTo>
                <a:lnTo>
                  <a:pt x="264561" y="16642"/>
                </a:lnTo>
                <a:lnTo>
                  <a:pt x="305747" y="18883"/>
                </a:lnTo>
                <a:lnTo>
                  <a:pt x="343584" y="71774"/>
                </a:lnTo>
                <a:lnTo>
                  <a:pt x="345448" y="141487"/>
                </a:lnTo>
                <a:lnTo>
                  <a:pt x="448606" y="20534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Map / Afghanistan"/>
          <p:cNvSpPr/>
          <p:nvPr/>
        </p:nvSpPr>
        <p:spPr>
          <a:xfrm>
            <a:off x="7147963" y="6263926"/>
            <a:ext cx="987125" cy="361808"/>
          </a:xfrm>
          <a:custGeom>
            <a:avLst/>
            <a:gdLst/>
            <a:ahLst/>
            <a:cxnLst/>
            <a:rect l="l" t="t" r="r" b="b"/>
            <a:pathLst>
              <a:path w="987125" h="361808">
                <a:moveTo>
                  <a:pt x="436965" y="44922"/>
                </a:moveTo>
                <a:lnTo>
                  <a:pt x="471780" y="60601"/>
                </a:lnTo>
                <a:lnTo>
                  <a:pt x="512433" y="97486"/>
                </a:lnTo>
                <a:lnTo>
                  <a:pt x="527878" y="115233"/>
                </a:lnTo>
                <a:lnTo>
                  <a:pt x="584395" y="108151"/>
                </a:lnTo>
                <a:lnTo>
                  <a:pt x="599790" y="132141"/>
                </a:lnTo>
                <a:lnTo>
                  <a:pt x="634689" y="103372"/>
                </a:lnTo>
                <a:lnTo>
                  <a:pt x="672157" y="119579"/>
                </a:lnTo>
                <a:lnTo>
                  <a:pt x="686426" y="111423"/>
                </a:lnTo>
                <a:lnTo>
                  <a:pt x="705261" y="81451"/>
                </a:lnTo>
                <a:lnTo>
                  <a:pt x="742788" y="63468"/>
                </a:lnTo>
                <a:lnTo>
                  <a:pt x="770417" y="94172"/>
                </a:lnTo>
                <a:lnTo>
                  <a:pt x="754665" y="116425"/>
                </a:lnTo>
                <a:lnTo>
                  <a:pt x="772625" y="127145"/>
                </a:lnTo>
                <a:lnTo>
                  <a:pt x="742468" y="193254"/>
                </a:lnTo>
                <a:lnTo>
                  <a:pt x="758896" y="229018"/>
                </a:lnTo>
                <a:lnTo>
                  <a:pt x="787603" y="219721"/>
                </a:lnTo>
                <a:lnTo>
                  <a:pt x="819348" y="221431"/>
                </a:lnTo>
                <a:lnTo>
                  <a:pt x="872072" y="198186"/>
                </a:lnTo>
                <a:lnTo>
                  <a:pt x="914999" y="218586"/>
                </a:lnTo>
                <a:lnTo>
                  <a:pt x="982452" y="239387"/>
                </a:lnTo>
                <a:lnTo>
                  <a:pt x="987125" y="266588"/>
                </a:lnTo>
                <a:lnTo>
                  <a:pt x="945939" y="264347"/>
                </a:lnTo>
                <a:lnTo>
                  <a:pt x="907690" y="269242"/>
                </a:lnTo>
                <a:lnTo>
                  <a:pt x="828968" y="254469"/>
                </a:lnTo>
                <a:lnTo>
                  <a:pt x="752511" y="247705"/>
                </a:lnTo>
                <a:lnTo>
                  <a:pt x="701480" y="269726"/>
                </a:lnTo>
                <a:lnTo>
                  <a:pt x="704820" y="309990"/>
                </a:lnTo>
                <a:lnTo>
                  <a:pt x="698058" y="353529"/>
                </a:lnTo>
                <a:lnTo>
                  <a:pt x="681378" y="361808"/>
                </a:lnTo>
                <a:lnTo>
                  <a:pt x="0" y="60320"/>
                </a:lnTo>
                <a:lnTo>
                  <a:pt x="40010" y="17489"/>
                </a:lnTo>
                <a:lnTo>
                  <a:pt x="88796" y="80252"/>
                </a:lnTo>
                <a:lnTo>
                  <a:pt x="141843" y="94094"/>
                </a:lnTo>
                <a:lnTo>
                  <a:pt x="172620" y="65393"/>
                </a:lnTo>
                <a:lnTo>
                  <a:pt x="228232" y="77998"/>
                </a:lnTo>
                <a:lnTo>
                  <a:pt x="275204" y="71168"/>
                </a:lnTo>
                <a:lnTo>
                  <a:pt x="317146" y="14454"/>
                </a:lnTo>
                <a:lnTo>
                  <a:pt x="376725" y="23533"/>
                </a:lnTo>
                <a:lnTo>
                  <a:pt x="399117" y="0"/>
                </a:lnTo>
                <a:lnTo>
                  <a:pt x="419154" y="34169"/>
                </a:lnTo>
                <a:lnTo>
                  <a:pt x="436965" y="44922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Map / Tajikistan"/>
          <p:cNvSpPr/>
          <p:nvPr/>
        </p:nvSpPr>
        <p:spPr>
          <a:xfrm>
            <a:off x="7660396" y="6114179"/>
            <a:ext cx="486152" cy="389134"/>
          </a:xfrm>
          <a:custGeom>
            <a:avLst/>
            <a:gdLst/>
            <a:ahLst/>
            <a:cxnLst/>
            <a:rect l="l" t="t" r="r" b="b"/>
            <a:pathLst>
              <a:path w="486152" h="389134">
                <a:moveTo>
                  <a:pt x="0" y="247233"/>
                </a:moveTo>
                <a:lnTo>
                  <a:pt x="68496" y="181157"/>
                </a:lnTo>
                <a:lnTo>
                  <a:pt x="79147" y="116577"/>
                </a:lnTo>
                <a:lnTo>
                  <a:pt x="41932" y="79029"/>
                </a:lnTo>
                <a:lnTo>
                  <a:pt x="72259" y="50961"/>
                </a:lnTo>
                <a:lnTo>
                  <a:pt x="121569" y="75511"/>
                </a:lnTo>
                <a:lnTo>
                  <a:pt x="167929" y="43278"/>
                </a:lnTo>
                <a:lnTo>
                  <a:pt x="207011" y="0"/>
                </a:lnTo>
                <a:lnTo>
                  <a:pt x="294289" y="11944"/>
                </a:lnTo>
                <a:lnTo>
                  <a:pt x="268067" y="44239"/>
                </a:lnTo>
                <a:lnTo>
                  <a:pt x="268576" y="69632"/>
                </a:lnTo>
                <a:lnTo>
                  <a:pt x="294520" y="76764"/>
                </a:lnTo>
                <a:lnTo>
                  <a:pt x="263108" y="93276"/>
                </a:lnTo>
                <a:lnTo>
                  <a:pt x="201704" y="54903"/>
                </a:lnTo>
                <a:lnTo>
                  <a:pt x="178200" y="98506"/>
                </a:lnTo>
                <a:lnTo>
                  <a:pt x="247253" y="117559"/>
                </a:lnTo>
                <a:lnTo>
                  <a:pt x="314547" y="171196"/>
                </a:lnTo>
                <a:lnTo>
                  <a:pt x="437088" y="198449"/>
                </a:lnTo>
                <a:lnTo>
                  <a:pt x="429252" y="279025"/>
                </a:lnTo>
                <a:lnTo>
                  <a:pt x="452855" y="277350"/>
                </a:lnTo>
                <a:lnTo>
                  <a:pt x="486152" y="307903"/>
                </a:lnTo>
                <a:lnTo>
                  <a:pt x="474300" y="339206"/>
                </a:lnTo>
                <a:lnTo>
                  <a:pt x="470019" y="389134"/>
                </a:lnTo>
                <a:lnTo>
                  <a:pt x="402566" y="368333"/>
                </a:lnTo>
                <a:lnTo>
                  <a:pt x="359639" y="347933"/>
                </a:lnTo>
                <a:lnTo>
                  <a:pt x="306915" y="371178"/>
                </a:lnTo>
                <a:lnTo>
                  <a:pt x="275170" y="369468"/>
                </a:lnTo>
                <a:lnTo>
                  <a:pt x="246463" y="378765"/>
                </a:lnTo>
                <a:lnTo>
                  <a:pt x="230035" y="343001"/>
                </a:lnTo>
                <a:lnTo>
                  <a:pt x="260192" y="276892"/>
                </a:lnTo>
                <a:lnTo>
                  <a:pt x="242232" y="266172"/>
                </a:lnTo>
                <a:lnTo>
                  <a:pt x="257984" y="243919"/>
                </a:lnTo>
                <a:lnTo>
                  <a:pt x="230355" y="213215"/>
                </a:lnTo>
                <a:lnTo>
                  <a:pt x="192828" y="231198"/>
                </a:lnTo>
                <a:lnTo>
                  <a:pt x="173993" y="261170"/>
                </a:lnTo>
                <a:lnTo>
                  <a:pt x="159724" y="269326"/>
                </a:lnTo>
                <a:lnTo>
                  <a:pt x="122256" y="253119"/>
                </a:lnTo>
                <a:lnTo>
                  <a:pt x="87357" y="281888"/>
                </a:lnTo>
                <a:lnTo>
                  <a:pt x="71962" y="257898"/>
                </a:lnTo>
                <a:lnTo>
                  <a:pt x="15445" y="264980"/>
                </a:lnTo>
                <a:lnTo>
                  <a:pt x="0" y="24723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Map / Kyrgyzstan"/>
          <p:cNvSpPr/>
          <p:nvPr/>
        </p:nvSpPr>
        <p:spPr>
          <a:xfrm>
            <a:off x="7838596" y="5998693"/>
            <a:ext cx="730723" cy="313935"/>
          </a:xfrm>
          <a:custGeom>
            <a:avLst/>
            <a:gdLst/>
            <a:ahLst/>
            <a:cxnLst/>
            <a:rect l="l" t="t" r="r" b="b"/>
            <a:pathLst>
              <a:path w="730723" h="313935">
                <a:moveTo>
                  <a:pt x="171557" y="30034"/>
                </a:moveTo>
                <a:lnTo>
                  <a:pt x="197202" y="0"/>
                </a:lnTo>
                <a:lnTo>
                  <a:pt x="239553" y="2365"/>
                </a:lnTo>
                <a:lnTo>
                  <a:pt x="327001" y="62274"/>
                </a:lnTo>
                <a:lnTo>
                  <a:pt x="351339" y="17843"/>
                </a:lnTo>
                <a:lnTo>
                  <a:pt x="389775" y="11677"/>
                </a:lnTo>
                <a:lnTo>
                  <a:pt x="463502" y="70652"/>
                </a:lnTo>
                <a:lnTo>
                  <a:pt x="487590" y="67873"/>
                </a:lnTo>
                <a:lnTo>
                  <a:pt x="585619" y="96645"/>
                </a:lnTo>
                <a:lnTo>
                  <a:pt x="672419" y="126976"/>
                </a:lnTo>
                <a:lnTo>
                  <a:pt x="695920" y="163458"/>
                </a:lnTo>
                <a:lnTo>
                  <a:pt x="730723" y="183834"/>
                </a:lnTo>
                <a:lnTo>
                  <a:pt x="718079" y="200612"/>
                </a:lnTo>
                <a:lnTo>
                  <a:pt x="611096" y="222927"/>
                </a:lnTo>
                <a:lnTo>
                  <a:pt x="581082" y="250175"/>
                </a:lnTo>
                <a:lnTo>
                  <a:pt x="499247" y="239457"/>
                </a:lnTo>
                <a:lnTo>
                  <a:pt x="461589" y="285427"/>
                </a:lnTo>
                <a:lnTo>
                  <a:pt x="398834" y="255876"/>
                </a:lnTo>
                <a:lnTo>
                  <a:pt x="351263" y="259145"/>
                </a:lnTo>
                <a:lnTo>
                  <a:pt x="280028" y="279236"/>
                </a:lnTo>
                <a:lnTo>
                  <a:pt x="282638" y="300974"/>
                </a:lnTo>
                <a:lnTo>
                  <a:pt x="258888" y="313935"/>
                </a:lnTo>
                <a:lnTo>
                  <a:pt x="136347" y="286682"/>
                </a:lnTo>
                <a:lnTo>
                  <a:pt x="69053" y="233045"/>
                </a:lnTo>
                <a:lnTo>
                  <a:pt x="0" y="213992"/>
                </a:lnTo>
                <a:lnTo>
                  <a:pt x="23504" y="170389"/>
                </a:lnTo>
                <a:lnTo>
                  <a:pt x="84908" y="208762"/>
                </a:lnTo>
                <a:lnTo>
                  <a:pt x="116320" y="192250"/>
                </a:lnTo>
                <a:lnTo>
                  <a:pt x="160103" y="216716"/>
                </a:lnTo>
                <a:lnTo>
                  <a:pt x="258128" y="185315"/>
                </a:lnTo>
                <a:lnTo>
                  <a:pt x="200738" y="118751"/>
                </a:lnTo>
                <a:lnTo>
                  <a:pt x="150928" y="123545"/>
                </a:lnTo>
                <a:lnTo>
                  <a:pt x="117790" y="77485"/>
                </a:lnTo>
                <a:lnTo>
                  <a:pt x="186209" y="44145"/>
                </a:lnTo>
                <a:lnTo>
                  <a:pt x="171557" y="3003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Map / Turkmenistan"/>
          <p:cNvSpPr/>
          <p:nvPr/>
        </p:nvSpPr>
        <p:spPr>
          <a:xfrm>
            <a:off x="6821980" y="5522597"/>
            <a:ext cx="785758" cy="835423"/>
          </a:xfrm>
          <a:custGeom>
            <a:avLst/>
            <a:gdLst/>
            <a:ahLst/>
            <a:cxnLst/>
            <a:rect l="l" t="t" r="r" b="b"/>
            <a:pathLst>
              <a:path w="785758" h="835423">
                <a:moveTo>
                  <a:pt x="145610" y="7067"/>
                </a:moveTo>
                <a:lnTo>
                  <a:pt x="184494" y="0"/>
                </a:lnTo>
                <a:lnTo>
                  <a:pt x="252977" y="25603"/>
                </a:lnTo>
                <a:lnTo>
                  <a:pt x="275075" y="68728"/>
                </a:lnTo>
                <a:lnTo>
                  <a:pt x="275941" y="148466"/>
                </a:lnTo>
                <a:lnTo>
                  <a:pt x="305687" y="162567"/>
                </a:lnTo>
                <a:lnTo>
                  <a:pt x="367247" y="199516"/>
                </a:lnTo>
                <a:lnTo>
                  <a:pt x="380656" y="157735"/>
                </a:lnTo>
                <a:lnTo>
                  <a:pt x="441623" y="160636"/>
                </a:lnTo>
                <a:lnTo>
                  <a:pt x="511671" y="145026"/>
                </a:lnTo>
                <a:lnTo>
                  <a:pt x="562524" y="225174"/>
                </a:lnTo>
                <a:lnTo>
                  <a:pt x="535712" y="287451"/>
                </a:lnTo>
                <a:lnTo>
                  <a:pt x="548687" y="314382"/>
                </a:lnTo>
                <a:lnTo>
                  <a:pt x="611255" y="343484"/>
                </a:lnTo>
                <a:lnTo>
                  <a:pt x="623099" y="367037"/>
                </a:lnTo>
                <a:lnTo>
                  <a:pt x="611184" y="459446"/>
                </a:lnTo>
                <a:lnTo>
                  <a:pt x="651941" y="545692"/>
                </a:lnTo>
                <a:lnTo>
                  <a:pt x="673334" y="600775"/>
                </a:lnTo>
                <a:lnTo>
                  <a:pt x="718874" y="668483"/>
                </a:lnTo>
                <a:lnTo>
                  <a:pt x="785758" y="738738"/>
                </a:lnTo>
                <a:lnTo>
                  <a:pt x="762948" y="786251"/>
                </a:lnTo>
                <a:lnTo>
                  <a:pt x="745137" y="775498"/>
                </a:lnTo>
                <a:lnTo>
                  <a:pt x="725100" y="741329"/>
                </a:lnTo>
                <a:lnTo>
                  <a:pt x="702708" y="764862"/>
                </a:lnTo>
                <a:lnTo>
                  <a:pt x="643129" y="755783"/>
                </a:lnTo>
                <a:lnTo>
                  <a:pt x="601187" y="812497"/>
                </a:lnTo>
                <a:lnTo>
                  <a:pt x="554215" y="819327"/>
                </a:lnTo>
                <a:lnTo>
                  <a:pt x="498603" y="806722"/>
                </a:lnTo>
                <a:lnTo>
                  <a:pt x="467826" y="835423"/>
                </a:lnTo>
                <a:lnTo>
                  <a:pt x="414779" y="821581"/>
                </a:lnTo>
                <a:lnTo>
                  <a:pt x="365993" y="758818"/>
                </a:lnTo>
                <a:lnTo>
                  <a:pt x="394903" y="691484"/>
                </a:lnTo>
                <a:lnTo>
                  <a:pt x="350748" y="664089"/>
                </a:lnTo>
                <a:lnTo>
                  <a:pt x="319186" y="558852"/>
                </a:lnTo>
                <a:lnTo>
                  <a:pt x="276589" y="523398"/>
                </a:lnTo>
                <a:lnTo>
                  <a:pt x="234302" y="447453"/>
                </a:lnTo>
                <a:lnTo>
                  <a:pt x="197452" y="415556"/>
                </a:lnTo>
                <a:lnTo>
                  <a:pt x="163771" y="413380"/>
                </a:lnTo>
                <a:lnTo>
                  <a:pt x="126858" y="386942"/>
                </a:lnTo>
                <a:lnTo>
                  <a:pt x="59410" y="401777"/>
                </a:lnTo>
                <a:lnTo>
                  <a:pt x="0" y="382217"/>
                </a:lnTo>
                <a:lnTo>
                  <a:pt x="23665" y="324671"/>
                </a:lnTo>
                <a:lnTo>
                  <a:pt x="82119" y="255916"/>
                </a:lnTo>
                <a:lnTo>
                  <a:pt x="55800" y="202802"/>
                </a:lnTo>
                <a:lnTo>
                  <a:pt x="102880" y="164329"/>
                </a:lnTo>
                <a:lnTo>
                  <a:pt x="70154" y="135529"/>
                </a:lnTo>
                <a:lnTo>
                  <a:pt x="122969" y="85029"/>
                </a:lnTo>
                <a:lnTo>
                  <a:pt x="161139" y="136560"/>
                </a:lnTo>
                <a:lnTo>
                  <a:pt x="223191" y="145350"/>
                </a:lnTo>
                <a:lnTo>
                  <a:pt x="212780" y="77286"/>
                </a:lnTo>
                <a:lnTo>
                  <a:pt x="224950" y="27122"/>
                </a:lnTo>
                <a:lnTo>
                  <a:pt x="171094" y="16195"/>
                </a:lnTo>
                <a:lnTo>
                  <a:pt x="130265" y="63343"/>
                </a:lnTo>
                <a:lnTo>
                  <a:pt x="145610" y="706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Map / Iran"/>
          <p:cNvSpPr/>
          <p:nvPr/>
        </p:nvSpPr>
        <p:spPr>
          <a:xfrm>
            <a:off x="6266054" y="5347076"/>
            <a:ext cx="950829" cy="977170"/>
          </a:xfrm>
          <a:custGeom>
            <a:avLst/>
            <a:gdLst/>
            <a:ahLst/>
            <a:cxnLst/>
            <a:rect l="l" t="t" r="r" b="b"/>
            <a:pathLst>
              <a:path w="950829" h="977170">
                <a:moveTo>
                  <a:pt x="0" y="373209"/>
                </a:moveTo>
                <a:lnTo>
                  <a:pt x="12671" y="373344"/>
                </a:lnTo>
                <a:lnTo>
                  <a:pt x="41659" y="331203"/>
                </a:lnTo>
                <a:lnTo>
                  <a:pt x="23767" y="281269"/>
                </a:lnTo>
                <a:lnTo>
                  <a:pt x="58219" y="174032"/>
                </a:lnTo>
                <a:lnTo>
                  <a:pt x="58219" y="174031"/>
                </a:lnTo>
                <a:lnTo>
                  <a:pt x="76474" y="97739"/>
                </a:lnTo>
                <a:lnTo>
                  <a:pt x="104101" y="86825"/>
                </a:lnTo>
                <a:lnTo>
                  <a:pt x="154430" y="0"/>
                </a:lnTo>
                <a:lnTo>
                  <a:pt x="204187" y="11999"/>
                </a:lnTo>
                <a:lnTo>
                  <a:pt x="190643" y="43021"/>
                </a:lnTo>
                <a:lnTo>
                  <a:pt x="189777" y="94793"/>
                </a:lnTo>
                <a:lnTo>
                  <a:pt x="216987" y="133310"/>
                </a:lnTo>
                <a:lnTo>
                  <a:pt x="237045" y="147052"/>
                </a:lnTo>
                <a:lnTo>
                  <a:pt x="337502" y="148514"/>
                </a:lnTo>
                <a:lnTo>
                  <a:pt x="360635" y="159177"/>
                </a:lnTo>
                <a:lnTo>
                  <a:pt x="360118" y="190913"/>
                </a:lnTo>
                <a:lnTo>
                  <a:pt x="315745" y="209525"/>
                </a:lnTo>
                <a:lnTo>
                  <a:pt x="320314" y="270709"/>
                </a:lnTo>
                <a:lnTo>
                  <a:pt x="336117" y="277752"/>
                </a:lnTo>
                <a:lnTo>
                  <a:pt x="313872" y="340862"/>
                </a:lnTo>
                <a:lnTo>
                  <a:pt x="354300" y="394624"/>
                </a:lnTo>
                <a:lnTo>
                  <a:pt x="366521" y="457954"/>
                </a:lnTo>
                <a:lnTo>
                  <a:pt x="437364" y="527898"/>
                </a:lnTo>
                <a:lnTo>
                  <a:pt x="539142" y="570757"/>
                </a:lnTo>
                <a:lnTo>
                  <a:pt x="555926" y="557738"/>
                </a:lnTo>
                <a:lnTo>
                  <a:pt x="615336" y="577298"/>
                </a:lnTo>
                <a:lnTo>
                  <a:pt x="682784" y="562463"/>
                </a:lnTo>
                <a:lnTo>
                  <a:pt x="719697" y="588901"/>
                </a:lnTo>
                <a:lnTo>
                  <a:pt x="753378" y="591077"/>
                </a:lnTo>
                <a:lnTo>
                  <a:pt x="790228" y="622974"/>
                </a:lnTo>
                <a:lnTo>
                  <a:pt x="832515" y="698919"/>
                </a:lnTo>
                <a:lnTo>
                  <a:pt x="875112" y="734373"/>
                </a:lnTo>
                <a:lnTo>
                  <a:pt x="906674" y="839610"/>
                </a:lnTo>
                <a:lnTo>
                  <a:pt x="950829" y="867005"/>
                </a:lnTo>
                <a:lnTo>
                  <a:pt x="921919" y="934339"/>
                </a:lnTo>
                <a:lnTo>
                  <a:pt x="881909" y="97717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Map / Syria"/>
          <p:cNvSpPr/>
          <p:nvPr/>
        </p:nvSpPr>
        <p:spPr>
          <a:xfrm>
            <a:off x="5756087" y="5151188"/>
            <a:ext cx="449195" cy="335452"/>
          </a:xfrm>
          <a:custGeom>
            <a:avLst/>
            <a:gdLst/>
            <a:ahLst/>
            <a:cxnLst/>
            <a:rect l="l" t="t" r="r" b="b"/>
            <a:pathLst>
              <a:path w="449195" h="335452">
                <a:moveTo>
                  <a:pt x="0" y="62904"/>
                </a:moveTo>
                <a:lnTo>
                  <a:pt x="24625" y="36758"/>
                </a:lnTo>
                <a:lnTo>
                  <a:pt x="62973" y="26267"/>
                </a:lnTo>
                <a:lnTo>
                  <a:pt x="89692" y="27850"/>
                </a:lnTo>
                <a:lnTo>
                  <a:pt x="116354" y="29291"/>
                </a:lnTo>
                <a:lnTo>
                  <a:pt x="154925" y="0"/>
                </a:lnTo>
                <a:lnTo>
                  <a:pt x="157521" y="28121"/>
                </a:lnTo>
                <a:lnTo>
                  <a:pt x="226719" y="68195"/>
                </a:lnTo>
                <a:lnTo>
                  <a:pt x="240000" y="106210"/>
                </a:lnTo>
                <a:lnTo>
                  <a:pt x="279570" y="147286"/>
                </a:lnTo>
                <a:lnTo>
                  <a:pt x="358402" y="181299"/>
                </a:lnTo>
                <a:lnTo>
                  <a:pt x="383693" y="208493"/>
                </a:lnTo>
                <a:lnTo>
                  <a:pt x="449195" y="253334"/>
                </a:lnTo>
                <a:lnTo>
                  <a:pt x="386311" y="267667"/>
                </a:lnTo>
                <a:lnTo>
                  <a:pt x="344101" y="256356"/>
                </a:lnTo>
                <a:lnTo>
                  <a:pt x="304381" y="306227"/>
                </a:lnTo>
                <a:lnTo>
                  <a:pt x="256040" y="335452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Map / Armenia"/>
          <p:cNvSpPr/>
          <p:nvPr/>
        </p:nvSpPr>
        <p:spPr>
          <a:xfrm>
            <a:off x="6446023" y="5219494"/>
            <a:ext cx="123334" cy="274634"/>
          </a:xfrm>
          <a:custGeom>
            <a:avLst/>
            <a:gdLst/>
            <a:ahLst/>
            <a:cxnLst/>
            <a:rect l="l" t="t" r="r" b="b"/>
            <a:pathLst>
              <a:path w="123334" h="274634">
                <a:moveTo>
                  <a:pt x="57076" y="274634"/>
                </a:moveTo>
                <a:lnTo>
                  <a:pt x="37018" y="260892"/>
                </a:lnTo>
                <a:lnTo>
                  <a:pt x="48701" y="205683"/>
                </a:lnTo>
                <a:lnTo>
                  <a:pt x="57548" y="195915"/>
                </a:lnTo>
                <a:lnTo>
                  <a:pt x="35457" y="176947"/>
                </a:lnTo>
                <a:lnTo>
                  <a:pt x="35955" y="146905"/>
                </a:lnTo>
                <a:lnTo>
                  <a:pt x="24218" y="139581"/>
                </a:lnTo>
                <a:lnTo>
                  <a:pt x="21586" y="103850"/>
                </a:lnTo>
                <a:lnTo>
                  <a:pt x="0" y="55641"/>
                </a:lnTo>
                <a:lnTo>
                  <a:pt x="32545" y="29365"/>
                </a:lnTo>
                <a:lnTo>
                  <a:pt x="44720" y="0"/>
                </a:lnTo>
                <a:lnTo>
                  <a:pt x="119417" y="49585"/>
                </a:lnTo>
                <a:lnTo>
                  <a:pt x="114604" y="75042"/>
                </a:lnTo>
                <a:lnTo>
                  <a:pt x="123334" y="102176"/>
                </a:lnTo>
                <a:lnTo>
                  <a:pt x="99572" y="109719"/>
                </a:lnTo>
                <a:lnTo>
                  <a:pt x="106522" y="154362"/>
                </a:lnTo>
                <a:lnTo>
                  <a:pt x="74888" y="162867"/>
                </a:lnTo>
                <a:lnTo>
                  <a:pt x="80812" y="198599"/>
                </a:lnTo>
                <a:lnTo>
                  <a:pt x="94241" y="228401"/>
                </a:lnTo>
                <a:lnTo>
                  <a:pt x="57076" y="27463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Map / Sweden"/>
          <p:cNvSpPr/>
          <p:nvPr/>
        </p:nvSpPr>
        <p:spPr>
          <a:xfrm>
            <a:off x="6859777" y="2911658"/>
            <a:ext cx="783404" cy="346595"/>
          </a:xfrm>
          <a:custGeom>
            <a:avLst/>
            <a:gdLst/>
            <a:ahLst/>
            <a:cxnLst/>
            <a:rect l="l" t="t" r="r" b="b"/>
            <a:pathLst>
              <a:path w="783404" h="346595">
                <a:moveTo>
                  <a:pt x="705802" y="0"/>
                </a:moveTo>
                <a:lnTo>
                  <a:pt x="720140" y="58010"/>
                </a:lnTo>
                <a:lnTo>
                  <a:pt x="771493" y="36054"/>
                </a:lnTo>
                <a:lnTo>
                  <a:pt x="783404" y="50971"/>
                </a:lnTo>
                <a:lnTo>
                  <a:pt x="766800" y="106621"/>
                </a:lnTo>
                <a:lnTo>
                  <a:pt x="741536" y="177640"/>
                </a:lnTo>
                <a:lnTo>
                  <a:pt x="630802" y="244543"/>
                </a:lnTo>
                <a:lnTo>
                  <a:pt x="608717" y="271049"/>
                </a:lnTo>
                <a:lnTo>
                  <a:pt x="558596" y="232263"/>
                </a:lnTo>
                <a:lnTo>
                  <a:pt x="491325" y="231262"/>
                </a:lnTo>
                <a:lnTo>
                  <a:pt x="449354" y="260755"/>
                </a:lnTo>
                <a:lnTo>
                  <a:pt x="363074" y="241413"/>
                </a:lnTo>
                <a:lnTo>
                  <a:pt x="274411" y="211841"/>
                </a:lnTo>
                <a:lnTo>
                  <a:pt x="105369" y="294851"/>
                </a:lnTo>
                <a:lnTo>
                  <a:pt x="85994" y="340448"/>
                </a:lnTo>
                <a:lnTo>
                  <a:pt x="0" y="346595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ap / Ukraine"/>
          <p:cNvSpPr/>
          <p:nvPr/>
        </p:nvSpPr>
        <p:spPr>
          <a:xfrm>
            <a:off x="6152270" y="3780559"/>
            <a:ext cx="685121" cy="870010"/>
          </a:xfrm>
          <a:custGeom>
            <a:avLst/>
            <a:gdLst/>
            <a:ahLst/>
            <a:cxnLst/>
            <a:rect l="l" t="t" r="r" b="b"/>
            <a:pathLst>
              <a:path w="685121" h="870010">
                <a:moveTo>
                  <a:pt x="557453" y="323688"/>
                </a:moveTo>
                <a:lnTo>
                  <a:pt x="566395" y="340683"/>
                </a:lnTo>
                <a:lnTo>
                  <a:pt x="589023" y="339204"/>
                </a:lnTo>
                <a:lnTo>
                  <a:pt x="595249" y="353796"/>
                </a:lnTo>
                <a:lnTo>
                  <a:pt x="634190" y="389547"/>
                </a:lnTo>
                <a:lnTo>
                  <a:pt x="618767" y="444212"/>
                </a:lnTo>
                <a:lnTo>
                  <a:pt x="597763" y="445027"/>
                </a:lnTo>
                <a:lnTo>
                  <a:pt x="580743" y="464623"/>
                </a:lnTo>
                <a:lnTo>
                  <a:pt x="604123" y="498770"/>
                </a:lnTo>
                <a:lnTo>
                  <a:pt x="588857" y="536040"/>
                </a:lnTo>
                <a:lnTo>
                  <a:pt x="575773" y="545735"/>
                </a:lnTo>
                <a:lnTo>
                  <a:pt x="597811" y="615226"/>
                </a:lnTo>
                <a:lnTo>
                  <a:pt x="634593" y="636614"/>
                </a:lnTo>
                <a:lnTo>
                  <a:pt x="628132" y="686850"/>
                </a:lnTo>
                <a:lnTo>
                  <a:pt x="649993" y="708992"/>
                </a:lnTo>
                <a:lnTo>
                  <a:pt x="685121" y="784416"/>
                </a:lnTo>
                <a:lnTo>
                  <a:pt x="668224" y="801881"/>
                </a:lnTo>
                <a:lnTo>
                  <a:pt x="621799" y="816382"/>
                </a:lnTo>
                <a:lnTo>
                  <a:pt x="597503" y="856955"/>
                </a:lnTo>
                <a:lnTo>
                  <a:pt x="571594" y="870010"/>
                </a:lnTo>
                <a:lnTo>
                  <a:pt x="529913" y="835307"/>
                </a:lnTo>
                <a:lnTo>
                  <a:pt x="493288" y="830150"/>
                </a:lnTo>
                <a:lnTo>
                  <a:pt x="465046" y="853997"/>
                </a:lnTo>
                <a:lnTo>
                  <a:pt x="429537" y="825198"/>
                </a:lnTo>
                <a:lnTo>
                  <a:pt x="384206" y="815069"/>
                </a:lnTo>
                <a:lnTo>
                  <a:pt x="345598" y="777805"/>
                </a:lnTo>
                <a:lnTo>
                  <a:pt x="289866" y="760462"/>
                </a:lnTo>
                <a:lnTo>
                  <a:pt x="257660" y="791535"/>
                </a:lnTo>
                <a:lnTo>
                  <a:pt x="253931" y="783184"/>
                </a:lnTo>
                <a:lnTo>
                  <a:pt x="261683" y="766807"/>
                </a:lnTo>
                <a:lnTo>
                  <a:pt x="252256" y="750394"/>
                </a:lnTo>
                <a:lnTo>
                  <a:pt x="239938" y="707309"/>
                </a:lnTo>
                <a:lnTo>
                  <a:pt x="214304" y="708493"/>
                </a:lnTo>
                <a:lnTo>
                  <a:pt x="216362" y="696609"/>
                </a:lnTo>
                <a:lnTo>
                  <a:pt x="177475" y="613113"/>
                </a:lnTo>
                <a:lnTo>
                  <a:pt x="199704" y="591069"/>
                </a:lnTo>
                <a:lnTo>
                  <a:pt x="159575" y="555020"/>
                </a:lnTo>
                <a:lnTo>
                  <a:pt x="109991" y="565204"/>
                </a:lnTo>
                <a:lnTo>
                  <a:pt x="33522" y="565051"/>
                </a:lnTo>
                <a:lnTo>
                  <a:pt x="29692" y="535061"/>
                </a:lnTo>
                <a:lnTo>
                  <a:pt x="2812" y="520278"/>
                </a:lnTo>
                <a:lnTo>
                  <a:pt x="499" y="489998"/>
                </a:lnTo>
                <a:lnTo>
                  <a:pt x="16343" y="496926"/>
                </a:lnTo>
                <a:lnTo>
                  <a:pt x="45642" y="488876"/>
                </a:lnTo>
                <a:lnTo>
                  <a:pt x="76491" y="486534"/>
                </a:lnTo>
                <a:lnTo>
                  <a:pt x="86339" y="474611"/>
                </a:lnTo>
                <a:lnTo>
                  <a:pt x="98690" y="480572"/>
                </a:lnTo>
                <a:lnTo>
                  <a:pt x="92563" y="491859"/>
                </a:lnTo>
                <a:lnTo>
                  <a:pt x="110334" y="520810"/>
                </a:lnTo>
                <a:lnTo>
                  <a:pt x="124262" y="529491"/>
                </a:lnTo>
                <a:lnTo>
                  <a:pt x="124796" y="515874"/>
                </a:lnTo>
                <a:lnTo>
                  <a:pt x="137211" y="511850"/>
                </a:lnTo>
                <a:lnTo>
                  <a:pt x="142693" y="483332"/>
                </a:lnTo>
                <a:lnTo>
                  <a:pt x="166163" y="456415"/>
                </a:lnTo>
                <a:lnTo>
                  <a:pt x="165352" y="431851"/>
                </a:lnTo>
                <a:lnTo>
                  <a:pt x="190629" y="418846"/>
                </a:lnTo>
                <a:lnTo>
                  <a:pt x="194414" y="385469"/>
                </a:lnTo>
                <a:lnTo>
                  <a:pt x="183954" y="365003"/>
                </a:lnTo>
                <a:lnTo>
                  <a:pt x="182345" y="316865"/>
                </a:lnTo>
                <a:lnTo>
                  <a:pt x="155195" y="291021"/>
                </a:lnTo>
                <a:lnTo>
                  <a:pt x="137740" y="286768"/>
                </a:lnTo>
                <a:lnTo>
                  <a:pt x="125010" y="267236"/>
                </a:lnTo>
                <a:lnTo>
                  <a:pt x="101161" y="266048"/>
                </a:lnTo>
                <a:lnTo>
                  <a:pt x="72416" y="235685"/>
                </a:lnTo>
                <a:lnTo>
                  <a:pt x="51521" y="226293"/>
                </a:lnTo>
                <a:lnTo>
                  <a:pt x="55217" y="193637"/>
                </a:lnTo>
                <a:lnTo>
                  <a:pt x="37036" y="163016"/>
                </a:lnTo>
                <a:lnTo>
                  <a:pt x="27428" y="128806"/>
                </a:lnTo>
                <a:lnTo>
                  <a:pt x="0" y="117041"/>
                </a:lnTo>
                <a:lnTo>
                  <a:pt x="17320" y="102559"/>
                </a:lnTo>
                <a:lnTo>
                  <a:pt x="21688" y="64763"/>
                </a:lnTo>
                <a:lnTo>
                  <a:pt x="56016" y="57546"/>
                </a:lnTo>
                <a:lnTo>
                  <a:pt x="82221" y="59908"/>
                </a:lnTo>
                <a:lnTo>
                  <a:pt x="83965" y="72580"/>
                </a:lnTo>
                <a:lnTo>
                  <a:pt x="109203" y="41910"/>
                </a:lnTo>
                <a:lnTo>
                  <a:pt x="192967" y="49008"/>
                </a:lnTo>
                <a:lnTo>
                  <a:pt x="214632" y="66523"/>
                </a:lnTo>
                <a:lnTo>
                  <a:pt x="237372" y="59370"/>
                </a:lnTo>
                <a:lnTo>
                  <a:pt x="285766" y="0"/>
                </a:lnTo>
                <a:lnTo>
                  <a:pt x="301110" y="19348"/>
                </a:lnTo>
                <a:lnTo>
                  <a:pt x="334745" y="31604"/>
                </a:lnTo>
                <a:lnTo>
                  <a:pt x="357124" y="64084"/>
                </a:lnTo>
                <a:lnTo>
                  <a:pt x="379422" y="110858"/>
                </a:lnTo>
                <a:lnTo>
                  <a:pt x="394423" y="169315"/>
                </a:lnTo>
                <a:lnTo>
                  <a:pt x="415807" y="203577"/>
                </a:lnTo>
                <a:lnTo>
                  <a:pt x="417038" y="226229"/>
                </a:lnTo>
                <a:lnTo>
                  <a:pt x="439875" y="233712"/>
                </a:lnTo>
                <a:lnTo>
                  <a:pt x="431946" y="255851"/>
                </a:lnTo>
                <a:lnTo>
                  <a:pt x="462356" y="291177"/>
                </a:lnTo>
                <a:lnTo>
                  <a:pt x="468095" y="312394"/>
                </a:lnTo>
                <a:lnTo>
                  <a:pt x="503384" y="290301"/>
                </a:lnTo>
                <a:lnTo>
                  <a:pt x="527252" y="292022"/>
                </a:lnTo>
                <a:lnTo>
                  <a:pt x="557453" y="323688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ap / Poland"/>
          <p:cNvSpPr/>
          <p:nvPr/>
        </p:nvSpPr>
        <p:spPr>
          <a:xfrm>
            <a:off x="6166180" y="3415123"/>
            <a:ext cx="451930" cy="438016"/>
          </a:xfrm>
          <a:custGeom>
            <a:avLst/>
            <a:gdLst/>
            <a:ahLst/>
            <a:cxnLst/>
            <a:rect l="l" t="t" r="r" b="b"/>
            <a:pathLst>
              <a:path w="451930" h="438016">
                <a:moveTo>
                  <a:pt x="436017" y="265400"/>
                </a:moveTo>
                <a:lnTo>
                  <a:pt x="405803" y="285814"/>
                </a:lnTo>
                <a:lnTo>
                  <a:pt x="385923" y="313592"/>
                </a:lnTo>
                <a:lnTo>
                  <a:pt x="357631" y="330236"/>
                </a:lnTo>
                <a:lnTo>
                  <a:pt x="327849" y="313024"/>
                </a:lnTo>
                <a:lnTo>
                  <a:pt x="302907" y="345847"/>
                </a:lnTo>
                <a:lnTo>
                  <a:pt x="271856" y="365436"/>
                </a:lnTo>
                <a:lnTo>
                  <a:pt x="223462" y="424806"/>
                </a:lnTo>
                <a:lnTo>
                  <a:pt x="200722" y="431959"/>
                </a:lnTo>
                <a:lnTo>
                  <a:pt x="179057" y="414444"/>
                </a:lnTo>
                <a:lnTo>
                  <a:pt x="95293" y="407346"/>
                </a:lnTo>
                <a:lnTo>
                  <a:pt x="70055" y="438016"/>
                </a:lnTo>
                <a:lnTo>
                  <a:pt x="68311" y="425344"/>
                </a:lnTo>
                <a:lnTo>
                  <a:pt x="70689" y="365018"/>
                </a:lnTo>
                <a:lnTo>
                  <a:pt x="41743" y="336707"/>
                </a:lnTo>
                <a:lnTo>
                  <a:pt x="37142" y="310289"/>
                </a:lnTo>
                <a:lnTo>
                  <a:pt x="6550" y="290432"/>
                </a:lnTo>
                <a:lnTo>
                  <a:pt x="20052" y="252808"/>
                </a:lnTo>
                <a:lnTo>
                  <a:pt x="0" y="238252"/>
                </a:lnTo>
                <a:lnTo>
                  <a:pt x="3083" y="233287"/>
                </a:lnTo>
                <a:lnTo>
                  <a:pt x="28430" y="193033"/>
                </a:lnTo>
                <a:lnTo>
                  <a:pt x="21541" y="173153"/>
                </a:lnTo>
                <a:lnTo>
                  <a:pt x="374148" y="0"/>
                </a:lnTo>
                <a:lnTo>
                  <a:pt x="379521" y="30248"/>
                </a:lnTo>
                <a:lnTo>
                  <a:pt x="363216" y="42473"/>
                </a:lnTo>
                <a:lnTo>
                  <a:pt x="383332" y="84009"/>
                </a:lnTo>
                <a:lnTo>
                  <a:pt x="402832" y="140489"/>
                </a:lnTo>
                <a:lnTo>
                  <a:pt x="447103" y="216808"/>
                </a:lnTo>
                <a:lnTo>
                  <a:pt x="451930" y="242519"/>
                </a:lnTo>
                <a:lnTo>
                  <a:pt x="436017" y="26540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Map / Hungary"/>
          <p:cNvSpPr/>
          <p:nvPr/>
        </p:nvSpPr>
        <p:spPr>
          <a:xfrm>
            <a:off x="5878133" y="3670106"/>
            <a:ext cx="295825" cy="227494"/>
          </a:xfrm>
          <a:custGeom>
            <a:avLst/>
            <a:gdLst/>
            <a:ahLst/>
            <a:cxnLst/>
            <a:rect l="l" t="t" r="r" b="b"/>
            <a:pathLst>
              <a:path w="295825" h="227494">
                <a:moveTo>
                  <a:pt x="295825" y="175216"/>
                </a:moveTo>
                <a:lnTo>
                  <a:pt x="291457" y="213012"/>
                </a:lnTo>
                <a:lnTo>
                  <a:pt x="274137" y="227494"/>
                </a:lnTo>
                <a:lnTo>
                  <a:pt x="242087" y="206581"/>
                </a:lnTo>
                <a:lnTo>
                  <a:pt x="179889" y="210981"/>
                </a:lnTo>
                <a:lnTo>
                  <a:pt x="113764" y="208034"/>
                </a:lnTo>
                <a:lnTo>
                  <a:pt x="77987" y="174795"/>
                </a:lnTo>
                <a:lnTo>
                  <a:pt x="64476" y="141172"/>
                </a:lnTo>
                <a:lnTo>
                  <a:pt x="24728" y="111716"/>
                </a:lnTo>
                <a:lnTo>
                  <a:pt x="24727" y="111715"/>
                </a:lnTo>
                <a:lnTo>
                  <a:pt x="3831" y="97900"/>
                </a:lnTo>
                <a:lnTo>
                  <a:pt x="0" y="70198"/>
                </a:lnTo>
                <a:lnTo>
                  <a:pt x="142951" y="0"/>
                </a:lnTo>
                <a:lnTo>
                  <a:pt x="167794" y="30998"/>
                </a:lnTo>
                <a:lnTo>
                  <a:pt x="184687" y="27486"/>
                </a:lnTo>
                <a:lnTo>
                  <a:pt x="196860" y="45996"/>
                </a:lnTo>
                <a:lnTo>
                  <a:pt x="220664" y="64009"/>
                </a:lnTo>
                <a:lnTo>
                  <a:pt x="218729" y="71758"/>
                </a:lnTo>
                <a:lnTo>
                  <a:pt x="239986" y="89854"/>
                </a:lnTo>
                <a:lnTo>
                  <a:pt x="263267" y="92040"/>
                </a:lnTo>
                <a:lnTo>
                  <a:pt x="276245" y="105451"/>
                </a:lnTo>
                <a:lnTo>
                  <a:pt x="282661" y="169152"/>
                </a:lnTo>
                <a:lnTo>
                  <a:pt x="295825" y="17521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Map / Moldova"/>
          <p:cNvSpPr/>
          <p:nvPr/>
        </p:nvSpPr>
        <p:spPr>
          <a:xfrm>
            <a:off x="6152769" y="4067327"/>
            <a:ext cx="193915" cy="242723"/>
          </a:xfrm>
          <a:custGeom>
            <a:avLst/>
            <a:gdLst/>
            <a:ahLst/>
            <a:cxnLst/>
            <a:rect l="l" t="t" r="r" b="b"/>
            <a:pathLst>
              <a:path w="193915" h="242723">
                <a:moveTo>
                  <a:pt x="137241" y="0"/>
                </a:moveTo>
                <a:lnTo>
                  <a:pt x="154696" y="4253"/>
                </a:lnTo>
                <a:lnTo>
                  <a:pt x="181846" y="30097"/>
                </a:lnTo>
                <a:lnTo>
                  <a:pt x="183455" y="78235"/>
                </a:lnTo>
                <a:lnTo>
                  <a:pt x="193915" y="98701"/>
                </a:lnTo>
                <a:lnTo>
                  <a:pt x="190130" y="132078"/>
                </a:lnTo>
                <a:lnTo>
                  <a:pt x="164853" y="145083"/>
                </a:lnTo>
                <a:lnTo>
                  <a:pt x="165664" y="169647"/>
                </a:lnTo>
                <a:lnTo>
                  <a:pt x="142194" y="196564"/>
                </a:lnTo>
                <a:lnTo>
                  <a:pt x="136712" y="225082"/>
                </a:lnTo>
                <a:lnTo>
                  <a:pt x="124297" y="229106"/>
                </a:lnTo>
                <a:lnTo>
                  <a:pt x="123763" y="242723"/>
                </a:lnTo>
                <a:lnTo>
                  <a:pt x="109835" y="234042"/>
                </a:lnTo>
                <a:lnTo>
                  <a:pt x="92064" y="205091"/>
                </a:lnTo>
                <a:lnTo>
                  <a:pt x="98191" y="193804"/>
                </a:lnTo>
                <a:lnTo>
                  <a:pt x="85840" y="187843"/>
                </a:lnTo>
                <a:lnTo>
                  <a:pt x="75992" y="199766"/>
                </a:lnTo>
                <a:lnTo>
                  <a:pt x="45143" y="202108"/>
                </a:lnTo>
                <a:lnTo>
                  <a:pt x="15844" y="210158"/>
                </a:lnTo>
                <a:lnTo>
                  <a:pt x="0" y="203230"/>
                </a:lnTo>
                <a:lnTo>
                  <a:pt x="25441" y="173027"/>
                </a:lnTo>
                <a:lnTo>
                  <a:pt x="58220" y="157870"/>
                </a:lnTo>
                <a:lnTo>
                  <a:pt x="87278" y="135628"/>
                </a:lnTo>
                <a:lnTo>
                  <a:pt x="109716" y="80784"/>
                </a:lnTo>
                <a:lnTo>
                  <a:pt x="128851" y="46492"/>
                </a:lnTo>
                <a:lnTo>
                  <a:pt x="139784" y="18528"/>
                </a:lnTo>
                <a:lnTo>
                  <a:pt x="137241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Map / Romania"/>
          <p:cNvSpPr/>
          <p:nvPr/>
        </p:nvSpPr>
        <p:spPr>
          <a:xfrm>
            <a:off x="5866277" y="3844901"/>
            <a:ext cx="426276" cy="526612"/>
          </a:xfrm>
          <a:custGeom>
            <a:avLst/>
            <a:gdLst/>
            <a:ahLst/>
            <a:cxnLst/>
            <a:rect l="l" t="t" r="r" b="b"/>
            <a:pathLst>
              <a:path w="426276" h="526612">
                <a:moveTo>
                  <a:pt x="286492" y="425656"/>
                </a:moveTo>
                <a:lnTo>
                  <a:pt x="288805" y="455936"/>
                </a:lnTo>
                <a:lnTo>
                  <a:pt x="315685" y="470719"/>
                </a:lnTo>
                <a:lnTo>
                  <a:pt x="319515" y="500709"/>
                </a:lnTo>
                <a:lnTo>
                  <a:pt x="302825" y="514429"/>
                </a:lnTo>
                <a:lnTo>
                  <a:pt x="271469" y="501550"/>
                </a:lnTo>
                <a:lnTo>
                  <a:pt x="267467" y="482317"/>
                </a:lnTo>
                <a:lnTo>
                  <a:pt x="175025" y="526612"/>
                </a:lnTo>
                <a:lnTo>
                  <a:pt x="161995" y="492268"/>
                </a:lnTo>
                <a:lnTo>
                  <a:pt x="162607" y="438794"/>
                </a:lnTo>
                <a:lnTo>
                  <a:pt x="107319" y="390215"/>
                </a:lnTo>
                <a:lnTo>
                  <a:pt x="73086" y="376465"/>
                </a:lnTo>
                <a:lnTo>
                  <a:pt x="29836" y="298389"/>
                </a:lnTo>
                <a:lnTo>
                  <a:pt x="17173" y="251725"/>
                </a:lnTo>
                <a:lnTo>
                  <a:pt x="0" y="234613"/>
                </a:lnTo>
                <a:lnTo>
                  <a:pt x="21119" y="202288"/>
                </a:lnTo>
                <a:lnTo>
                  <a:pt x="28298" y="185480"/>
                </a:lnTo>
                <a:lnTo>
                  <a:pt x="47463" y="190416"/>
                </a:lnTo>
                <a:lnTo>
                  <a:pt x="49157" y="172475"/>
                </a:lnTo>
                <a:lnTo>
                  <a:pt x="23576" y="165520"/>
                </a:lnTo>
                <a:lnTo>
                  <a:pt x="27749" y="123306"/>
                </a:lnTo>
                <a:lnTo>
                  <a:pt x="55629" y="102490"/>
                </a:lnTo>
                <a:lnTo>
                  <a:pt x="55608" y="61639"/>
                </a:lnTo>
                <a:lnTo>
                  <a:pt x="75833" y="43205"/>
                </a:lnTo>
                <a:lnTo>
                  <a:pt x="89843" y="0"/>
                </a:lnTo>
                <a:lnTo>
                  <a:pt x="125620" y="33239"/>
                </a:lnTo>
                <a:lnTo>
                  <a:pt x="191745" y="36186"/>
                </a:lnTo>
                <a:lnTo>
                  <a:pt x="253943" y="31786"/>
                </a:lnTo>
                <a:lnTo>
                  <a:pt x="285993" y="52699"/>
                </a:lnTo>
                <a:lnTo>
                  <a:pt x="313421" y="64464"/>
                </a:lnTo>
                <a:lnTo>
                  <a:pt x="323029" y="98674"/>
                </a:lnTo>
                <a:lnTo>
                  <a:pt x="341210" y="129295"/>
                </a:lnTo>
                <a:lnTo>
                  <a:pt x="337514" y="161951"/>
                </a:lnTo>
                <a:lnTo>
                  <a:pt x="358409" y="171343"/>
                </a:lnTo>
                <a:lnTo>
                  <a:pt x="387154" y="201706"/>
                </a:lnTo>
                <a:lnTo>
                  <a:pt x="411003" y="202894"/>
                </a:lnTo>
                <a:lnTo>
                  <a:pt x="423733" y="222426"/>
                </a:lnTo>
                <a:lnTo>
                  <a:pt x="426276" y="240954"/>
                </a:lnTo>
                <a:lnTo>
                  <a:pt x="415343" y="268918"/>
                </a:lnTo>
                <a:lnTo>
                  <a:pt x="396208" y="303210"/>
                </a:lnTo>
                <a:lnTo>
                  <a:pt x="373770" y="358054"/>
                </a:lnTo>
                <a:lnTo>
                  <a:pt x="344712" y="380296"/>
                </a:lnTo>
                <a:lnTo>
                  <a:pt x="311933" y="395453"/>
                </a:lnTo>
                <a:lnTo>
                  <a:pt x="286492" y="42565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Map / Lithuania"/>
          <p:cNvSpPr/>
          <p:nvPr/>
        </p:nvSpPr>
        <p:spPr>
          <a:xfrm>
            <a:off x="6602197" y="3494660"/>
            <a:ext cx="206491" cy="256824"/>
          </a:xfrm>
          <a:custGeom>
            <a:avLst/>
            <a:gdLst/>
            <a:ahLst/>
            <a:cxnLst/>
            <a:rect l="l" t="t" r="r" b="b"/>
            <a:pathLst>
              <a:path w="206491" h="256824">
                <a:moveTo>
                  <a:pt x="194367" y="232967"/>
                </a:moveTo>
                <a:lnTo>
                  <a:pt x="165965" y="256824"/>
                </a:lnTo>
                <a:lnTo>
                  <a:pt x="122843" y="238691"/>
                </a:lnTo>
                <a:lnTo>
                  <a:pt x="77736" y="254305"/>
                </a:lnTo>
                <a:lnTo>
                  <a:pt x="23720" y="226263"/>
                </a:lnTo>
                <a:lnTo>
                  <a:pt x="0" y="185863"/>
                </a:lnTo>
                <a:lnTo>
                  <a:pt x="15913" y="162982"/>
                </a:lnTo>
                <a:lnTo>
                  <a:pt x="11086" y="137271"/>
                </a:lnTo>
                <a:lnTo>
                  <a:pt x="27340" y="123448"/>
                </a:lnTo>
                <a:lnTo>
                  <a:pt x="49372" y="116557"/>
                </a:lnTo>
                <a:lnTo>
                  <a:pt x="50270" y="91946"/>
                </a:lnTo>
                <a:lnTo>
                  <a:pt x="38723" y="41929"/>
                </a:lnTo>
                <a:lnTo>
                  <a:pt x="94551" y="0"/>
                </a:lnTo>
                <a:lnTo>
                  <a:pt x="142112" y="33478"/>
                </a:lnTo>
                <a:lnTo>
                  <a:pt x="176195" y="102167"/>
                </a:lnTo>
                <a:lnTo>
                  <a:pt x="206491" y="136145"/>
                </a:lnTo>
                <a:lnTo>
                  <a:pt x="195355" y="150620"/>
                </a:lnTo>
                <a:lnTo>
                  <a:pt x="203870" y="174069"/>
                </a:lnTo>
                <a:lnTo>
                  <a:pt x="194367" y="23296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Map / Latvia"/>
          <p:cNvSpPr/>
          <p:nvPr/>
        </p:nvSpPr>
        <p:spPr>
          <a:xfrm>
            <a:off x="6696748" y="3460556"/>
            <a:ext cx="247151" cy="306054"/>
          </a:xfrm>
          <a:custGeom>
            <a:avLst/>
            <a:gdLst/>
            <a:ahLst/>
            <a:cxnLst/>
            <a:rect l="l" t="t" r="r" b="b"/>
            <a:pathLst>
              <a:path w="247151" h="306054">
                <a:moveTo>
                  <a:pt x="247151" y="212621"/>
                </a:moveTo>
                <a:lnTo>
                  <a:pt x="243430" y="240935"/>
                </a:lnTo>
                <a:lnTo>
                  <a:pt x="212634" y="266557"/>
                </a:lnTo>
                <a:lnTo>
                  <a:pt x="180882" y="306054"/>
                </a:lnTo>
                <a:lnTo>
                  <a:pt x="126888" y="282959"/>
                </a:lnTo>
                <a:lnTo>
                  <a:pt x="99816" y="267071"/>
                </a:lnTo>
                <a:lnTo>
                  <a:pt x="109319" y="208173"/>
                </a:lnTo>
                <a:lnTo>
                  <a:pt x="100804" y="184724"/>
                </a:lnTo>
                <a:lnTo>
                  <a:pt x="111940" y="170249"/>
                </a:lnTo>
                <a:lnTo>
                  <a:pt x="81644" y="136271"/>
                </a:lnTo>
                <a:lnTo>
                  <a:pt x="47561" y="67582"/>
                </a:lnTo>
                <a:lnTo>
                  <a:pt x="0" y="34104"/>
                </a:lnTo>
                <a:lnTo>
                  <a:pt x="55050" y="5759"/>
                </a:lnTo>
                <a:lnTo>
                  <a:pt x="110871" y="0"/>
                </a:lnTo>
                <a:lnTo>
                  <a:pt x="155788" y="22326"/>
                </a:lnTo>
                <a:lnTo>
                  <a:pt x="120427" y="83687"/>
                </a:lnTo>
                <a:lnTo>
                  <a:pt x="140243" y="113686"/>
                </a:lnTo>
                <a:lnTo>
                  <a:pt x="198616" y="88145"/>
                </a:lnTo>
                <a:lnTo>
                  <a:pt x="230579" y="112178"/>
                </a:lnTo>
                <a:lnTo>
                  <a:pt x="232277" y="133758"/>
                </a:lnTo>
                <a:lnTo>
                  <a:pt x="227144" y="182131"/>
                </a:lnTo>
                <a:lnTo>
                  <a:pt x="247151" y="212621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Map / Estonia"/>
          <p:cNvSpPr/>
          <p:nvPr/>
        </p:nvSpPr>
        <p:spPr>
          <a:xfrm>
            <a:off x="6895364" y="3453763"/>
            <a:ext cx="201565" cy="220440"/>
          </a:xfrm>
          <a:custGeom>
            <a:avLst/>
            <a:gdLst/>
            <a:ahLst/>
            <a:cxnLst/>
            <a:rect l="l" t="t" r="r" b="b"/>
            <a:pathLst>
              <a:path w="201565" h="220440">
                <a:moveTo>
                  <a:pt x="201565" y="151667"/>
                </a:moveTo>
                <a:lnTo>
                  <a:pt x="201564" y="151666"/>
                </a:lnTo>
                <a:lnTo>
                  <a:pt x="193291" y="165014"/>
                </a:lnTo>
                <a:lnTo>
                  <a:pt x="137096" y="166794"/>
                </a:lnTo>
                <a:lnTo>
                  <a:pt x="80730" y="220440"/>
                </a:lnTo>
                <a:lnTo>
                  <a:pt x="48535" y="219414"/>
                </a:lnTo>
                <a:lnTo>
                  <a:pt x="28528" y="188924"/>
                </a:lnTo>
                <a:lnTo>
                  <a:pt x="33661" y="140551"/>
                </a:lnTo>
                <a:lnTo>
                  <a:pt x="31963" y="118971"/>
                </a:lnTo>
                <a:lnTo>
                  <a:pt x="0" y="94938"/>
                </a:lnTo>
                <a:lnTo>
                  <a:pt x="44050" y="73927"/>
                </a:lnTo>
                <a:lnTo>
                  <a:pt x="26927" y="65746"/>
                </a:lnTo>
                <a:lnTo>
                  <a:pt x="37971" y="27264"/>
                </a:lnTo>
                <a:lnTo>
                  <a:pt x="76796" y="0"/>
                </a:lnTo>
                <a:lnTo>
                  <a:pt x="123890" y="33633"/>
                </a:lnTo>
                <a:lnTo>
                  <a:pt x="162024" y="71818"/>
                </a:lnTo>
                <a:lnTo>
                  <a:pt x="175389" y="117218"/>
                </a:lnTo>
                <a:lnTo>
                  <a:pt x="201565" y="151665"/>
                </a:lnTo>
                <a:lnTo>
                  <a:pt x="201565" y="15166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Map / Bulgaria"/>
          <p:cNvSpPr/>
          <p:nvPr/>
        </p:nvSpPr>
        <p:spPr>
          <a:xfrm>
            <a:off x="5685463" y="4043803"/>
            <a:ext cx="355839" cy="380679"/>
          </a:xfrm>
          <a:custGeom>
            <a:avLst/>
            <a:gdLst/>
            <a:ahLst/>
            <a:cxnLst/>
            <a:rect l="l" t="t" r="r" b="b"/>
            <a:pathLst>
              <a:path w="355839" h="380679">
                <a:moveTo>
                  <a:pt x="201933" y="3386"/>
                </a:moveTo>
                <a:lnTo>
                  <a:pt x="180814" y="35711"/>
                </a:lnTo>
                <a:lnTo>
                  <a:pt x="197987" y="52823"/>
                </a:lnTo>
                <a:lnTo>
                  <a:pt x="210650" y="99487"/>
                </a:lnTo>
                <a:lnTo>
                  <a:pt x="253900" y="177563"/>
                </a:lnTo>
                <a:lnTo>
                  <a:pt x="288133" y="191313"/>
                </a:lnTo>
                <a:lnTo>
                  <a:pt x="343421" y="239892"/>
                </a:lnTo>
                <a:lnTo>
                  <a:pt x="342809" y="293366"/>
                </a:lnTo>
                <a:lnTo>
                  <a:pt x="355839" y="327710"/>
                </a:lnTo>
                <a:lnTo>
                  <a:pt x="309202" y="321515"/>
                </a:lnTo>
                <a:lnTo>
                  <a:pt x="246764" y="336887"/>
                </a:lnTo>
                <a:lnTo>
                  <a:pt x="218348" y="380679"/>
                </a:lnTo>
                <a:lnTo>
                  <a:pt x="197476" y="329619"/>
                </a:lnTo>
                <a:lnTo>
                  <a:pt x="140125" y="290740"/>
                </a:lnTo>
                <a:lnTo>
                  <a:pt x="104354" y="313041"/>
                </a:lnTo>
                <a:lnTo>
                  <a:pt x="66513" y="268528"/>
                </a:lnTo>
                <a:lnTo>
                  <a:pt x="68052" y="214902"/>
                </a:lnTo>
                <a:lnTo>
                  <a:pt x="21823" y="183497"/>
                </a:lnTo>
                <a:lnTo>
                  <a:pt x="0" y="141731"/>
                </a:lnTo>
                <a:lnTo>
                  <a:pt x="46080" y="109685"/>
                </a:lnTo>
                <a:lnTo>
                  <a:pt x="53881" y="68983"/>
                </a:lnTo>
                <a:lnTo>
                  <a:pt x="69309" y="71946"/>
                </a:lnTo>
                <a:lnTo>
                  <a:pt x="74651" y="61105"/>
                </a:lnTo>
                <a:lnTo>
                  <a:pt x="103084" y="56763"/>
                </a:lnTo>
                <a:lnTo>
                  <a:pt x="137614" y="63832"/>
                </a:lnTo>
                <a:lnTo>
                  <a:pt x="154142" y="19974"/>
                </a:lnTo>
                <a:lnTo>
                  <a:pt x="178033" y="0"/>
                </a:lnTo>
                <a:lnTo>
                  <a:pt x="201933" y="338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Map / Greece"/>
          <p:cNvSpPr/>
          <p:nvPr/>
        </p:nvSpPr>
        <p:spPr>
          <a:xfrm>
            <a:off x="5256538" y="4474428"/>
            <a:ext cx="105695" cy="180863"/>
          </a:xfrm>
          <a:custGeom>
            <a:avLst/>
            <a:gdLst/>
            <a:ahLst/>
            <a:cxnLst/>
            <a:rect l="l" t="t" r="r" b="b"/>
            <a:pathLst>
              <a:path w="105695" h="180863">
                <a:moveTo>
                  <a:pt x="105695" y="174339"/>
                </a:moveTo>
                <a:lnTo>
                  <a:pt x="79266" y="180863"/>
                </a:lnTo>
                <a:lnTo>
                  <a:pt x="75616" y="176021"/>
                </a:lnTo>
                <a:lnTo>
                  <a:pt x="24038" y="94415"/>
                </a:lnTo>
                <a:lnTo>
                  <a:pt x="30539" y="90828"/>
                </a:lnTo>
                <a:lnTo>
                  <a:pt x="0" y="7683"/>
                </a:lnTo>
                <a:lnTo>
                  <a:pt x="38485" y="0"/>
                </a:lnTo>
                <a:lnTo>
                  <a:pt x="33378" y="48292"/>
                </a:lnTo>
                <a:lnTo>
                  <a:pt x="66597" y="92717"/>
                </a:lnTo>
                <a:lnTo>
                  <a:pt x="89593" y="140681"/>
                </a:lnTo>
                <a:lnTo>
                  <a:pt x="75890" y="147398"/>
                </a:lnTo>
                <a:lnTo>
                  <a:pt x="105695" y="174339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Map / Greece"/>
          <p:cNvSpPr/>
          <p:nvPr/>
        </p:nvSpPr>
        <p:spPr>
          <a:xfrm>
            <a:off x="5304874" y="4095657"/>
            <a:ext cx="520714" cy="314096"/>
          </a:xfrm>
          <a:custGeom>
            <a:avLst/>
            <a:gdLst/>
            <a:ahLst/>
            <a:cxnLst/>
            <a:rect l="l" t="t" r="r" b="b"/>
            <a:pathLst>
              <a:path w="520714" h="314096">
                <a:moveTo>
                  <a:pt x="380589" y="89877"/>
                </a:moveTo>
                <a:lnTo>
                  <a:pt x="402412" y="131643"/>
                </a:lnTo>
                <a:lnTo>
                  <a:pt x="448641" y="163048"/>
                </a:lnTo>
                <a:lnTo>
                  <a:pt x="447102" y="216674"/>
                </a:lnTo>
                <a:lnTo>
                  <a:pt x="484943" y="261187"/>
                </a:lnTo>
                <a:lnTo>
                  <a:pt x="520714" y="238886"/>
                </a:lnTo>
                <a:lnTo>
                  <a:pt x="518745" y="276896"/>
                </a:lnTo>
                <a:lnTo>
                  <a:pt x="463557" y="289393"/>
                </a:lnTo>
                <a:lnTo>
                  <a:pt x="447279" y="281768"/>
                </a:lnTo>
                <a:lnTo>
                  <a:pt x="428243" y="247501"/>
                </a:lnTo>
                <a:lnTo>
                  <a:pt x="417244" y="214888"/>
                </a:lnTo>
                <a:lnTo>
                  <a:pt x="357882" y="159973"/>
                </a:lnTo>
                <a:lnTo>
                  <a:pt x="340225" y="223118"/>
                </a:lnTo>
                <a:lnTo>
                  <a:pt x="311175" y="202006"/>
                </a:lnTo>
                <a:lnTo>
                  <a:pt x="292471" y="170817"/>
                </a:lnTo>
                <a:lnTo>
                  <a:pt x="312908" y="119004"/>
                </a:lnTo>
                <a:lnTo>
                  <a:pt x="290664" y="117829"/>
                </a:lnTo>
                <a:lnTo>
                  <a:pt x="253951" y="155959"/>
                </a:lnTo>
                <a:lnTo>
                  <a:pt x="236071" y="204692"/>
                </a:lnTo>
                <a:lnTo>
                  <a:pt x="207241" y="192609"/>
                </a:lnTo>
                <a:lnTo>
                  <a:pt x="192118" y="244703"/>
                </a:lnTo>
                <a:lnTo>
                  <a:pt x="187901" y="286057"/>
                </a:lnTo>
                <a:lnTo>
                  <a:pt x="146862" y="312056"/>
                </a:lnTo>
                <a:lnTo>
                  <a:pt x="134266" y="246358"/>
                </a:lnTo>
                <a:lnTo>
                  <a:pt x="106652" y="285968"/>
                </a:lnTo>
                <a:lnTo>
                  <a:pt x="76840" y="253005"/>
                </a:lnTo>
                <a:lnTo>
                  <a:pt x="24191" y="314096"/>
                </a:lnTo>
                <a:lnTo>
                  <a:pt x="0" y="274609"/>
                </a:lnTo>
                <a:lnTo>
                  <a:pt x="4674" y="206517"/>
                </a:lnTo>
                <a:lnTo>
                  <a:pt x="52503" y="150506"/>
                </a:lnTo>
                <a:lnTo>
                  <a:pt x="96897" y="112556"/>
                </a:lnTo>
                <a:lnTo>
                  <a:pt x="118991" y="70741"/>
                </a:lnTo>
                <a:lnTo>
                  <a:pt x="145889" y="17704"/>
                </a:lnTo>
                <a:lnTo>
                  <a:pt x="165268" y="2366"/>
                </a:lnTo>
                <a:lnTo>
                  <a:pt x="216060" y="9701"/>
                </a:lnTo>
                <a:lnTo>
                  <a:pt x="242243" y="0"/>
                </a:lnTo>
                <a:lnTo>
                  <a:pt x="263097" y="12574"/>
                </a:lnTo>
                <a:lnTo>
                  <a:pt x="283295" y="3009"/>
                </a:lnTo>
                <a:lnTo>
                  <a:pt x="310172" y="36104"/>
                </a:lnTo>
                <a:lnTo>
                  <a:pt x="338286" y="48268"/>
                </a:lnTo>
                <a:lnTo>
                  <a:pt x="354024" y="79126"/>
                </a:lnTo>
                <a:lnTo>
                  <a:pt x="372061" y="80808"/>
                </a:lnTo>
                <a:lnTo>
                  <a:pt x="380589" y="8987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Map / Turkey"/>
          <p:cNvSpPr/>
          <p:nvPr/>
        </p:nvSpPr>
        <p:spPr>
          <a:xfrm>
            <a:off x="5513008" y="4446522"/>
            <a:ext cx="977735" cy="1074586"/>
          </a:xfrm>
          <a:custGeom>
            <a:avLst/>
            <a:gdLst/>
            <a:ahLst/>
            <a:cxnLst/>
            <a:rect l="l" t="t" r="r" b="b"/>
            <a:pathLst>
              <a:path w="977735" h="1074586">
                <a:moveTo>
                  <a:pt x="811265" y="1074586"/>
                </a:moveTo>
                <a:lnTo>
                  <a:pt x="776953" y="1063433"/>
                </a:lnTo>
                <a:lnTo>
                  <a:pt x="773812" y="1030916"/>
                </a:lnTo>
                <a:lnTo>
                  <a:pt x="722871" y="968548"/>
                </a:lnTo>
                <a:lnTo>
                  <a:pt x="692274" y="958000"/>
                </a:lnTo>
                <a:lnTo>
                  <a:pt x="626772" y="913159"/>
                </a:lnTo>
                <a:lnTo>
                  <a:pt x="601481" y="885965"/>
                </a:lnTo>
                <a:lnTo>
                  <a:pt x="522649" y="851952"/>
                </a:lnTo>
                <a:lnTo>
                  <a:pt x="483079" y="810876"/>
                </a:lnTo>
                <a:lnTo>
                  <a:pt x="469798" y="772861"/>
                </a:lnTo>
                <a:lnTo>
                  <a:pt x="400600" y="732787"/>
                </a:lnTo>
                <a:lnTo>
                  <a:pt x="398004" y="704666"/>
                </a:lnTo>
                <a:lnTo>
                  <a:pt x="359433" y="733957"/>
                </a:lnTo>
                <a:lnTo>
                  <a:pt x="332771" y="732516"/>
                </a:lnTo>
                <a:lnTo>
                  <a:pt x="306052" y="730933"/>
                </a:lnTo>
                <a:lnTo>
                  <a:pt x="318786" y="685636"/>
                </a:lnTo>
                <a:lnTo>
                  <a:pt x="360637" y="684163"/>
                </a:lnTo>
                <a:lnTo>
                  <a:pt x="327301" y="657002"/>
                </a:lnTo>
                <a:lnTo>
                  <a:pt x="304893" y="599903"/>
                </a:lnTo>
                <a:lnTo>
                  <a:pt x="235986" y="594949"/>
                </a:lnTo>
                <a:lnTo>
                  <a:pt x="161784" y="518257"/>
                </a:lnTo>
                <a:lnTo>
                  <a:pt x="163850" y="445138"/>
                </a:lnTo>
                <a:lnTo>
                  <a:pt x="121081" y="383697"/>
                </a:lnTo>
                <a:lnTo>
                  <a:pt x="82657" y="392178"/>
                </a:lnTo>
                <a:lnTo>
                  <a:pt x="45831" y="359194"/>
                </a:lnTo>
                <a:lnTo>
                  <a:pt x="44297" y="277528"/>
                </a:lnTo>
                <a:lnTo>
                  <a:pt x="0" y="216062"/>
                </a:lnTo>
                <a:lnTo>
                  <a:pt x="48505" y="134373"/>
                </a:lnTo>
                <a:lnTo>
                  <a:pt x="61107" y="66772"/>
                </a:lnTo>
                <a:lnTo>
                  <a:pt x="134708" y="57477"/>
                </a:lnTo>
                <a:lnTo>
                  <a:pt x="145908" y="0"/>
                </a:lnTo>
                <a:lnTo>
                  <a:pt x="253813" y="15656"/>
                </a:lnTo>
                <a:lnTo>
                  <a:pt x="313036" y="95862"/>
                </a:lnTo>
                <a:lnTo>
                  <a:pt x="381268" y="80599"/>
                </a:lnTo>
                <a:lnTo>
                  <a:pt x="444178" y="185322"/>
                </a:lnTo>
                <a:lnTo>
                  <a:pt x="534257" y="212369"/>
                </a:lnTo>
                <a:lnTo>
                  <a:pt x="598643" y="254856"/>
                </a:lnTo>
                <a:lnTo>
                  <a:pt x="666349" y="333586"/>
                </a:lnTo>
                <a:lnTo>
                  <a:pt x="693930" y="455867"/>
                </a:lnTo>
                <a:lnTo>
                  <a:pt x="731522" y="545587"/>
                </a:lnTo>
                <a:lnTo>
                  <a:pt x="792323" y="590646"/>
                </a:lnTo>
                <a:lnTo>
                  <a:pt x="825399" y="635291"/>
                </a:lnTo>
                <a:lnTo>
                  <a:pt x="909910" y="656893"/>
                </a:lnTo>
                <a:lnTo>
                  <a:pt x="961339" y="700761"/>
                </a:lnTo>
                <a:lnTo>
                  <a:pt x="977735" y="772972"/>
                </a:lnTo>
                <a:lnTo>
                  <a:pt x="965560" y="802337"/>
                </a:lnTo>
                <a:lnTo>
                  <a:pt x="933015" y="828613"/>
                </a:lnTo>
                <a:lnTo>
                  <a:pt x="954601" y="876822"/>
                </a:lnTo>
                <a:lnTo>
                  <a:pt x="957233" y="912553"/>
                </a:lnTo>
                <a:lnTo>
                  <a:pt x="907476" y="900554"/>
                </a:lnTo>
                <a:lnTo>
                  <a:pt x="857147" y="987379"/>
                </a:lnTo>
                <a:lnTo>
                  <a:pt x="829520" y="998293"/>
                </a:lnTo>
                <a:lnTo>
                  <a:pt x="811265" y="1074585"/>
                </a:lnTo>
                <a:lnTo>
                  <a:pt x="811265" y="107458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Map / Turkey"/>
          <p:cNvSpPr/>
          <p:nvPr/>
        </p:nvSpPr>
        <p:spPr>
          <a:xfrm>
            <a:off x="5714805" y="4334543"/>
            <a:ext cx="189006" cy="178067"/>
          </a:xfrm>
          <a:custGeom>
            <a:avLst/>
            <a:gdLst/>
            <a:ahLst/>
            <a:cxnLst/>
            <a:rect l="l" t="t" r="r" b="b"/>
            <a:pathLst>
              <a:path w="189006" h="178067">
                <a:moveTo>
                  <a:pt x="110783" y="0"/>
                </a:moveTo>
                <a:lnTo>
                  <a:pt x="168134" y="38879"/>
                </a:lnTo>
                <a:lnTo>
                  <a:pt x="189006" y="89939"/>
                </a:lnTo>
                <a:lnTo>
                  <a:pt x="166452" y="114519"/>
                </a:lnTo>
                <a:lnTo>
                  <a:pt x="175719" y="175590"/>
                </a:lnTo>
                <a:lnTo>
                  <a:pt x="152057" y="178067"/>
                </a:lnTo>
                <a:lnTo>
                  <a:pt x="105043" y="118203"/>
                </a:lnTo>
                <a:lnTo>
                  <a:pt x="67970" y="110140"/>
                </a:lnTo>
                <a:lnTo>
                  <a:pt x="0" y="90295"/>
                </a:lnTo>
                <a:lnTo>
                  <a:pt x="22148" y="51647"/>
                </a:lnTo>
                <a:lnTo>
                  <a:pt x="37348" y="42882"/>
                </a:lnTo>
                <a:lnTo>
                  <a:pt x="53626" y="50507"/>
                </a:lnTo>
                <a:lnTo>
                  <a:pt x="108814" y="38010"/>
                </a:lnTo>
                <a:lnTo>
                  <a:pt x="110783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Map / Albania"/>
          <p:cNvSpPr/>
          <p:nvPr/>
        </p:nvSpPr>
        <p:spPr>
          <a:xfrm>
            <a:off x="5470142" y="3948939"/>
            <a:ext cx="219716" cy="159292"/>
          </a:xfrm>
          <a:custGeom>
            <a:avLst/>
            <a:gdLst/>
            <a:ahLst/>
            <a:cxnLst/>
            <a:rect l="l" t="t" r="r" b="b"/>
            <a:pathLst>
              <a:path w="219716" h="159292">
                <a:moveTo>
                  <a:pt x="118027" y="149727"/>
                </a:moveTo>
                <a:lnTo>
                  <a:pt x="97829" y="159292"/>
                </a:lnTo>
                <a:lnTo>
                  <a:pt x="76975" y="146718"/>
                </a:lnTo>
                <a:lnTo>
                  <a:pt x="50792" y="156419"/>
                </a:lnTo>
                <a:lnTo>
                  <a:pt x="0" y="149084"/>
                </a:lnTo>
                <a:lnTo>
                  <a:pt x="60" y="136423"/>
                </a:lnTo>
                <a:lnTo>
                  <a:pt x="16042" y="126521"/>
                </a:lnTo>
                <a:lnTo>
                  <a:pt x="24699" y="81304"/>
                </a:lnTo>
                <a:lnTo>
                  <a:pt x="58114" y="57740"/>
                </a:lnTo>
                <a:lnTo>
                  <a:pt x="112016" y="36017"/>
                </a:lnTo>
                <a:lnTo>
                  <a:pt x="139321" y="31611"/>
                </a:lnTo>
                <a:lnTo>
                  <a:pt x="146279" y="16068"/>
                </a:lnTo>
                <a:lnTo>
                  <a:pt x="146279" y="16068"/>
                </a:lnTo>
                <a:lnTo>
                  <a:pt x="168241" y="0"/>
                </a:lnTo>
                <a:lnTo>
                  <a:pt x="217549" y="4830"/>
                </a:lnTo>
                <a:lnTo>
                  <a:pt x="205323" y="15680"/>
                </a:lnTo>
                <a:lnTo>
                  <a:pt x="219716" y="26997"/>
                </a:lnTo>
                <a:lnTo>
                  <a:pt x="205937" y="49323"/>
                </a:lnTo>
                <a:lnTo>
                  <a:pt x="205364" y="66574"/>
                </a:lnTo>
                <a:lnTo>
                  <a:pt x="180396" y="84799"/>
                </a:lnTo>
                <a:lnTo>
                  <a:pt x="180395" y="84799"/>
                </a:lnTo>
                <a:lnTo>
                  <a:pt x="151235" y="91353"/>
                </a:lnTo>
                <a:lnTo>
                  <a:pt x="123508" y="116516"/>
                </a:lnTo>
                <a:lnTo>
                  <a:pt x="118027" y="14972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Map / Croatia"/>
          <p:cNvSpPr/>
          <p:nvPr/>
        </p:nvSpPr>
        <p:spPr>
          <a:xfrm>
            <a:off x="5635678" y="3740304"/>
            <a:ext cx="267182" cy="150248"/>
          </a:xfrm>
          <a:custGeom>
            <a:avLst/>
            <a:gdLst/>
            <a:ahLst/>
            <a:cxnLst/>
            <a:rect l="l" t="t" r="r" b="b"/>
            <a:pathLst>
              <a:path w="267182" h="150248">
                <a:moveTo>
                  <a:pt x="242455" y="0"/>
                </a:moveTo>
                <a:lnTo>
                  <a:pt x="246286" y="27702"/>
                </a:lnTo>
                <a:lnTo>
                  <a:pt x="267182" y="41517"/>
                </a:lnTo>
                <a:lnTo>
                  <a:pt x="244775" y="68789"/>
                </a:lnTo>
                <a:lnTo>
                  <a:pt x="232108" y="96250"/>
                </a:lnTo>
                <a:lnTo>
                  <a:pt x="193727" y="90367"/>
                </a:lnTo>
                <a:lnTo>
                  <a:pt x="198187" y="58129"/>
                </a:lnTo>
                <a:lnTo>
                  <a:pt x="182840" y="29275"/>
                </a:lnTo>
                <a:lnTo>
                  <a:pt x="18562" y="109946"/>
                </a:lnTo>
                <a:lnTo>
                  <a:pt x="15877" y="149944"/>
                </a:lnTo>
                <a:lnTo>
                  <a:pt x="0" y="150248"/>
                </a:lnTo>
                <a:lnTo>
                  <a:pt x="0" y="150248"/>
                </a:lnTo>
                <a:lnTo>
                  <a:pt x="985" y="11857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ap / China"/>
          <p:cNvSpPr/>
          <p:nvPr/>
        </p:nvSpPr>
        <p:spPr>
          <a:xfrm>
            <a:off x="8089648" y="5063559"/>
            <a:ext cx="3526441" cy="1703001"/>
          </a:xfrm>
          <a:custGeom>
            <a:avLst/>
            <a:gdLst/>
            <a:ahLst/>
            <a:cxnLst/>
            <a:rect l="l" t="t" r="r" b="b"/>
            <a:pathLst>
              <a:path w="3526441" h="1703001">
                <a:moveTo>
                  <a:pt x="479671" y="1118968"/>
                </a:moveTo>
                <a:lnTo>
                  <a:pt x="485033" y="1070955"/>
                </a:lnTo>
                <a:lnTo>
                  <a:pt x="530867" y="1058301"/>
                </a:lnTo>
                <a:lnTo>
                  <a:pt x="508327" y="904431"/>
                </a:lnTo>
                <a:lnTo>
                  <a:pt x="629539" y="895308"/>
                </a:lnTo>
                <a:lnTo>
                  <a:pt x="662458" y="882555"/>
                </a:lnTo>
                <a:lnTo>
                  <a:pt x="729396" y="742983"/>
                </a:lnTo>
                <a:lnTo>
                  <a:pt x="835894" y="787507"/>
                </a:lnTo>
                <a:lnTo>
                  <a:pt x="872176" y="754618"/>
                </a:lnTo>
                <a:lnTo>
                  <a:pt x="885921" y="672493"/>
                </a:lnTo>
                <a:lnTo>
                  <a:pt x="932152" y="670616"/>
                </a:lnTo>
                <a:lnTo>
                  <a:pt x="979721" y="620642"/>
                </a:lnTo>
                <a:lnTo>
                  <a:pt x="1001468" y="616149"/>
                </a:lnTo>
                <a:lnTo>
                  <a:pt x="1009732" y="675096"/>
                </a:lnTo>
                <a:lnTo>
                  <a:pt x="1051682" y="723274"/>
                </a:lnTo>
                <a:lnTo>
                  <a:pt x="1128402" y="760584"/>
                </a:lnTo>
                <a:lnTo>
                  <a:pt x="1162990" y="829857"/>
                </a:lnTo>
                <a:lnTo>
                  <a:pt x="1134920" y="925691"/>
                </a:lnTo>
                <a:lnTo>
                  <a:pt x="1153722" y="963129"/>
                </a:lnTo>
                <a:lnTo>
                  <a:pt x="1222913" y="980908"/>
                </a:lnTo>
                <a:lnTo>
                  <a:pt x="1302084" y="995102"/>
                </a:lnTo>
                <a:lnTo>
                  <a:pt x="1373335" y="1048222"/>
                </a:lnTo>
                <a:lnTo>
                  <a:pt x="1410409" y="1057528"/>
                </a:lnTo>
                <a:lnTo>
                  <a:pt x="1438626" y="1134718"/>
                </a:lnTo>
                <a:lnTo>
                  <a:pt x="1475508" y="1184149"/>
                </a:lnTo>
                <a:lnTo>
                  <a:pt x="1543656" y="1180314"/>
                </a:lnTo>
                <a:lnTo>
                  <a:pt x="1672444" y="1192737"/>
                </a:lnTo>
                <a:lnTo>
                  <a:pt x="1753884" y="1174858"/>
                </a:lnTo>
                <a:lnTo>
                  <a:pt x="1816053" y="1181748"/>
                </a:lnTo>
                <a:lnTo>
                  <a:pt x="1913609" y="1222604"/>
                </a:lnTo>
                <a:lnTo>
                  <a:pt x="1989081" y="1212735"/>
                </a:lnTo>
                <a:lnTo>
                  <a:pt x="2020433" y="1234846"/>
                </a:lnTo>
                <a:lnTo>
                  <a:pt x="2085981" y="1178839"/>
                </a:lnTo>
                <a:lnTo>
                  <a:pt x="2180272" y="1132643"/>
                </a:lnTo>
                <a:lnTo>
                  <a:pt x="2271077" y="1111421"/>
                </a:lnTo>
                <a:lnTo>
                  <a:pt x="2335485" y="1067040"/>
                </a:lnTo>
                <a:lnTo>
                  <a:pt x="2368206" y="1013170"/>
                </a:lnTo>
                <a:lnTo>
                  <a:pt x="2402930" y="975650"/>
                </a:lnTo>
                <a:lnTo>
                  <a:pt x="2386781" y="951107"/>
                </a:lnTo>
                <a:lnTo>
                  <a:pt x="2360530" y="924345"/>
                </a:lnTo>
                <a:lnTo>
                  <a:pt x="2377974" y="864517"/>
                </a:lnTo>
                <a:lnTo>
                  <a:pt x="2412058" y="863679"/>
                </a:lnTo>
                <a:lnTo>
                  <a:pt x="2475273" y="864430"/>
                </a:lnTo>
                <a:lnTo>
                  <a:pt x="2519883" y="805749"/>
                </a:lnTo>
                <a:lnTo>
                  <a:pt x="2595951" y="749041"/>
                </a:lnTo>
                <a:lnTo>
                  <a:pt x="2619585" y="683641"/>
                </a:lnTo>
                <a:lnTo>
                  <a:pt x="2650431" y="648481"/>
                </a:lnTo>
                <a:lnTo>
                  <a:pt x="2725056" y="610810"/>
                </a:lnTo>
                <a:lnTo>
                  <a:pt x="2770532" y="604141"/>
                </a:lnTo>
                <a:lnTo>
                  <a:pt x="2766016" y="574260"/>
                </a:lnTo>
                <a:lnTo>
                  <a:pt x="2698140" y="537308"/>
                </a:lnTo>
                <a:lnTo>
                  <a:pt x="2647205" y="527162"/>
                </a:lnTo>
                <a:lnTo>
                  <a:pt x="2616574" y="569950"/>
                </a:lnTo>
                <a:lnTo>
                  <a:pt x="2560234" y="574743"/>
                </a:lnTo>
                <a:lnTo>
                  <a:pt x="2533263" y="594252"/>
                </a:lnTo>
                <a:lnTo>
                  <a:pt x="2509599" y="566028"/>
                </a:lnTo>
                <a:lnTo>
                  <a:pt x="2521951" y="475467"/>
                </a:lnTo>
                <a:lnTo>
                  <a:pt x="2527823" y="408088"/>
                </a:lnTo>
                <a:lnTo>
                  <a:pt x="2598617" y="417355"/>
                </a:lnTo>
                <a:lnTo>
                  <a:pt x="2651958" y="342967"/>
                </a:lnTo>
                <a:lnTo>
                  <a:pt x="2638997" y="309003"/>
                </a:lnTo>
                <a:lnTo>
                  <a:pt x="2652136" y="210654"/>
                </a:lnTo>
                <a:lnTo>
                  <a:pt x="2669064" y="175791"/>
                </a:lnTo>
                <a:lnTo>
                  <a:pt x="2651929" y="133645"/>
                </a:lnTo>
                <a:lnTo>
                  <a:pt x="2619294" y="125259"/>
                </a:lnTo>
                <a:lnTo>
                  <a:pt x="2642620" y="72262"/>
                </a:lnTo>
                <a:lnTo>
                  <a:pt x="2693632" y="35557"/>
                </a:lnTo>
                <a:lnTo>
                  <a:pt x="2752512" y="7970"/>
                </a:lnTo>
                <a:lnTo>
                  <a:pt x="2829683" y="0"/>
                </a:lnTo>
                <a:lnTo>
                  <a:pt x="2881999" y="8810"/>
                </a:lnTo>
                <a:lnTo>
                  <a:pt x="2946332" y="69935"/>
                </a:lnTo>
                <a:lnTo>
                  <a:pt x="2979287" y="93224"/>
                </a:lnTo>
                <a:lnTo>
                  <a:pt x="3018153" y="130426"/>
                </a:lnTo>
                <a:lnTo>
                  <a:pt x="3072226" y="193733"/>
                </a:lnTo>
                <a:lnTo>
                  <a:pt x="3167087" y="173608"/>
                </a:lnTo>
                <a:lnTo>
                  <a:pt x="3251802" y="193929"/>
                </a:lnTo>
                <a:lnTo>
                  <a:pt x="3309805" y="250567"/>
                </a:lnTo>
                <a:lnTo>
                  <a:pt x="3382903" y="207674"/>
                </a:lnTo>
                <a:lnTo>
                  <a:pt x="3406892" y="154620"/>
                </a:lnTo>
                <a:lnTo>
                  <a:pt x="3470598" y="85047"/>
                </a:lnTo>
                <a:lnTo>
                  <a:pt x="3486765" y="163555"/>
                </a:lnTo>
                <a:lnTo>
                  <a:pt x="3484735" y="200950"/>
                </a:lnTo>
                <a:lnTo>
                  <a:pt x="3516905" y="288514"/>
                </a:lnTo>
                <a:lnTo>
                  <a:pt x="3526441" y="378220"/>
                </a:lnTo>
                <a:lnTo>
                  <a:pt x="3457620" y="402430"/>
                </a:lnTo>
                <a:lnTo>
                  <a:pt x="3428756" y="453423"/>
                </a:lnTo>
                <a:lnTo>
                  <a:pt x="3478222" y="507704"/>
                </a:lnTo>
                <a:lnTo>
                  <a:pt x="3520324" y="598058"/>
                </a:lnTo>
                <a:lnTo>
                  <a:pt x="3494102" y="615667"/>
                </a:lnTo>
                <a:lnTo>
                  <a:pt x="3515550" y="652731"/>
                </a:lnTo>
                <a:lnTo>
                  <a:pt x="3456322" y="628900"/>
                </a:lnTo>
                <a:lnTo>
                  <a:pt x="3457544" y="682149"/>
                </a:lnTo>
                <a:lnTo>
                  <a:pt x="3389400" y="759652"/>
                </a:lnTo>
                <a:lnTo>
                  <a:pt x="3418731" y="794691"/>
                </a:lnTo>
                <a:lnTo>
                  <a:pt x="3368540" y="816998"/>
                </a:lnTo>
                <a:lnTo>
                  <a:pt x="3329833" y="806737"/>
                </a:lnTo>
                <a:lnTo>
                  <a:pt x="3317155" y="879852"/>
                </a:lnTo>
                <a:lnTo>
                  <a:pt x="3272791" y="951420"/>
                </a:lnTo>
                <a:lnTo>
                  <a:pt x="3247428" y="1023050"/>
                </a:lnTo>
                <a:lnTo>
                  <a:pt x="3173507" y="1082540"/>
                </a:lnTo>
                <a:lnTo>
                  <a:pt x="3144194" y="1138154"/>
                </a:lnTo>
                <a:lnTo>
                  <a:pt x="3086647" y="1186655"/>
                </a:lnTo>
                <a:lnTo>
                  <a:pt x="3104639" y="1136772"/>
                </a:lnTo>
                <a:lnTo>
                  <a:pt x="3079445" y="1111099"/>
                </a:lnTo>
                <a:lnTo>
                  <a:pt x="3105579" y="1038621"/>
                </a:lnTo>
                <a:lnTo>
                  <a:pt x="3057213" y="1010366"/>
                </a:lnTo>
                <a:lnTo>
                  <a:pt x="3016238" y="1058958"/>
                </a:lnTo>
                <a:lnTo>
                  <a:pt x="2968841" y="1140383"/>
                </a:lnTo>
                <a:lnTo>
                  <a:pt x="2949806" y="1206079"/>
                </a:lnTo>
                <a:lnTo>
                  <a:pt x="2889983" y="1231636"/>
                </a:lnTo>
                <a:lnTo>
                  <a:pt x="2870812" y="1280397"/>
                </a:lnTo>
                <a:lnTo>
                  <a:pt x="2923120" y="1323794"/>
                </a:lnTo>
                <a:lnTo>
                  <a:pt x="2980103" y="1318624"/>
                </a:lnTo>
                <a:lnTo>
                  <a:pt x="2995345" y="1354201"/>
                </a:lnTo>
                <a:lnTo>
                  <a:pt x="3054968" y="1359146"/>
                </a:lnTo>
                <a:lnTo>
                  <a:pt x="3104491" y="1274327"/>
                </a:lnTo>
                <a:lnTo>
                  <a:pt x="3173091" y="1283002"/>
                </a:lnTo>
                <a:lnTo>
                  <a:pt x="3214849" y="1268260"/>
                </a:lnTo>
                <a:lnTo>
                  <a:pt x="3242600" y="1305634"/>
                </a:lnTo>
                <a:lnTo>
                  <a:pt x="3161002" y="1365069"/>
                </a:lnTo>
                <a:lnTo>
                  <a:pt x="3147782" y="1420515"/>
                </a:lnTo>
                <a:lnTo>
                  <a:pt x="3099320" y="1485606"/>
                </a:lnTo>
                <a:lnTo>
                  <a:pt x="3087891" y="1546457"/>
                </a:lnTo>
                <a:lnTo>
                  <a:pt x="209131" y="1703001"/>
                </a:lnTo>
                <a:lnTo>
                  <a:pt x="188299" y="1653412"/>
                </a:lnTo>
                <a:lnTo>
                  <a:pt x="85141" y="1589559"/>
                </a:lnTo>
                <a:lnTo>
                  <a:pt x="83277" y="1519846"/>
                </a:lnTo>
                <a:lnTo>
                  <a:pt x="45440" y="1466955"/>
                </a:lnTo>
                <a:lnTo>
                  <a:pt x="40767" y="1439754"/>
                </a:lnTo>
                <a:lnTo>
                  <a:pt x="45048" y="1389826"/>
                </a:lnTo>
                <a:lnTo>
                  <a:pt x="56900" y="1358523"/>
                </a:lnTo>
                <a:lnTo>
                  <a:pt x="23603" y="1327970"/>
                </a:lnTo>
                <a:lnTo>
                  <a:pt x="0" y="1329645"/>
                </a:lnTo>
                <a:lnTo>
                  <a:pt x="7836" y="1249069"/>
                </a:lnTo>
                <a:lnTo>
                  <a:pt x="31586" y="1236108"/>
                </a:lnTo>
                <a:lnTo>
                  <a:pt x="28976" y="1214370"/>
                </a:lnTo>
                <a:lnTo>
                  <a:pt x="100211" y="1194279"/>
                </a:lnTo>
                <a:lnTo>
                  <a:pt x="147782" y="1191010"/>
                </a:lnTo>
                <a:lnTo>
                  <a:pt x="210537" y="1220561"/>
                </a:lnTo>
                <a:lnTo>
                  <a:pt x="248195" y="1174591"/>
                </a:lnTo>
                <a:lnTo>
                  <a:pt x="330030" y="1185309"/>
                </a:lnTo>
                <a:lnTo>
                  <a:pt x="360044" y="1158061"/>
                </a:lnTo>
                <a:lnTo>
                  <a:pt x="467027" y="1135746"/>
                </a:lnTo>
                <a:lnTo>
                  <a:pt x="479671" y="1118968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ap / Italy"/>
          <p:cNvSpPr/>
          <p:nvPr/>
        </p:nvSpPr>
        <p:spPr>
          <a:xfrm>
            <a:off x="5428631" y="3936182"/>
            <a:ext cx="50617" cy="46259"/>
          </a:xfrm>
          <a:custGeom>
            <a:avLst/>
            <a:gdLst/>
            <a:ahLst/>
            <a:cxnLst/>
            <a:rect l="l" t="t" r="r" b="b"/>
            <a:pathLst>
              <a:path w="50617" h="46259">
                <a:moveTo>
                  <a:pt x="50617" y="0"/>
                </a:moveTo>
                <a:lnTo>
                  <a:pt x="43958" y="30468"/>
                </a:lnTo>
                <a:lnTo>
                  <a:pt x="32740" y="43577"/>
                </a:lnTo>
                <a:lnTo>
                  <a:pt x="0" y="46259"/>
                </a:lnTo>
                <a:lnTo>
                  <a:pt x="10370" y="1976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Map / Azerbaijan"/>
          <p:cNvSpPr/>
          <p:nvPr/>
        </p:nvSpPr>
        <p:spPr>
          <a:xfrm>
            <a:off x="6503099" y="5268998"/>
            <a:ext cx="279115" cy="355830"/>
          </a:xfrm>
          <a:custGeom>
            <a:avLst/>
            <a:gdLst/>
            <a:ahLst/>
            <a:cxnLst/>
            <a:rect l="l" t="t" r="r" b="b"/>
            <a:pathLst>
              <a:path w="279115" h="355830">
                <a:moveTo>
                  <a:pt x="164867" y="20276"/>
                </a:moveTo>
                <a:lnTo>
                  <a:pt x="176566" y="33866"/>
                </a:lnTo>
                <a:lnTo>
                  <a:pt x="177145" y="101248"/>
                </a:lnTo>
                <a:lnTo>
                  <a:pt x="195310" y="123603"/>
                </a:lnTo>
                <a:lnTo>
                  <a:pt x="217378" y="113749"/>
                </a:lnTo>
                <a:lnTo>
                  <a:pt x="268188" y="110782"/>
                </a:lnTo>
                <a:lnTo>
                  <a:pt x="266740" y="166409"/>
                </a:lnTo>
                <a:lnTo>
                  <a:pt x="255569" y="233946"/>
                </a:lnTo>
                <a:lnTo>
                  <a:pt x="277041" y="255389"/>
                </a:lnTo>
                <a:lnTo>
                  <a:pt x="279115" y="285707"/>
                </a:lnTo>
                <a:lnTo>
                  <a:pt x="232406" y="258698"/>
                </a:lnTo>
                <a:lnTo>
                  <a:pt x="182868" y="304079"/>
                </a:lnTo>
                <a:lnTo>
                  <a:pt x="155496" y="320711"/>
                </a:lnTo>
                <a:lnTo>
                  <a:pt x="123946" y="321384"/>
                </a:lnTo>
                <a:lnTo>
                  <a:pt x="99072" y="355830"/>
                </a:lnTo>
                <a:lnTo>
                  <a:pt x="83269" y="348787"/>
                </a:lnTo>
                <a:lnTo>
                  <a:pt x="78700" y="287603"/>
                </a:lnTo>
                <a:lnTo>
                  <a:pt x="123073" y="268991"/>
                </a:lnTo>
                <a:lnTo>
                  <a:pt x="123590" y="237255"/>
                </a:lnTo>
                <a:lnTo>
                  <a:pt x="100457" y="226592"/>
                </a:lnTo>
                <a:lnTo>
                  <a:pt x="0" y="225130"/>
                </a:lnTo>
                <a:lnTo>
                  <a:pt x="37165" y="178897"/>
                </a:lnTo>
                <a:lnTo>
                  <a:pt x="23736" y="149095"/>
                </a:lnTo>
                <a:lnTo>
                  <a:pt x="17812" y="113363"/>
                </a:lnTo>
                <a:lnTo>
                  <a:pt x="49446" y="104858"/>
                </a:lnTo>
                <a:lnTo>
                  <a:pt x="42496" y="60215"/>
                </a:lnTo>
                <a:lnTo>
                  <a:pt x="66258" y="52672"/>
                </a:lnTo>
                <a:lnTo>
                  <a:pt x="57528" y="25538"/>
                </a:lnTo>
                <a:lnTo>
                  <a:pt x="62341" y="81"/>
                </a:lnTo>
                <a:lnTo>
                  <a:pt x="83179" y="0"/>
                </a:lnTo>
                <a:lnTo>
                  <a:pt x="103037" y="49516"/>
                </a:lnTo>
                <a:lnTo>
                  <a:pt x="125986" y="75693"/>
                </a:lnTo>
                <a:lnTo>
                  <a:pt x="139047" y="73709"/>
                </a:lnTo>
                <a:lnTo>
                  <a:pt x="144850" y="18550"/>
                </a:lnTo>
                <a:lnTo>
                  <a:pt x="164867" y="2027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Map / Azerbaijan"/>
          <p:cNvSpPr/>
          <p:nvPr/>
        </p:nvSpPr>
        <p:spPr>
          <a:xfrm>
            <a:off x="6455831" y="5359075"/>
            <a:ext cx="47740" cy="121311"/>
          </a:xfrm>
          <a:custGeom>
            <a:avLst/>
            <a:gdLst/>
            <a:ahLst/>
            <a:cxnLst/>
            <a:rect l="l" t="t" r="r" b="b"/>
            <a:pathLst>
              <a:path w="47740" h="121311">
                <a:moveTo>
                  <a:pt x="27210" y="121311"/>
                </a:moveTo>
                <a:lnTo>
                  <a:pt x="0" y="82794"/>
                </a:lnTo>
                <a:lnTo>
                  <a:pt x="866" y="31022"/>
                </a:lnTo>
                <a:lnTo>
                  <a:pt x="14410" y="0"/>
                </a:lnTo>
                <a:lnTo>
                  <a:pt x="26147" y="7324"/>
                </a:lnTo>
                <a:lnTo>
                  <a:pt x="25649" y="37366"/>
                </a:lnTo>
                <a:lnTo>
                  <a:pt x="47740" y="56334"/>
                </a:lnTo>
                <a:lnTo>
                  <a:pt x="38893" y="66102"/>
                </a:lnTo>
                <a:lnTo>
                  <a:pt x="27210" y="121311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Map / Georgia"/>
          <p:cNvSpPr/>
          <p:nvPr/>
        </p:nvSpPr>
        <p:spPr>
          <a:xfrm>
            <a:off x="6422918" y="4918159"/>
            <a:ext cx="245048" cy="426532"/>
          </a:xfrm>
          <a:custGeom>
            <a:avLst/>
            <a:gdLst/>
            <a:ahLst/>
            <a:cxnLst/>
            <a:rect l="l" t="t" r="r" b="b"/>
            <a:pathLst>
              <a:path w="245048" h="426532">
                <a:moveTo>
                  <a:pt x="42875" y="1634"/>
                </a:moveTo>
                <a:lnTo>
                  <a:pt x="55169" y="0"/>
                </a:lnTo>
                <a:lnTo>
                  <a:pt x="81313" y="46707"/>
                </a:lnTo>
                <a:lnTo>
                  <a:pt x="136385" y="119311"/>
                </a:lnTo>
                <a:lnTo>
                  <a:pt x="170108" y="206063"/>
                </a:lnTo>
                <a:lnTo>
                  <a:pt x="167560" y="224958"/>
                </a:lnTo>
                <a:lnTo>
                  <a:pt x="204342" y="240346"/>
                </a:lnTo>
                <a:lnTo>
                  <a:pt x="236039" y="291878"/>
                </a:lnTo>
                <a:lnTo>
                  <a:pt x="227780" y="330562"/>
                </a:lnTo>
                <a:lnTo>
                  <a:pt x="245048" y="371115"/>
                </a:lnTo>
                <a:lnTo>
                  <a:pt x="225031" y="369389"/>
                </a:lnTo>
                <a:lnTo>
                  <a:pt x="219228" y="424548"/>
                </a:lnTo>
                <a:lnTo>
                  <a:pt x="206167" y="426532"/>
                </a:lnTo>
                <a:lnTo>
                  <a:pt x="183218" y="400355"/>
                </a:lnTo>
                <a:lnTo>
                  <a:pt x="163360" y="350839"/>
                </a:lnTo>
                <a:lnTo>
                  <a:pt x="142522" y="350920"/>
                </a:lnTo>
                <a:lnTo>
                  <a:pt x="67825" y="301335"/>
                </a:lnTo>
                <a:lnTo>
                  <a:pt x="51429" y="229124"/>
                </a:lnTo>
                <a:lnTo>
                  <a:pt x="0" y="185256"/>
                </a:lnTo>
                <a:lnTo>
                  <a:pt x="31957" y="165937"/>
                </a:lnTo>
                <a:lnTo>
                  <a:pt x="61010" y="113841"/>
                </a:lnTo>
                <a:lnTo>
                  <a:pt x="57413" y="66663"/>
                </a:lnTo>
                <a:lnTo>
                  <a:pt x="40226" y="35696"/>
                </a:lnTo>
                <a:lnTo>
                  <a:pt x="42875" y="163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Map / Finland"/>
          <p:cNvSpPr/>
          <p:nvPr/>
        </p:nvSpPr>
        <p:spPr>
          <a:xfrm>
            <a:off x="7009063" y="2962629"/>
            <a:ext cx="819683" cy="606714"/>
          </a:xfrm>
          <a:custGeom>
            <a:avLst/>
            <a:gdLst/>
            <a:ahLst/>
            <a:cxnLst/>
            <a:rect l="l" t="t" r="r" b="b"/>
            <a:pathLst>
              <a:path w="819683" h="606714">
                <a:moveTo>
                  <a:pt x="757191" y="206412"/>
                </a:moveTo>
                <a:lnTo>
                  <a:pt x="706032" y="236604"/>
                </a:lnTo>
                <a:lnTo>
                  <a:pt x="688284" y="308544"/>
                </a:lnTo>
                <a:lnTo>
                  <a:pt x="619359" y="321245"/>
                </a:lnTo>
                <a:lnTo>
                  <a:pt x="564880" y="408664"/>
                </a:lnTo>
                <a:lnTo>
                  <a:pt x="493250" y="431785"/>
                </a:lnTo>
                <a:lnTo>
                  <a:pt x="462153" y="494272"/>
                </a:lnTo>
                <a:lnTo>
                  <a:pt x="409678" y="514271"/>
                </a:lnTo>
                <a:lnTo>
                  <a:pt x="397256" y="592589"/>
                </a:lnTo>
                <a:lnTo>
                  <a:pt x="354957" y="606714"/>
                </a:lnTo>
                <a:lnTo>
                  <a:pt x="295142" y="606377"/>
                </a:lnTo>
                <a:lnTo>
                  <a:pt x="159811" y="597859"/>
                </a:lnTo>
                <a:lnTo>
                  <a:pt x="159811" y="597859"/>
                </a:lnTo>
                <a:lnTo>
                  <a:pt x="159811" y="597859"/>
                </a:lnTo>
                <a:lnTo>
                  <a:pt x="113358" y="540150"/>
                </a:lnTo>
                <a:lnTo>
                  <a:pt x="49372" y="495435"/>
                </a:lnTo>
                <a:lnTo>
                  <a:pt x="0" y="446719"/>
                </a:lnTo>
                <a:lnTo>
                  <a:pt x="27098" y="403662"/>
                </a:lnTo>
                <a:lnTo>
                  <a:pt x="31483" y="356160"/>
                </a:lnTo>
                <a:lnTo>
                  <a:pt x="106929" y="324460"/>
                </a:lnTo>
                <a:lnTo>
                  <a:pt x="163199" y="271975"/>
                </a:lnTo>
                <a:lnTo>
                  <a:pt x="214143" y="264423"/>
                </a:lnTo>
                <a:lnTo>
                  <a:pt x="276034" y="268016"/>
                </a:lnTo>
                <a:lnTo>
                  <a:pt x="395668" y="292583"/>
                </a:lnTo>
                <a:lnTo>
                  <a:pt x="422905" y="303279"/>
                </a:lnTo>
                <a:lnTo>
                  <a:pt x="450814" y="281388"/>
                </a:lnTo>
                <a:lnTo>
                  <a:pt x="459431" y="220078"/>
                </a:lnTo>
                <a:lnTo>
                  <a:pt x="481516" y="193572"/>
                </a:lnTo>
                <a:lnTo>
                  <a:pt x="592250" y="126669"/>
                </a:lnTo>
                <a:lnTo>
                  <a:pt x="617514" y="55650"/>
                </a:lnTo>
                <a:lnTo>
                  <a:pt x="634118" y="0"/>
                </a:lnTo>
                <a:lnTo>
                  <a:pt x="662420" y="5097"/>
                </a:lnTo>
                <a:lnTo>
                  <a:pt x="639784" y="56328"/>
                </a:lnTo>
                <a:lnTo>
                  <a:pt x="663517" y="88624"/>
                </a:lnTo>
                <a:lnTo>
                  <a:pt x="663128" y="127359"/>
                </a:lnTo>
                <a:lnTo>
                  <a:pt x="710336" y="132072"/>
                </a:lnTo>
                <a:lnTo>
                  <a:pt x="770614" y="110696"/>
                </a:lnTo>
                <a:lnTo>
                  <a:pt x="819683" y="132423"/>
                </a:lnTo>
                <a:lnTo>
                  <a:pt x="813201" y="182488"/>
                </a:lnTo>
                <a:lnTo>
                  <a:pt x="757191" y="206412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Map / Slovakia"/>
          <p:cNvSpPr/>
          <p:nvPr/>
        </p:nvSpPr>
        <p:spPr>
          <a:xfrm>
            <a:off x="6021084" y="3623843"/>
            <a:ext cx="215785" cy="221479"/>
          </a:xfrm>
          <a:custGeom>
            <a:avLst/>
            <a:gdLst/>
            <a:ahLst/>
            <a:cxnLst/>
            <a:rect l="l" t="t" r="r" b="b"/>
            <a:pathLst>
              <a:path w="215785" h="221479">
                <a:moveTo>
                  <a:pt x="213407" y="216624"/>
                </a:moveTo>
                <a:lnTo>
                  <a:pt x="187202" y="214262"/>
                </a:lnTo>
                <a:lnTo>
                  <a:pt x="152874" y="221479"/>
                </a:lnTo>
                <a:lnTo>
                  <a:pt x="139710" y="215415"/>
                </a:lnTo>
                <a:lnTo>
                  <a:pt x="133294" y="151714"/>
                </a:lnTo>
                <a:lnTo>
                  <a:pt x="120316" y="138303"/>
                </a:lnTo>
                <a:lnTo>
                  <a:pt x="97035" y="136117"/>
                </a:lnTo>
                <a:lnTo>
                  <a:pt x="75778" y="118021"/>
                </a:lnTo>
                <a:lnTo>
                  <a:pt x="77713" y="110272"/>
                </a:lnTo>
                <a:lnTo>
                  <a:pt x="53909" y="92259"/>
                </a:lnTo>
                <a:lnTo>
                  <a:pt x="41736" y="73749"/>
                </a:lnTo>
                <a:lnTo>
                  <a:pt x="24843" y="77261"/>
                </a:lnTo>
                <a:lnTo>
                  <a:pt x="0" y="46263"/>
                </a:lnTo>
                <a:lnTo>
                  <a:pt x="92186" y="993"/>
                </a:lnTo>
                <a:lnTo>
                  <a:pt x="96636" y="5155"/>
                </a:lnTo>
                <a:lnTo>
                  <a:pt x="115097" y="0"/>
                </a:lnTo>
                <a:lnTo>
                  <a:pt x="123827" y="9497"/>
                </a:lnTo>
                <a:lnTo>
                  <a:pt x="140881" y="10303"/>
                </a:lnTo>
                <a:lnTo>
                  <a:pt x="148179" y="24567"/>
                </a:lnTo>
                <a:lnTo>
                  <a:pt x="145096" y="29532"/>
                </a:lnTo>
                <a:lnTo>
                  <a:pt x="165148" y="44088"/>
                </a:lnTo>
                <a:lnTo>
                  <a:pt x="151646" y="81712"/>
                </a:lnTo>
                <a:lnTo>
                  <a:pt x="182238" y="101569"/>
                </a:lnTo>
                <a:lnTo>
                  <a:pt x="186839" y="127987"/>
                </a:lnTo>
                <a:lnTo>
                  <a:pt x="215785" y="156298"/>
                </a:lnTo>
                <a:lnTo>
                  <a:pt x="213407" y="21662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Map / Czechia"/>
          <p:cNvSpPr/>
          <p:nvPr/>
        </p:nvSpPr>
        <p:spPr>
          <a:xfrm>
            <a:off x="6113270" y="3588276"/>
            <a:ext cx="81340" cy="60134"/>
          </a:xfrm>
          <a:custGeom>
            <a:avLst/>
            <a:gdLst/>
            <a:ahLst/>
            <a:cxnLst/>
            <a:rect l="l" t="t" r="r" b="b"/>
            <a:pathLst>
              <a:path w="81340" h="60134">
                <a:moveTo>
                  <a:pt x="74451" y="0"/>
                </a:moveTo>
                <a:lnTo>
                  <a:pt x="81340" y="19880"/>
                </a:lnTo>
                <a:lnTo>
                  <a:pt x="55993" y="60134"/>
                </a:lnTo>
                <a:lnTo>
                  <a:pt x="48695" y="45870"/>
                </a:lnTo>
                <a:lnTo>
                  <a:pt x="31641" y="45064"/>
                </a:lnTo>
                <a:lnTo>
                  <a:pt x="22911" y="35567"/>
                </a:lnTo>
                <a:lnTo>
                  <a:pt x="4450" y="40722"/>
                </a:lnTo>
                <a:lnTo>
                  <a:pt x="0" y="3656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Map / Japan"/>
          <p:cNvSpPr/>
          <p:nvPr/>
        </p:nvSpPr>
        <p:spPr>
          <a:xfrm>
            <a:off x="12011306" y="5410130"/>
            <a:ext cx="471515" cy="803216"/>
          </a:xfrm>
          <a:custGeom>
            <a:avLst/>
            <a:gdLst/>
            <a:ahLst/>
            <a:cxnLst/>
            <a:rect l="l" t="t" r="r" b="b"/>
            <a:pathLst>
              <a:path w="471515" h="803216">
                <a:moveTo>
                  <a:pt x="343938" y="125093"/>
                </a:moveTo>
                <a:lnTo>
                  <a:pt x="349198" y="231120"/>
                </a:lnTo>
                <a:lnTo>
                  <a:pt x="404935" y="300300"/>
                </a:lnTo>
                <a:lnTo>
                  <a:pt x="426818" y="370763"/>
                </a:lnTo>
                <a:lnTo>
                  <a:pt x="463158" y="397573"/>
                </a:lnTo>
                <a:lnTo>
                  <a:pt x="471515" y="468670"/>
                </a:lnTo>
                <a:lnTo>
                  <a:pt x="457545" y="494497"/>
                </a:lnTo>
                <a:lnTo>
                  <a:pt x="0" y="803216"/>
                </a:lnTo>
                <a:lnTo>
                  <a:pt x="8925" y="753785"/>
                </a:lnTo>
                <a:lnTo>
                  <a:pt x="114581" y="657126"/>
                </a:lnTo>
                <a:lnTo>
                  <a:pt x="187525" y="630512"/>
                </a:lnTo>
                <a:lnTo>
                  <a:pt x="161399" y="462139"/>
                </a:lnTo>
                <a:lnTo>
                  <a:pt x="222659" y="469704"/>
                </a:lnTo>
                <a:lnTo>
                  <a:pt x="253892" y="340959"/>
                </a:lnTo>
                <a:lnTo>
                  <a:pt x="264901" y="291199"/>
                </a:lnTo>
                <a:lnTo>
                  <a:pt x="235182" y="182414"/>
                </a:lnTo>
                <a:lnTo>
                  <a:pt x="168259" y="112985"/>
                </a:lnTo>
                <a:lnTo>
                  <a:pt x="157239" y="53933"/>
                </a:lnTo>
                <a:lnTo>
                  <a:pt x="200997" y="0"/>
                </a:lnTo>
                <a:lnTo>
                  <a:pt x="302026" y="70021"/>
                </a:lnTo>
                <a:lnTo>
                  <a:pt x="343938" y="12509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Map / Japan"/>
          <p:cNvSpPr/>
          <p:nvPr/>
        </p:nvSpPr>
        <p:spPr>
          <a:xfrm>
            <a:off x="12021488" y="5059433"/>
            <a:ext cx="287290" cy="392978"/>
          </a:xfrm>
          <a:custGeom>
            <a:avLst/>
            <a:gdLst/>
            <a:ahLst/>
            <a:cxnLst/>
            <a:rect l="l" t="t" r="r" b="b"/>
            <a:pathLst>
              <a:path w="287290" h="392978">
                <a:moveTo>
                  <a:pt x="206032" y="54803"/>
                </a:moveTo>
                <a:lnTo>
                  <a:pt x="214413" y="0"/>
                </a:lnTo>
                <a:lnTo>
                  <a:pt x="287290" y="61266"/>
                </a:lnTo>
                <a:lnTo>
                  <a:pt x="234034" y="138699"/>
                </a:lnTo>
                <a:lnTo>
                  <a:pt x="246697" y="237809"/>
                </a:lnTo>
                <a:lnTo>
                  <a:pt x="134260" y="255297"/>
                </a:lnTo>
                <a:lnTo>
                  <a:pt x="164987" y="348877"/>
                </a:lnTo>
                <a:lnTo>
                  <a:pt x="110082" y="392978"/>
                </a:lnTo>
                <a:lnTo>
                  <a:pt x="52412" y="331314"/>
                </a:lnTo>
                <a:lnTo>
                  <a:pt x="37312" y="261317"/>
                </a:lnTo>
                <a:lnTo>
                  <a:pt x="85896" y="217410"/>
                </a:lnTo>
                <a:lnTo>
                  <a:pt x="27265" y="115748"/>
                </a:lnTo>
                <a:lnTo>
                  <a:pt x="0" y="54057"/>
                </a:lnTo>
                <a:lnTo>
                  <a:pt x="108956" y="77191"/>
                </a:lnTo>
                <a:lnTo>
                  <a:pt x="162269" y="68996"/>
                </a:lnTo>
                <a:lnTo>
                  <a:pt x="206032" y="5480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Map / Northern Cyprus"/>
          <p:cNvSpPr/>
          <p:nvPr/>
        </p:nvSpPr>
        <p:spPr>
          <a:xfrm>
            <a:off x="5618481" y="5027882"/>
            <a:ext cx="118526" cy="74822"/>
          </a:xfrm>
          <a:custGeom>
            <a:avLst/>
            <a:gdLst/>
            <a:ahLst/>
            <a:cxnLst/>
            <a:rect l="l" t="t" r="r" b="b"/>
            <a:pathLst>
              <a:path w="118526" h="74822">
                <a:moveTo>
                  <a:pt x="0" y="1380"/>
                </a:moveTo>
                <a:lnTo>
                  <a:pt x="3505" y="5034"/>
                </a:lnTo>
                <a:lnTo>
                  <a:pt x="26354" y="0"/>
                </a:lnTo>
                <a:lnTo>
                  <a:pt x="57517" y="40567"/>
                </a:lnTo>
                <a:lnTo>
                  <a:pt x="118526" y="73719"/>
                </a:lnTo>
                <a:lnTo>
                  <a:pt x="59422" y="60452"/>
                </a:lnTo>
                <a:lnTo>
                  <a:pt x="50092" y="74822"/>
                </a:lnTo>
                <a:lnTo>
                  <a:pt x="47607" y="66965"/>
                </a:lnTo>
                <a:lnTo>
                  <a:pt x="33861" y="60575"/>
                </a:lnTo>
                <a:lnTo>
                  <a:pt x="28527" y="51127"/>
                </a:lnTo>
                <a:lnTo>
                  <a:pt x="23684" y="50464"/>
                </a:lnTo>
                <a:lnTo>
                  <a:pt x="29646" y="43813"/>
                </a:lnTo>
                <a:lnTo>
                  <a:pt x="30572" y="36455"/>
                </a:lnTo>
                <a:lnTo>
                  <a:pt x="22660" y="25178"/>
                </a:lnTo>
                <a:lnTo>
                  <a:pt x="4765" y="14703"/>
                </a:lnTo>
                <a:lnTo>
                  <a:pt x="0" y="138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Map / Cyprus"/>
          <p:cNvSpPr/>
          <p:nvPr/>
        </p:nvSpPr>
        <p:spPr>
          <a:xfrm>
            <a:off x="5590557" y="5004603"/>
            <a:ext cx="78016" cy="102597"/>
          </a:xfrm>
          <a:custGeom>
            <a:avLst/>
            <a:gdLst/>
            <a:ahLst/>
            <a:cxnLst/>
            <a:rect l="l" t="t" r="r" b="b"/>
            <a:pathLst>
              <a:path w="78016" h="102597">
                <a:moveTo>
                  <a:pt x="27924" y="24659"/>
                </a:moveTo>
                <a:lnTo>
                  <a:pt x="32689" y="37982"/>
                </a:lnTo>
                <a:lnTo>
                  <a:pt x="50584" y="48457"/>
                </a:lnTo>
                <a:lnTo>
                  <a:pt x="58496" y="59734"/>
                </a:lnTo>
                <a:lnTo>
                  <a:pt x="57570" y="67092"/>
                </a:lnTo>
                <a:lnTo>
                  <a:pt x="51608" y="73743"/>
                </a:lnTo>
                <a:lnTo>
                  <a:pt x="56451" y="74406"/>
                </a:lnTo>
                <a:lnTo>
                  <a:pt x="61785" y="83854"/>
                </a:lnTo>
                <a:lnTo>
                  <a:pt x="75531" y="90244"/>
                </a:lnTo>
                <a:lnTo>
                  <a:pt x="78016" y="98101"/>
                </a:lnTo>
                <a:lnTo>
                  <a:pt x="75104" y="102597"/>
                </a:lnTo>
                <a:lnTo>
                  <a:pt x="0" y="8924"/>
                </a:lnTo>
                <a:lnTo>
                  <a:pt x="4456" y="0"/>
                </a:lnTo>
                <a:lnTo>
                  <a:pt x="27924" y="24659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Map / Bosnia and Herzegovina"/>
          <p:cNvSpPr/>
          <p:nvPr/>
        </p:nvSpPr>
        <p:spPr>
          <a:xfrm>
            <a:off x="5651555" y="3769579"/>
            <a:ext cx="187865" cy="134550"/>
          </a:xfrm>
          <a:custGeom>
            <a:avLst/>
            <a:gdLst/>
            <a:ahLst/>
            <a:cxnLst/>
            <a:rect l="l" t="t" r="r" b="b"/>
            <a:pathLst>
              <a:path w="187865" h="134550">
                <a:moveTo>
                  <a:pt x="0" y="120669"/>
                </a:moveTo>
                <a:lnTo>
                  <a:pt x="2685" y="80671"/>
                </a:lnTo>
                <a:lnTo>
                  <a:pt x="166963" y="0"/>
                </a:lnTo>
                <a:lnTo>
                  <a:pt x="182310" y="28854"/>
                </a:lnTo>
                <a:lnTo>
                  <a:pt x="177850" y="61092"/>
                </a:lnTo>
                <a:lnTo>
                  <a:pt x="177850" y="61092"/>
                </a:lnTo>
                <a:lnTo>
                  <a:pt x="187865" y="80122"/>
                </a:lnTo>
                <a:lnTo>
                  <a:pt x="148281" y="83680"/>
                </a:lnTo>
                <a:lnTo>
                  <a:pt x="132898" y="124204"/>
                </a:lnTo>
                <a:lnTo>
                  <a:pt x="93776" y="134550"/>
                </a:lnTo>
                <a:lnTo>
                  <a:pt x="83900" y="123504"/>
                </a:lnTo>
                <a:lnTo>
                  <a:pt x="71878" y="116852"/>
                </a:lnTo>
                <a:lnTo>
                  <a:pt x="45449" y="107940"/>
                </a:lnTo>
                <a:lnTo>
                  <a:pt x="0" y="120669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Map / North Macedonia"/>
          <p:cNvSpPr/>
          <p:nvPr/>
        </p:nvSpPr>
        <p:spPr>
          <a:xfrm>
            <a:off x="5588169" y="4033738"/>
            <a:ext cx="151175" cy="151796"/>
          </a:xfrm>
          <a:custGeom>
            <a:avLst/>
            <a:gdLst/>
            <a:ahLst/>
            <a:cxnLst/>
            <a:rect l="l" t="t" r="r" b="b"/>
            <a:pathLst>
              <a:path w="151175" h="151796">
                <a:moveTo>
                  <a:pt x="151175" y="79048"/>
                </a:moveTo>
                <a:lnTo>
                  <a:pt x="143374" y="119750"/>
                </a:lnTo>
                <a:lnTo>
                  <a:pt x="97294" y="151796"/>
                </a:lnTo>
                <a:lnTo>
                  <a:pt x="88766" y="142727"/>
                </a:lnTo>
                <a:lnTo>
                  <a:pt x="70729" y="141045"/>
                </a:lnTo>
                <a:lnTo>
                  <a:pt x="54991" y="110187"/>
                </a:lnTo>
                <a:lnTo>
                  <a:pt x="26877" y="98023"/>
                </a:lnTo>
                <a:lnTo>
                  <a:pt x="0" y="64928"/>
                </a:lnTo>
                <a:lnTo>
                  <a:pt x="5481" y="31717"/>
                </a:lnTo>
                <a:lnTo>
                  <a:pt x="33208" y="6554"/>
                </a:lnTo>
                <a:lnTo>
                  <a:pt x="62368" y="0"/>
                </a:lnTo>
                <a:lnTo>
                  <a:pt x="62369" y="0"/>
                </a:lnTo>
                <a:lnTo>
                  <a:pt x="65552" y="7375"/>
                </a:lnTo>
                <a:lnTo>
                  <a:pt x="82111" y="1617"/>
                </a:lnTo>
                <a:lnTo>
                  <a:pt x="111347" y="27782"/>
                </a:lnTo>
                <a:lnTo>
                  <a:pt x="120976" y="38450"/>
                </a:lnTo>
                <a:lnTo>
                  <a:pt x="135671" y="54590"/>
                </a:lnTo>
                <a:lnTo>
                  <a:pt x="151175" y="79048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Map / Republic of Serbia"/>
          <p:cNvSpPr/>
          <p:nvPr/>
        </p:nvSpPr>
        <p:spPr>
          <a:xfrm>
            <a:off x="5709145" y="3781821"/>
            <a:ext cx="246975" cy="333928"/>
          </a:xfrm>
          <a:custGeom>
            <a:avLst/>
            <a:gdLst/>
            <a:ahLst/>
            <a:cxnLst/>
            <a:rect l="l" t="t" r="r" b="b"/>
            <a:pathLst>
              <a:path w="246975" h="333928">
                <a:moveTo>
                  <a:pt x="193715" y="0"/>
                </a:moveTo>
                <a:lnTo>
                  <a:pt x="193716" y="1"/>
                </a:lnTo>
                <a:lnTo>
                  <a:pt x="233464" y="29457"/>
                </a:lnTo>
                <a:lnTo>
                  <a:pt x="246975" y="63080"/>
                </a:lnTo>
                <a:lnTo>
                  <a:pt x="232965" y="106285"/>
                </a:lnTo>
                <a:lnTo>
                  <a:pt x="212740" y="124719"/>
                </a:lnTo>
                <a:lnTo>
                  <a:pt x="212761" y="165570"/>
                </a:lnTo>
                <a:lnTo>
                  <a:pt x="184881" y="186386"/>
                </a:lnTo>
                <a:lnTo>
                  <a:pt x="180708" y="228600"/>
                </a:lnTo>
                <a:lnTo>
                  <a:pt x="206289" y="235555"/>
                </a:lnTo>
                <a:lnTo>
                  <a:pt x="204595" y="253496"/>
                </a:lnTo>
                <a:lnTo>
                  <a:pt x="185430" y="248560"/>
                </a:lnTo>
                <a:lnTo>
                  <a:pt x="178251" y="265368"/>
                </a:lnTo>
                <a:lnTo>
                  <a:pt x="154351" y="261982"/>
                </a:lnTo>
                <a:lnTo>
                  <a:pt x="130460" y="281956"/>
                </a:lnTo>
                <a:lnTo>
                  <a:pt x="113932" y="325814"/>
                </a:lnTo>
                <a:lnTo>
                  <a:pt x="79402" y="318745"/>
                </a:lnTo>
                <a:lnTo>
                  <a:pt x="50969" y="323087"/>
                </a:lnTo>
                <a:lnTo>
                  <a:pt x="45627" y="333928"/>
                </a:lnTo>
                <a:lnTo>
                  <a:pt x="30199" y="330965"/>
                </a:lnTo>
                <a:lnTo>
                  <a:pt x="14695" y="306507"/>
                </a:lnTo>
                <a:lnTo>
                  <a:pt x="0" y="290367"/>
                </a:lnTo>
                <a:lnTo>
                  <a:pt x="4521" y="285468"/>
                </a:lnTo>
                <a:lnTo>
                  <a:pt x="16919" y="287091"/>
                </a:lnTo>
                <a:lnTo>
                  <a:pt x="38235" y="283140"/>
                </a:lnTo>
                <a:lnTo>
                  <a:pt x="33532" y="275687"/>
                </a:lnTo>
                <a:lnTo>
                  <a:pt x="41338" y="257589"/>
                </a:lnTo>
                <a:lnTo>
                  <a:pt x="39895" y="246790"/>
                </a:lnTo>
                <a:lnTo>
                  <a:pt x="47748" y="233276"/>
                </a:lnTo>
                <a:lnTo>
                  <a:pt x="46832" y="220686"/>
                </a:lnTo>
                <a:lnTo>
                  <a:pt x="53098" y="207361"/>
                </a:lnTo>
                <a:lnTo>
                  <a:pt x="43773" y="199908"/>
                </a:lnTo>
                <a:lnTo>
                  <a:pt x="15131" y="205659"/>
                </a:lnTo>
                <a:lnTo>
                  <a:pt x="2823" y="195487"/>
                </a:lnTo>
                <a:lnTo>
                  <a:pt x="11587" y="196569"/>
                </a:lnTo>
                <a:lnTo>
                  <a:pt x="16025" y="167647"/>
                </a:lnTo>
                <a:lnTo>
                  <a:pt x="14700" y="145576"/>
                </a:lnTo>
                <a:lnTo>
                  <a:pt x="20915" y="132268"/>
                </a:lnTo>
                <a:lnTo>
                  <a:pt x="26310" y="111262"/>
                </a:lnTo>
                <a:lnTo>
                  <a:pt x="36186" y="122308"/>
                </a:lnTo>
                <a:lnTo>
                  <a:pt x="75308" y="111962"/>
                </a:lnTo>
                <a:lnTo>
                  <a:pt x="90691" y="71438"/>
                </a:lnTo>
                <a:lnTo>
                  <a:pt x="130275" y="67880"/>
                </a:lnTo>
                <a:lnTo>
                  <a:pt x="120260" y="48850"/>
                </a:lnTo>
                <a:lnTo>
                  <a:pt x="120260" y="48850"/>
                </a:lnTo>
                <a:lnTo>
                  <a:pt x="158641" y="54733"/>
                </a:lnTo>
                <a:lnTo>
                  <a:pt x="171308" y="27272"/>
                </a:lnTo>
                <a:lnTo>
                  <a:pt x="193715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Map / Montenegro"/>
          <p:cNvSpPr/>
          <p:nvPr/>
        </p:nvSpPr>
        <p:spPr>
          <a:xfrm>
            <a:off x="5616226" y="3877519"/>
            <a:ext cx="119229" cy="100871"/>
          </a:xfrm>
          <a:custGeom>
            <a:avLst/>
            <a:gdLst/>
            <a:ahLst/>
            <a:cxnLst/>
            <a:rect l="l" t="t" r="r" b="b"/>
            <a:pathLst>
              <a:path w="119229" h="100871">
                <a:moveTo>
                  <a:pt x="73632" y="98417"/>
                </a:moveTo>
                <a:lnTo>
                  <a:pt x="59239" y="87100"/>
                </a:lnTo>
                <a:lnTo>
                  <a:pt x="71465" y="76250"/>
                </a:lnTo>
                <a:lnTo>
                  <a:pt x="22157" y="71420"/>
                </a:lnTo>
                <a:lnTo>
                  <a:pt x="195" y="87488"/>
                </a:lnTo>
                <a:lnTo>
                  <a:pt x="0" y="72786"/>
                </a:lnTo>
                <a:lnTo>
                  <a:pt x="16596" y="44619"/>
                </a:lnTo>
                <a:lnTo>
                  <a:pt x="19452" y="13033"/>
                </a:lnTo>
                <a:lnTo>
                  <a:pt x="35329" y="12729"/>
                </a:lnTo>
                <a:lnTo>
                  <a:pt x="80778" y="0"/>
                </a:lnTo>
                <a:lnTo>
                  <a:pt x="107207" y="8912"/>
                </a:lnTo>
                <a:lnTo>
                  <a:pt x="119229" y="15564"/>
                </a:lnTo>
                <a:lnTo>
                  <a:pt x="113834" y="36570"/>
                </a:lnTo>
                <a:lnTo>
                  <a:pt x="107619" y="49878"/>
                </a:lnTo>
                <a:lnTo>
                  <a:pt x="108944" y="71949"/>
                </a:lnTo>
                <a:lnTo>
                  <a:pt x="104506" y="100871"/>
                </a:lnTo>
                <a:lnTo>
                  <a:pt x="95742" y="99789"/>
                </a:lnTo>
                <a:lnTo>
                  <a:pt x="73632" y="9841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Map / Kosovo"/>
          <p:cNvSpPr/>
          <p:nvPr/>
        </p:nvSpPr>
        <p:spPr>
          <a:xfrm>
            <a:off x="5650538" y="3975936"/>
            <a:ext cx="111705" cy="96252"/>
          </a:xfrm>
          <a:custGeom>
            <a:avLst/>
            <a:gdLst/>
            <a:ahLst/>
            <a:cxnLst/>
            <a:rect l="l" t="t" r="r" b="b"/>
            <a:pathLst>
              <a:path w="111705" h="96252">
                <a:moveTo>
                  <a:pt x="0" y="57802"/>
                </a:moveTo>
                <a:lnTo>
                  <a:pt x="24968" y="39577"/>
                </a:lnTo>
                <a:lnTo>
                  <a:pt x="25541" y="22326"/>
                </a:lnTo>
                <a:lnTo>
                  <a:pt x="39320" y="0"/>
                </a:lnTo>
                <a:lnTo>
                  <a:pt x="61430" y="1372"/>
                </a:lnTo>
                <a:lnTo>
                  <a:pt x="73738" y="11544"/>
                </a:lnTo>
                <a:lnTo>
                  <a:pt x="102380" y="5793"/>
                </a:lnTo>
                <a:lnTo>
                  <a:pt x="111705" y="13246"/>
                </a:lnTo>
                <a:lnTo>
                  <a:pt x="105439" y="26571"/>
                </a:lnTo>
                <a:lnTo>
                  <a:pt x="106355" y="39161"/>
                </a:lnTo>
                <a:lnTo>
                  <a:pt x="98502" y="52675"/>
                </a:lnTo>
                <a:lnTo>
                  <a:pt x="99945" y="63474"/>
                </a:lnTo>
                <a:lnTo>
                  <a:pt x="92139" y="81572"/>
                </a:lnTo>
                <a:lnTo>
                  <a:pt x="96842" y="89025"/>
                </a:lnTo>
                <a:lnTo>
                  <a:pt x="75526" y="92976"/>
                </a:lnTo>
                <a:lnTo>
                  <a:pt x="63128" y="91353"/>
                </a:lnTo>
                <a:lnTo>
                  <a:pt x="58607" y="96252"/>
                </a:lnTo>
                <a:lnTo>
                  <a:pt x="48978" y="85584"/>
                </a:lnTo>
                <a:lnTo>
                  <a:pt x="19742" y="59419"/>
                </a:lnTo>
                <a:lnTo>
                  <a:pt x="3183" y="65177"/>
                </a:lnTo>
                <a:lnTo>
                  <a:pt x="0" y="57802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Map / Kazakhstan"/>
          <p:cNvSpPr/>
          <p:nvPr/>
        </p:nvSpPr>
        <p:spPr>
          <a:xfrm>
            <a:off x="6967590" y="4780916"/>
            <a:ext cx="2101779" cy="1401611"/>
          </a:xfrm>
          <a:custGeom>
            <a:avLst/>
            <a:gdLst/>
            <a:ahLst/>
            <a:cxnLst/>
            <a:rect l="l" t="t" r="r" b="b"/>
            <a:pathLst>
              <a:path w="2101779" h="1401611">
                <a:moveTo>
                  <a:pt x="2101779" y="903285"/>
                </a:moveTo>
                <a:lnTo>
                  <a:pt x="2054210" y="953259"/>
                </a:lnTo>
                <a:lnTo>
                  <a:pt x="2007979" y="955136"/>
                </a:lnTo>
                <a:lnTo>
                  <a:pt x="1994234" y="1037261"/>
                </a:lnTo>
                <a:lnTo>
                  <a:pt x="1957952" y="1070150"/>
                </a:lnTo>
                <a:lnTo>
                  <a:pt x="1851454" y="1025626"/>
                </a:lnTo>
                <a:lnTo>
                  <a:pt x="1784516" y="1165198"/>
                </a:lnTo>
                <a:lnTo>
                  <a:pt x="1751597" y="1177951"/>
                </a:lnTo>
                <a:lnTo>
                  <a:pt x="1630385" y="1187074"/>
                </a:lnTo>
                <a:lnTo>
                  <a:pt x="1652925" y="1340944"/>
                </a:lnTo>
                <a:lnTo>
                  <a:pt x="1607091" y="1353598"/>
                </a:lnTo>
                <a:lnTo>
                  <a:pt x="1601729" y="1401611"/>
                </a:lnTo>
                <a:lnTo>
                  <a:pt x="1566926" y="1381235"/>
                </a:lnTo>
                <a:lnTo>
                  <a:pt x="1543425" y="1344753"/>
                </a:lnTo>
                <a:lnTo>
                  <a:pt x="1456625" y="1314422"/>
                </a:lnTo>
                <a:lnTo>
                  <a:pt x="1358596" y="1285650"/>
                </a:lnTo>
                <a:lnTo>
                  <a:pt x="1334508" y="1288429"/>
                </a:lnTo>
                <a:lnTo>
                  <a:pt x="1260781" y="1229454"/>
                </a:lnTo>
                <a:lnTo>
                  <a:pt x="1222345" y="1235620"/>
                </a:lnTo>
                <a:lnTo>
                  <a:pt x="1198007" y="1280051"/>
                </a:lnTo>
                <a:lnTo>
                  <a:pt x="1110559" y="1220142"/>
                </a:lnTo>
                <a:lnTo>
                  <a:pt x="1068208" y="1217777"/>
                </a:lnTo>
                <a:lnTo>
                  <a:pt x="1042563" y="1247811"/>
                </a:lnTo>
                <a:lnTo>
                  <a:pt x="1003501" y="1250091"/>
                </a:lnTo>
                <a:lnTo>
                  <a:pt x="904673" y="1275378"/>
                </a:lnTo>
                <a:lnTo>
                  <a:pt x="856235" y="1321431"/>
                </a:lnTo>
                <a:lnTo>
                  <a:pt x="833778" y="1312932"/>
                </a:lnTo>
                <a:lnTo>
                  <a:pt x="832756" y="1269074"/>
                </a:lnTo>
                <a:lnTo>
                  <a:pt x="759061" y="1234917"/>
                </a:lnTo>
                <a:lnTo>
                  <a:pt x="774943" y="1166212"/>
                </a:lnTo>
                <a:lnTo>
                  <a:pt x="747188" y="1153310"/>
                </a:lnTo>
                <a:lnTo>
                  <a:pt x="785830" y="1077912"/>
                </a:lnTo>
                <a:lnTo>
                  <a:pt x="744645" y="991706"/>
                </a:lnTo>
                <a:lnTo>
                  <a:pt x="647928" y="952494"/>
                </a:lnTo>
                <a:lnTo>
                  <a:pt x="578735" y="931156"/>
                </a:lnTo>
                <a:lnTo>
                  <a:pt x="562892" y="837357"/>
                </a:lnTo>
                <a:lnTo>
                  <a:pt x="535103" y="786244"/>
                </a:lnTo>
                <a:lnTo>
                  <a:pt x="484964" y="689169"/>
                </a:lnTo>
                <a:lnTo>
                  <a:pt x="479161" y="677410"/>
                </a:lnTo>
                <a:lnTo>
                  <a:pt x="324220" y="640901"/>
                </a:lnTo>
                <a:lnTo>
                  <a:pt x="160077" y="904248"/>
                </a:lnTo>
                <a:lnTo>
                  <a:pt x="130331" y="890147"/>
                </a:lnTo>
                <a:lnTo>
                  <a:pt x="129465" y="810409"/>
                </a:lnTo>
                <a:lnTo>
                  <a:pt x="107367" y="767284"/>
                </a:lnTo>
                <a:lnTo>
                  <a:pt x="38884" y="741681"/>
                </a:lnTo>
                <a:lnTo>
                  <a:pt x="0" y="748748"/>
                </a:lnTo>
                <a:lnTo>
                  <a:pt x="9016" y="729881"/>
                </a:lnTo>
                <a:lnTo>
                  <a:pt x="41843" y="709977"/>
                </a:lnTo>
                <a:lnTo>
                  <a:pt x="49085" y="679152"/>
                </a:lnTo>
                <a:lnTo>
                  <a:pt x="7851" y="614171"/>
                </a:lnTo>
                <a:lnTo>
                  <a:pt x="30509" y="537138"/>
                </a:lnTo>
                <a:lnTo>
                  <a:pt x="16618" y="500249"/>
                </a:lnTo>
                <a:lnTo>
                  <a:pt x="31466" y="477254"/>
                </a:lnTo>
                <a:lnTo>
                  <a:pt x="73289" y="518294"/>
                </a:lnTo>
                <a:lnTo>
                  <a:pt x="111288" y="470296"/>
                </a:lnTo>
                <a:lnTo>
                  <a:pt x="159728" y="488575"/>
                </a:lnTo>
                <a:lnTo>
                  <a:pt x="194493" y="528319"/>
                </a:lnTo>
                <a:lnTo>
                  <a:pt x="249482" y="467360"/>
                </a:lnTo>
                <a:lnTo>
                  <a:pt x="270423" y="419220"/>
                </a:lnTo>
                <a:lnTo>
                  <a:pt x="221548" y="389663"/>
                </a:lnTo>
                <a:lnTo>
                  <a:pt x="194386" y="344859"/>
                </a:lnTo>
                <a:lnTo>
                  <a:pt x="119681" y="334663"/>
                </a:lnTo>
                <a:lnTo>
                  <a:pt x="66678" y="315801"/>
                </a:lnTo>
                <a:lnTo>
                  <a:pt x="52148" y="287184"/>
                </a:lnTo>
                <a:lnTo>
                  <a:pt x="83297" y="257233"/>
                </a:lnTo>
                <a:lnTo>
                  <a:pt x="89986" y="191483"/>
                </a:lnTo>
                <a:lnTo>
                  <a:pt x="56418" y="167068"/>
                </a:lnTo>
                <a:lnTo>
                  <a:pt x="56393" y="93695"/>
                </a:lnTo>
                <a:lnTo>
                  <a:pt x="120897" y="65858"/>
                </a:lnTo>
                <a:lnTo>
                  <a:pt x="119615" y="42786"/>
                </a:lnTo>
                <a:lnTo>
                  <a:pt x="210300" y="0"/>
                </a:lnTo>
                <a:lnTo>
                  <a:pt x="222548" y="71481"/>
                </a:lnTo>
                <a:lnTo>
                  <a:pt x="265220" y="28306"/>
                </a:lnTo>
                <a:lnTo>
                  <a:pt x="404607" y="22237"/>
                </a:lnTo>
                <a:lnTo>
                  <a:pt x="470406" y="67454"/>
                </a:lnTo>
                <a:lnTo>
                  <a:pt x="531652" y="178762"/>
                </a:lnTo>
                <a:lnTo>
                  <a:pt x="565179" y="240431"/>
                </a:lnTo>
                <a:lnTo>
                  <a:pt x="630543" y="240367"/>
                </a:lnTo>
                <a:lnTo>
                  <a:pt x="701858" y="281342"/>
                </a:lnTo>
                <a:lnTo>
                  <a:pt x="738439" y="351650"/>
                </a:lnTo>
                <a:lnTo>
                  <a:pt x="763655" y="337674"/>
                </a:lnTo>
                <a:lnTo>
                  <a:pt x="826333" y="375747"/>
                </a:lnTo>
                <a:lnTo>
                  <a:pt x="856066" y="347245"/>
                </a:lnTo>
                <a:lnTo>
                  <a:pt x="810020" y="257922"/>
                </a:lnTo>
                <a:lnTo>
                  <a:pt x="871796" y="245935"/>
                </a:lnTo>
                <a:lnTo>
                  <a:pt x="874194" y="221736"/>
                </a:lnTo>
                <a:lnTo>
                  <a:pt x="926396" y="225252"/>
                </a:lnTo>
                <a:lnTo>
                  <a:pt x="921423" y="158814"/>
                </a:lnTo>
                <a:lnTo>
                  <a:pt x="954268" y="144485"/>
                </a:lnTo>
                <a:lnTo>
                  <a:pt x="1128451" y="198576"/>
                </a:lnTo>
                <a:lnTo>
                  <a:pt x="1158117" y="189778"/>
                </a:lnTo>
                <a:lnTo>
                  <a:pt x="1279109" y="208802"/>
                </a:lnTo>
                <a:lnTo>
                  <a:pt x="1330996" y="192874"/>
                </a:lnTo>
                <a:lnTo>
                  <a:pt x="1403423" y="239274"/>
                </a:lnTo>
                <a:lnTo>
                  <a:pt x="1388523" y="324532"/>
                </a:lnTo>
                <a:lnTo>
                  <a:pt x="1442491" y="322237"/>
                </a:lnTo>
                <a:lnTo>
                  <a:pt x="1492309" y="368320"/>
                </a:lnTo>
                <a:lnTo>
                  <a:pt x="1474704" y="409834"/>
                </a:lnTo>
                <a:lnTo>
                  <a:pt x="1520877" y="419462"/>
                </a:lnTo>
                <a:lnTo>
                  <a:pt x="1658758" y="378365"/>
                </a:lnTo>
                <a:lnTo>
                  <a:pt x="1635072" y="398664"/>
                </a:lnTo>
                <a:lnTo>
                  <a:pt x="1678800" y="475957"/>
                </a:lnTo>
                <a:lnTo>
                  <a:pt x="1740516" y="705654"/>
                </a:lnTo>
                <a:lnTo>
                  <a:pt x="1776609" y="669251"/>
                </a:lnTo>
                <a:lnTo>
                  <a:pt x="1837187" y="729954"/>
                </a:lnTo>
                <a:lnTo>
                  <a:pt x="1914497" y="722352"/>
                </a:lnTo>
                <a:lnTo>
                  <a:pt x="1940373" y="741690"/>
                </a:lnTo>
                <a:lnTo>
                  <a:pt x="1957845" y="792756"/>
                </a:lnTo>
                <a:lnTo>
                  <a:pt x="1992042" y="814073"/>
                </a:lnTo>
                <a:lnTo>
                  <a:pt x="2009592" y="851981"/>
                </a:lnTo>
                <a:lnTo>
                  <a:pt x="2079246" y="849759"/>
                </a:lnTo>
                <a:lnTo>
                  <a:pt x="2101779" y="903285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Map / Uzbekistan"/>
          <p:cNvSpPr/>
          <p:nvPr/>
        </p:nvSpPr>
        <p:spPr>
          <a:xfrm>
            <a:off x="7127667" y="5421817"/>
            <a:ext cx="969057" cy="939595"/>
          </a:xfrm>
          <a:custGeom>
            <a:avLst/>
            <a:gdLst/>
            <a:ahLst/>
            <a:cxnLst/>
            <a:rect l="l" t="t" r="r" b="b"/>
            <a:pathLst>
              <a:path w="969057" h="939595">
                <a:moveTo>
                  <a:pt x="0" y="263347"/>
                </a:moveTo>
                <a:lnTo>
                  <a:pt x="164143" y="0"/>
                </a:lnTo>
                <a:lnTo>
                  <a:pt x="319084" y="36509"/>
                </a:lnTo>
                <a:lnTo>
                  <a:pt x="324887" y="48268"/>
                </a:lnTo>
                <a:lnTo>
                  <a:pt x="375026" y="145343"/>
                </a:lnTo>
                <a:lnTo>
                  <a:pt x="402815" y="196456"/>
                </a:lnTo>
                <a:lnTo>
                  <a:pt x="418658" y="290255"/>
                </a:lnTo>
                <a:lnTo>
                  <a:pt x="487851" y="311593"/>
                </a:lnTo>
                <a:lnTo>
                  <a:pt x="584568" y="350805"/>
                </a:lnTo>
                <a:lnTo>
                  <a:pt x="625753" y="437011"/>
                </a:lnTo>
                <a:lnTo>
                  <a:pt x="587111" y="512409"/>
                </a:lnTo>
                <a:lnTo>
                  <a:pt x="614866" y="525311"/>
                </a:lnTo>
                <a:lnTo>
                  <a:pt x="598984" y="594016"/>
                </a:lnTo>
                <a:lnTo>
                  <a:pt x="672679" y="628173"/>
                </a:lnTo>
                <a:lnTo>
                  <a:pt x="673701" y="672031"/>
                </a:lnTo>
                <a:lnTo>
                  <a:pt x="696158" y="680530"/>
                </a:lnTo>
                <a:lnTo>
                  <a:pt x="744596" y="634477"/>
                </a:lnTo>
                <a:lnTo>
                  <a:pt x="843424" y="609190"/>
                </a:lnTo>
                <a:lnTo>
                  <a:pt x="882486" y="606910"/>
                </a:lnTo>
                <a:lnTo>
                  <a:pt x="897138" y="621021"/>
                </a:lnTo>
                <a:lnTo>
                  <a:pt x="828719" y="654361"/>
                </a:lnTo>
                <a:lnTo>
                  <a:pt x="861857" y="700421"/>
                </a:lnTo>
                <a:lnTo>
                  <a:pt x="911667" y="695627"/>
                </a:lnTo>
                <a:lnTo>
                  <a:pt x="969057" y="762191"/>
                </a:lnTo>
                <a:lnTo>
                  <a:pt x="871032" y="793592"/>
                </a:lnTo>
                <a:lnTo>
                  <a:pt x="827249" y="769126"/>
                </a:lnTo>
                <a:lnTo>
                  <a:pt x="801305" y="761994"/>
                </a:lnTo>
                <a:lnTo>
                  <a:pt x="800796" y="736601"/>
                </a:lnTo>
                <a:lnTo>
                  <a:pt x="827018" y="704306"/>
                </a:lnTo>
                <a:lnTo>
                  <a:pt x="739740" y="692362"/>
                </a:lnTo>
                <a:lnTo>
                  <a:pt x="700658" y="735640"/>
                </a:lnTo>
                <a:lnTo>
                  <a:pt x="654298" y="767873"/>
                </a:lnTo>
                <a:lnTo>
                  <a:pt x="604988" y="743323"/>
                </a:lnTo>
                <a:lnTo>
                  <a:pt x="574661" y="771391"/>
                </a:lnTo>
                <a:lnTo>
                  <a:pt x="611876" y="808939"/>
                </a:lnTo>
                <a:lnTo>
                  <a:pt x="601225" y="873519"/>
                </a:lnTo>
                <a:lnTo>
                  <a:pt x="532729" y="939595"/>
                </a:lnTo>
                <a:lnTo>
                  <a:pt x="492076" y="902710"/>
                </a:lnTo>
                <a:lnTo>
                  <a:pt x="457261" y="887031"/>
                </a:lnTo>
                <a:lnTo>
                  <a:pt x="480071" y="839518"/>
                </a:lnTo>
                <a:lnTo>
                  <a:pt x="413187" y="769263"/>
                </a:lnTo>
                <a:lnTo>
                  <a:pt x="367647" y="701555"/>
                </a:lnTo>
                <a:lnTo>
                  <a:pt x="346254" y="646472"/>
                </a:lnTo>
                <a:lnTo>
                  <a:pt x="305497" y="560226"/>
                </a:lnTo>
                <a:lnTo>
                  <a:pt x="317412" y="467817"/>
                </a:lnTo>
                <a:lnTo>
                  <a:pt x="305568" y="444264"/>
                </a:lnTo>
                <a:lnTo>
                  <a:pt x="243000" y="415162"/>
                </a:lnTo>
                <a:lnTo>
                  <a:pt x="230025" y="388231"/>
                </a:lnTo>
                <a:lnTo>
                  <a:pt x="256837" y="325954"/>
                </a:lnTo>
                <a:lnTo>
                  <a:pt x="205984" y="245806"/>
                </a:lnTo>
                <a:lnTo>
                  <a:pt x="135936" y="261416"/>
                </a:lnTo>
                <a:lnTo>
                  <a:pt x="74969" y="258515"/>
                </a:lnTo>
                <a:lnTo>
                  <a:pt x="61560" y="300296"/>
                </a:lnTo>
                <a:lnTo>
                  <a:pt x="0" y="263347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Map / Russia"/>
          <p:cNvSpPr/>
          <p:nvPr/>
        </p:nvSpPr>
        <p:spPr>
          <a:xfrm>
            <a:off x="11256695" y="2600061"/>
            <a:ext cx="55260" cy="50080"/>
          </a:xfrm>
          <a:custGeom>
            <a:avLst/>
            <a:gdLst/>
            <a:ahLst/>
            <a:cxnLst/>
            <a:rect l="l" t="t" r="r" b="b"/>
            <a:pathLst>
              <a:path w="55260" h="50080">
                <a:moveTo>
                  <a:pt x="21598" y="45216"/>
                </a:moveTo>
                <a:lnTo>
                  <a:pt x="0" y="0"/>
                </a:lnTo>
                <a:lnTo>
                  <a:pt x="55260" y="19591"/>
                </a:lnTo>
                <a:lnTo>
                  <a:pt x="48827" y="50080"/>
                </a:lnTo>
                <a:lnTo>
                  <a:pt x="21598" y="45216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Map / Russia"/>
          <p:cNvSpPr/>
          <p:nvPr/>
        </p:nvSpPr>
        <p:spPr>
          <a:xfrm>
            <a:off x="6440324" y="2672808"/>
            <a:ext cx="5838770" cy="3052007"/>
          </a:xfrm>
          <a:custGeom>
            <a:avLst/>
            <a:gdLst/>
            <a:ahLst/>
            <a:cxnLst/>
            <a:rect l="l" t="t" r="r" b="b"/>
            <a:pathLst>
              <a:path w="5838770" h="3052007">
                <a:moveTo>
                  <a:pt x="593944" y="2423909"/>
                </a:moveTo>
                <a:lnTo>
                  <a:pt x="542642" y="2446431"/>
                </a:lnTo>
                <a:lnTo>
                  <a:pt x="490015" y="2421719"/>
                </a:lnTo>
                <a:lnTo>
                  <a:pt x="389796" y="2450757"/>
                </a:lnTo>
                <a:lnTo>
                  <a:pt x="381071" y="2546945"/>
                </a:lnTo>
                <a:lnTo>
                  <a:pt x="340498" y="2586930"/>
                </a:lnTo>
                <a:lnTo>
                  <a:pt x="330964" y="2706972"/>
                </a:lnTo>
                <a:lnTo>
                  <a:pt x="330963" y="2706972"/>
                </a:lnTo>
                <a:lnTo>
                  <a:pt x="280153" y="2709939"/>
                </a:lnTo>
                <a:lnTo>
                  <a:pt x="258085" y="2719793"/>
                </a:lnTo>
                <a:lnTo>
                  <a:pt x="239920" y="2697438"/>
                </a:lnTo>
                <a:lnTo>
                  <a:pt x="239341" y="2630056"/>
                </a:lnTo>
                <a:lnTo>
                  <a:pt x="227642" y="2616466"/>
                </a:lnTo>
                <a:lnTo>
                  <a:pt x="210374" y="2575913"/>
                </a:lnTo>
                <a:lnTo>
                  <a:pt x="218633" y="2537229"/>
                </a:lnTo>
                <a:lnTo>
                  <a:pt x="186936" y="2485697"/>
                </a:lnTo>
                <a:lnTo>
                  <a:pt x="150154" y="2470309"/>
                </a:lnTo>
                <a:lnTo>
                  <a:pt x="152702" y="2451414"/>
                </a:lnTo>
                <a:lnTo>
                  <a:pt x="118979" y="2364662"/>
                </a:lnTo>
                <a:lnTo>
                  <a:pt x="63907" y="2292058"/>
                </a:lnTo>
                <a:lnTo>
                  <a:pt x="37763" y="2245351"/>
                </a:lnTo>
                <a:lnTo>
                  <a:pt x="25469" y="2246985"/>
                </a:lnTo>
                <a:lnTo>
                  <a:pt x="23193" y="2142191"/>
                </a:lnTo>
                <a:lnTo>
                  <a:pt x="0" y="2070684"/>
                </a:lnTo>
                <a:lnTo>
                  <a:pt x="2312" y="1999803"/>
                </a:lnTo>
                <a:lnTo>
                  <a:pt x="40820" y="2022678"/>
                </a:lnTo>
                <a:lnTo>
                  <a:pt x="124852" y="2010979"/>
                </a:lnTo>
                <a:lnTo>
                  <a:pt x="127307" y="1965032"/>
                </a:lnTo>
                <a:lnTo>
                  <a:pt x="209417" y="2003115"/>
                </a:lnTo>
                <a:lnTo>
                  <a:pt x="221530" y="1989479"/>
                </a:lnTo>
                <a:lnTo>
                  <a:pt x="176992" y="1961748"/>
                </a:lnTo>
                <a:lnTo>
                  <a:pt x="205234" y="1937901"/>
                </a:lnTo>
                <a:lnTo>
                  <a:pt x="241859" y="1943058"/>
                </a:lnTo>
                <a:lnTo>
                  <a:pt x="283540" y="1977761"/>
                </a:lnTo>
                <a:lnTo>
                  <a:pt x="309449" y="1964706"/>
                </a:lnTo>
                <a:lnTo>
                  <a:pt x="333745" y="1924133"/>
                </a:lnTo>
                <a:lnTo>
                  <a:pt x="380170" y="1909632"/>
                </a:lnTo>
                <a:lnTo>
                  <a:pt x="397067" y="1892167"/>
                </a:lnTo>
                <a:lnTo>
                  <a:pt x="361939" y="1816743"/>
                </a:lnTo>
                <a:lnTo>
                  <a:pt x="340078" y="1794601"/>
                </a:lnTo>
                <a:lnTo>
                  <a:pt x="346539" y="1744365"/>
                </a:lnTo>
                <a:lnTo>
                  <a:pt x="309757" y="1722977"/>
                </a:lnTo>
                <a:lnTo>
                  <a:pt x="287719" y="1653486"/>
                </a:lnTo>
                <a:lnTo>
                  <a:pt x="300803" y="1643791"/>
                </a:lnTo>
                <a:lnTo>
                  <a:pt x="316069" y="1606521"/>
                </a:lnTo>
                <a:lnTo>
                  <a:pt x="292689" y="1572374"/>
                </a:lnTo>
                <a:lnTo>
                  <a:pt x="309709" y="1552778"/>
                </a:lnTo>
                <a:lnTo>
                  <a:pt x="330713" y="1551963"/>
                </a:lnTo>
                <a:lnTo>
                  <a:pt x="346136" y="1497298"/>
                </a:lnTo>
                <a:lnTo>
                  <a:pt x="307195" y="1461547"/>
                </a:lnTo>
                <a:lnTo>
                  <a:pt x="300969" y="1446955"/>
                </a:lnTo>
                <a:lnTo>
                  <a:pt x="278341" y="1448434"/>
                </a:lnTo>
                <a:lnTo>
                  <a:pt x="269399" y="1431439"/>
                </a:lnTo>
                <a:lnTo>
                  <a:pt x="269399" y="1431438"/>
                </a:lnTo>
                <a:lnTo>
                  <a:pt x="303742" y="1389530"/>
                </a:lnTo>
                <a:lnTo>
                  <a:pt x="318425" y="1363696"/>
                </a:lnTo>
                <a:lnTo>
                  <a:pt x="330303" y="1366604"/>
                </a:lnTo>
                <a:lnTo>
                  <a:pt x="352392" y="1399878"/>
                </a:lnTo>
                <a:lnTo>
                  <a:pt x="378392" y="1403820"/>
                </a:lnTo>
                <a:lnTo>
                  <a:pt x="386905" y="1379162"/>
                </a:lnTo>
                <a:lnTo>
                  <a:pt x="378205" y="1344337"/>
                </a:lnTo>
                <a:lnTo>
                  <a:pt x="391763" y="1337589"/>
                </a:lnTo>
                <a:lnTo>
                  <a:pt x="391742" y="1312866"/>
                </a:lnTo>
                <a:lnTo>
                  <a:pt x="416729" y="1256537"/>
                </a:lnTo>
                <a:lnTo>
                  <a:pt x="440555" y="1251343"/>
                </a:lnTo>
                <a:lnTo>
                  <a:pt x="468686" y="1224517"/>
                </a:lnTo>
                <a:lnTo>
                  <a:pt x="457549" y="1176398"/>
                </a:lnTo>
                <a:lnTo>
                  <a:pt x="435377" y="1162435"/>
                </a:lnTo>
                <a:lnTo>
                  <a:pt x="448174" y="1145231"/>
                </a:lnTo>
                <a:lnTo>
                  <a:pt x="437306" y="1093802"/>
                </a:lnTo>
                <a:lnTo>
                  <a:pt x="469058" y="1054305"/>
                </a:lnTo>
                <a:lnTo>
                  <a:pt x="499854" y="1028683"/>
                </a:lnTo>
                <a:lnTo>
                  <a:pt x="503575" y="1000369"/>
                </a:lnTo>
                <a:lnTo>
                  <a:pt x="535770" y="1001395"/>
                </a:lnTo>
                <a:lnTo>
                  <a:pt x="592136" y="947749"/>
                </a:lnTo>
                <a:lnTo>
                  <a:pt x="648331" y="945969"/>
                </a:lnTo>
                <a:lnTo>
                  <a:pt x="656604" y="932621"/>
                </a:lnTo>
                <a:lnTo>
                  <a:pt x="656605" y="932622"/>
                </a:lnTo>
                <a:lnTo>
                  <a:pt x="720950" y="945258"/>
                </a:lnTo>
                <a:lnTo>
                  <a:pt x="728550" y="887680"/>
                </a:lnTo>
                <a:lnTo>
                  <a:pt x="728550" y="887680"/>
                </a:lnTo>
                <a:lnTo>
                  <a:pt x="863881" y="896198"/>
                </a:lnTo>
                <a:lnTo>
                  <a:pt x="923696" y="896535"/>
                </a:lnTo>
                <a:lnTo>
                  <a:pt x="965995" y="882410"/>
                </a:lnTo>
                <a:lnTo>
                  <a:pt x="978417" y="804092"/>
                </a:lnTo>
                <a:lnTo>
                  <a:pt x="1030892" y="784093"/>
                </a:lnTo>
                <a:lnTo>
                  <a:pt x="1061989" y="721606"/>
                </a:lnTo>
                <a:lnTo>
                  <a:pt x="1133619" y="698485"/>
                </a:lnTo>
                <a:lnTo>
                  <a:pt x="1188098" y="611066"/>
                </a:lnTo>
                <a:lnTo>
                  <a:pt x="1257023" y="598365"/>
                </a:lnTo>
                <a:lnTo>
                  <a:pt x="1274771" y="526425"/>
                </a:lnTo>
                <a:lnTo>
                  <a:pt x="1325930" y="496233"/>
                </a:lnTo>
                <a:lnTo>
                  <a:pt x="1346402" y="511652"/>
                </a:lnTo>
                <a:lnTo>
                  <a:pt x="1403987" y="532513"/>
                </a:lnTo>
                <a:lnTo>
                  <a:pt x="1403988" y="532514"/>
                </a:lnTo>
                <a:lnTo>
                  <a:pt x="1445954" y="538658"/>
                </a:lnTo>
                <a:lnTo>
                  <a:pt x="1436102" y="608728"/>
                </a:lnTo>
                <a:lnTo>
                  <a:pt x="1474182" y="684671"/>
                </a:lnTo>
                <a:lnTo>
                  <a:pt x="1484298" y="835406"/>
                </a:lnTo>
                <a:lnTo>
                  <a:pt x="1473311" y="881037"/>
                </a:lnTo>
                <a:lnTo>
                  <a:pt x="1435525" y="922290"/>
                </a:lnTo>
                <a:lnTo>
                  <a:pt x="1378188" y="927091"/>
                </a:lnTo>
                <a:lnTo>
                  <a:pt x="1323857" y="902571"/>
                </a:lnTo>
                <a:lnTo>
                  <a:pt x="1273064" y="747982"/>
                </a:lnTo>
                <a:lnTo>
                  <a:pt x="1249446" y="735780"/>
                </a:lnTo>
                <a:lnTo>
                  <a:pt x="1236967" y="817138"/>
                </a:lnTo>
                <a:lnTo>
                  <a:pt x="1208750" y="843790"/>
                </a:lnTo>
                <a:lnTo>
                  <a:pt x="1145183" y="900483"/>
                </a:lnTo>
                <a:lnTo>
                  <a:pt x="1156309" y="952254"/>
                </a:lnTo>
                <a:lnTo>
                  <a:pt x="1159086" y="987876"/>
                </a:lnTo>
                <a:lnTo>
                  <a:pt x="1192187" y="964413"/>
                </a:lnTo>
                <a:lnTo>
                  <a:pt x="1204507" y="924518"/>
                </a:lnTo>
                <a:lnTo>
                  <a:pt x="1243002" y="920226"/>
                </a:lnTo>
                <a:lnTo>
                  <a:pt x="1263585" y="1018187"/>
                </a:lnTo>
                <a:lnTo>
                  <a:pt x="1299087" y="1025441"/>
                </a:lnTo>
                <a:lnTo>
                  <a:pt x="1326122" y="965821"/>
                </a:lnTo>
                <a:lnTo>
                  <a:pt x="1440097" y="963662"/>
                </a:lnTo>
                <a:lnTo>
                  <a:pt x="1459187" y="988426"/>
                </a:lnTo>
                <a:lnTo>
                  <a:pt x="1462474" y="1031276"/>
                </a:lnTo>
                <a:lnTo>
                  <a:pt x="1515544" y="1001643"/>
                </a:lnTo>
                <a:lnTo>
                  <a:pt x="1528936" y="946226"/>
                </a:lnTo>
                <a:lnTo>
                  <a:pt x="1574425" y="919563"/>
                </a:lnTo>
                <a:lnTo>
                  <a:pt x="1592794" y="865411"/>
                </a:lnTo>
                <a:lnTo>
                  <a:pt x="1639843" y="943376"/>
                </a:lnTo>
                <a:lnTo>
                  <a:pt x="1623182" y="991101"/>
                </a:lnTo>
                <a:lnTo>
                  <a:pt x="1585580" y="972675"/>
                </a:lnTo>
                <a:lnTo>
                  <a:pt x="1555066" y="1008122"/>
                </a:lnTo>
                <a:lnTo>
                  <a:pt x="1556049" y="1046835"/>
                </a:lnTo>
                <a:lnTo>
                  <a:pt x="1606983" y="1065479"/>
                </a:lnTo>
                <a:lnTo>
                  <a:pt x="1646869" y="1028812"/>
                </a:lnTo>
                <a:lnTo>
                  <a:pt x="1724032" y="1038184"/>
                </a:lnTo>
                <a:lnTo>
                  <a:pt x="1854370" y="1042483"/>
                </a:lnTo>
                <a:lnTo>
                  <a:pt x="1871177" y="1058806"/>
                </a:lnTo>
                <a:lnTo>
                  <a:pt x="1817183" y="1084238"/>
                </a:lnTo>
                <a:lnTo>
                  <a:pt x="1844602" y="1113270"/>
                </a:lnTo>
                <a:lnTo>
                  <a:pt x="1879109" y="1101337"/>
                </a:lnTo>
                <a:lnTo>
                  <a:pt x="1929658" y="1130199"/>
                </a:lnTo>
                <a:lnTo>
                  <a:pt x="1986826" y="1123303"/>
                </a:lnTo>
                <a:lnTo>
                  <a:pt x="1992323" y="1184954"/>
                </a:lnTo>
                <a:lnTo>
                  <a:pt x="2049896" y="1152565"/>
                </a:lnTo>
                <a:lnTo>
                  <a:pt x="2045707" y="1094340"/>
                </a:lnTo>
                <a:lnTo>
                  <a:pt x="2072670" y="1077138"/>
                </a:lnTo>
                <a:lnTo>
                  <a:pt x="2138265" y="1140013"/>
                </a:lnTo>
                <a:lnTo>
                  <a:pt x="2164141" y="1181784"/>
                </a:lnTo>
                <a:lnTo>
                  <a:pt x="2227960" y="1314797"/>
                </a:lnTo>
                <a:lnTo>
                  <a:pt x="2263642" y="1281427"/>
                </a:lnTo>
                <a:lnTo>
                  <a:pt x="2251508" y="1228343"/>
                </a:lnTo>
                <a:lnTo>
                  <a:pt x="2257513" y="1211356"/>
                </a:lnTo>
                <a:lnTo>
                  <a:pt x="2227555" y="1189744"/>
                </a:lnTo>
                <a:lnTo>
                  <a:pt x="2252343" y="1156496"/>
                </a:lnTo>
                <a:lnTo>
                  <a:pt x="2264468" y="1089257"/>
                </a:lnTo>
                <a:lnTo>
                  <a:pt x="2274598" y="1063780"/>
                </a:lnTo>
                <a:lnTo>
                  <a:pt x="2351103" y="1011432"/>
                </a:lnTo>
                <a:lnTo>
                  <a:pt x="2396083" y="944725"/>
                </a:lnTo>
                <a:lnTo>
                  <a:pt x="2419900" y="935609"/>
                </a:lnTo>
                <a:lnTo>
                  <a:pt x="2475791" y="979909"/>
                </a:lnTo>
                <a:lnTo>
                  <a:pt x="2465663" y="1027286"/>
                </a:lnTo>
                <a:lnTo>
                  <a:pt x="2419023" y="1085207"/>
                </a:lnTo>
                <a:lnTo>
                  <a:pt x="2426373" y="1116652"/>
                </a:lnTo>
                <a:lnTo>
                  <a:pt x="2415958" y="1176235"/>
                </a:lnTo>
                <a:lnTo>
                  <a:pt x="2372613" y="1284611"/>
                </a:lnTo>
                <a:lnTo>
                  <a:pt x="2388658" y="1344436"/>
                </a:lnTo>
                <a:lnTo>
                  <a:pt x="2358522" y="1393873"/>
                </a:lnTo>
                <a:lnTo>
                  <a:pt x="2259255" y="1485982"/>
                </a:lnTo>
                <a:lnTo>
                  <a:pt x="2291595" y="1510298"/>
                </a:lnTo>
                <a:lnTo>
                  <a:pt x="2313853" y="1485972"/>
                </a:lnTo>
                <a:lnTo>
                  <a:pt x="2355247" y="1476742"/>
                </a:lnTo>
                <a:lnTo>
                  <a:pt x="2375950" y="1439686"/>
                </a:lnTo>
                <a:lnTo>
                  <a:pt x="2414233" y="1409446"/>
                </a:lnTo>
                <a:lnTo>
                  <a:pt x="2410484" y="1358240"/>
                </a:lnTo>
                <a:lnTo>
                  <a:pt x="2440396" y="1308953"/>
                </a:lnTo>
                <a:lnTo>
                  <a:pt x="2410751" y="1292545"/>
                </a:lnTo>
                <a:lnTo>
                  <a:pt x="2418198" y="1245379"/>
                </a:lnTo>
                <a:lnTo>
                  <a:pt x="2465867" y="1170629"/>
                </a:lnTo>
                <a:lnTo>
                  <a:pt x="2452554" y="1093078"/>
                </a:lnTo>
                <a:lnTo>
                  <a:pt x="2515896" y="1052117"/>
                </a:lnTo>
                <a:lnTo>
                  <a:pt x="2527874" y="991458"/>
                </a:lnTo>
                <a:lnTo>
                  <a:pt x="2540668" y="993231"/>
                </a:lnTo>
                <a:lnTo>
                  <a:pt x="2540328" y="1043138"/>
                </a:lnTo>
                <a:lnTo>
                  <a:pt x="2506980" y="1120016"/>
                </a:lnTo>
                <a:lnTo>
                  <a:pt x="2531082" y="1143183"/>
                </a:lnTo>
                <a:lnTo>
                  <a:pt x="2535833" y="1080135"/>
                </a:lnTo>
                <a:lnTo>
                  <a:pt x="2587603" y="1059000"/>
                </a:lnTo>
                <a:lnTo>
                  <a:pt x="2641699" y="1067368"/>
                </a:lnTo>
                <a:lnTo>
                  <a:pt x="2679609" y="1125667"/>
                </a:lnTo>
                <a:lnTo>
                  <a:pt x="2670985" y="1050500"/>
                </a:lnTo>
                <a:lnTo>
                  <a:pt x="2687740" y="959359"/>
                </a:lnTo>
                <a:lnTo>
                  <a:pt x="2732893" y="950394"/>
                </a:lnTo>
                <a:lnTo>
                  <a:pt x="2790012" y="963939"/>
                </a:lnTo>
                <a:lnTo>
                  <a:pt x="2843726" y="959623"/>
                </a:lnTo>
                <a:lnTo>
                  <a:pt x="2830145" y="911715"/>
                </a:lnTo>
                <a:lnTo>
                  <a:pt x="2863751" y="857490"/>
                </a:lnTo>
                <a:lnTo>
                  <a:pt x="2889939" y="857805"/>
                </a:lnTo>
                <a:lnTo>
                  <a:pt x="2936898" y="817565"/>
                </a:lnTo>
                <a:lnTo>
                  <a:pt x="2995390" y="808591"/>
                </a:lnTo>
                <a:lnTo>
                  <a:pt x="3003308" y="784396"/>
                </a:lnTo>
                <a:lnTo>
                  <a:pt x="3059703" y="776481"/>
                </a:lnTo>
                <a:lnTo>
                  <a:pt x="3077695" y="796187"/>
                </a:lnTo>
                <a:lnTo>
                  <a:pt x="3123635" y="746801"/>
                </a:lnTo>
                <a:lnTo>
                  <a:pt x="3162245" y="745583"/>
                </a:lnTo>
                <a:lnTo>
                  <a:pt x="3164638" y="706474"/>
                </a:lnTo>
                <a:lnTo>
                  <a:pt x="3180223" y="666421"/>
                </a:lnTo>
                <a:lnTo>
                  <a:pt x="3221865" y="624005"/>
                </a:lnTo>
                <a:lnTo>
                  <a:pt x="3259406" y="648137"/>
                </a:lnTo>
                <a:lnTo>
                  <a:pt x="3235880" y="674240"/>
                </a:lnTo>
                <a:lnTo>
                  <a:pt x="3283265" y="680738"/>
                </a:lnTo>
                <a:lnTo>
                  <a:pt x="3296491" y="723510"/>
                </a:lnTo>
                <a:lnTo>
                  <a:pt x="3311187" y="698561"/>
                </a:lnTo>
                <a:lnTo>
                  <a:pt x="3370461" y="687060"/>
                </a:lnTo>
                <a:lnTo>
                  <a:pt x="3427058" y="717776"/>
                </a:lnTo>
                <a:lnTo>
                  <a:pt x="3452662" y="745352"/>
                </a:lnTo>
                <a:lnTo>
                  <a:pt x="3459913" y="791291"/>
                </a:lnTo>
                <a:lnTo>
                  <a:pt x="3442618" y="823125"/>
                </a:lnTo>
                <a:lnTo>
                  <a:pt x="3394981" y="885040"/>
                </a:lnTo>
                <a:lnTo>
                  <a:pt x="3383096" y="914284"/>
                </a:lnTo>
                <a:lnTo>
                  <a:pt x="3414798" y="919849"/>
                </a:lnTo>
                <a:lnTo>
                  <a:pt x="3454842" y="932882"/>
                </a:lnTo>
                <a:lnTo>
                  <a:pt x="3471842" y="911364"/>
                </a:lnTo>
                <a:lnTo>
                  <a:pt x="3498589" y="962189"/>
                </a:lnTo>
                <a:lnTo>
                  <a:pt x="3503018" y="937443"/>
                </a:lnTo>
                <a:lnTo>
                  <a:pt x="3536784" y="913132"/>
                </a:lnTo>
                <a:lnTo>
                  <a:pt x="3616085" y="901968"/>
                </a:lnTo>
                <a:lnTo>
                  <a:pt x="3635616" y="938237"/>
                </a:lnTo>
                <a:lnTo>
                  <a:pt x="3738840" y="911169"/>
                </a:lnTo>
                <a:lnTo>
                  <a:pt x="3713716" y="849542"/>
                </a:lnTo>
                <a:lnTo>
                  <a:pt x="3767549" y="841991"/>
                </a:lnTo>
                <a:lnTo>
                  <a:pt x="3802810" y="824373"/>
                </a:lnTo>
                <a:lnTo>
                  <a:pt x="3859701" y="846718"/>
                </a:lnTo>
                <a:lnTo>
                  <a:pt x="3896247" y="890111"/>
                </a:lnTo>
                <a:lnTo>
                  <a:pt x="3899418" y="929376"/>
                </a:lnTo>
                <a:lnTo>
                  <a:pt x="3961520" y="972830"/>
                </a:lnTo>
                <a:lnTo>
                  <a:pt x="4016838" y="981557"/>
                </a:lnTo>
                <a:lnTo>
                  <a:pt x="3994002" y="890461"/>
                </a:lnTo>
                <a:lnTo>
                  <a:pt x="4051345" y="900657"/>
                </a:lnTo>
                <a:lnTo>
                  <a:pt x="4077762" y="856018"/>
                </a:lnTo>
                <a:lnTo>
                  <a:pt x="4136251" y="847975"/>
                </a:lnTo>
                <a:lnTo>
                  <a:pt x="4138596" y="816681"/>
                </a:lnTo>
                <a:lnTo>
                  <a:pt x="4181526" y="799885"/>
                </a:lnTo>
                <a:lnTo>
                  <a:pt x="4118042" y="747460"/>
                </a:lnTo>
                <a:lnTo>
                  <a:pt x="4122587" y="696928"/>
                </a:lnTo>
                <a:lnTo>
                  <a:pt x="4335582" y="583687"/>
                </a:lnTo>
                <a:lnTo>
                  <a:pt x="4388058" y="603252"/>
                </a:lnTo>
                <a:lnTo>
                  <a:pt x="4485309" y="595129"/>
                </a:lnTo>
                <a:lnTo>
                  <a:pt x="4545938" y="498474"/>
                </a:lnTo>
                <a:lnTo>
                  <a:pt x="4591174" y="463107"/>
                </a:lnTo>
                <a:lnTo>
                  <a:pt x="4633612" y="465253"/>
                </a:lnTo>
                <a:lnTo>
                  <a:pt x="4681748" y="504987"/>
                </a:lnTo>
                <a:lnTo>
                  <a:pt x="4722744" y="489541"/>
                </a:lnTo>
                <a:lnTo>
                  <a:pt x="4731123" y="446966"/>
                </a:lnTo>
                <a:lnTo>
                  <a:pt x="4758180" y="402020"/>
                </a:lnTo>
                <a:lnTo>
                  <a:pt x="4801966" y="363340"/>
                </a:lnTo>
                <a:lnTo>
                  <a:pt x="4822346" y="310007"/>
                </a:lnTo>
                <a:lnTo>
                  <a:pt x="4913730" y="300361"/>
                </a:lnTo>
                <a:lnTo>
                  <a:pt x="4907309" y="254272"/>
                </a:lnTo>
                <a:lnTo>
                  <a:pt x="4848012" y="250742"/>
                </a:lnTo>
                <a:lnTo>
                  <a:pt x="4820552" y="221657"/>
                </a:lnTo>
                <a:lnTo>
                  <a:pt x="4882905" y="148535"/>
                </a:lnTo>
                <a:lnTo>
                  <a:pt x="4902988" y="90725"/>
                </a:lnTo>
                <a:lnTo>
                  <a:pt x="4972317" y="26905"/>
                </a:lnTo>
                <a:lnTo>
                  <a:pt x="5021565" y="0"/>
                </a:lnTo>
                <a:lnTo>
                  <a:pt x="5336853" y="111777"/>
                </a:lnTo>
                <a:lnTo>
                  <a:pt x="5337191" y="112166"/>
                </a:lnTo>
                <a:lnTo>
                  <a:pt x="5355900" y="167608"/>
                </a:lnTo>
                <a:lnTo>
                  <a:pt x="5333516" y="208609"/>
                </a:lnTo>
                <a:lnTo>
                  <a:pt x="5386559" y="194428"/>
                </a:lnTo>
                <a:lnTo>
                  <a:pt x="5458298" y="198066"/>
                </a:lnTo>
                <a:lnTo>
                  <a:pt x="5485242" y="189536"/>
                </a:lnTo>
                <a:lnTo>
                  <a:pt x="5518948" y="197121"/>
                </a:lnTo>
                <a:lnTo>
                  <a:pt x="5536151" y="213925"/>
                </a:lnTo>
                <a:lnTo>
                  <a:pt x="5493789" y="274214"/>
                </a:lnTo>
                <a:lnTo>
                  <a:pt x="5509182" y="397940"/>
                </a:lnTo>
                <a:lnTo>
                  <a:pt x="5503571" y="433638"/>
                </a:lnTo>
                <a:lnTo>
                  <a:pt x="5529965" y="513345"/>
                </a:lnTo>
                <a:lnTo>
                  <a:pt x="5548917" y="588524"/>
                </a:lnTo>
                <a:lnTo>
                  <a:pt x="5575233" y="619167"/>
                </a:lnTo>
                <a:lnTo>
                  <a:pt x="5497321" y="643920"/>
                </a:lnTo>
                <a:lnTo>
                  <a:pt x="5500382" y="768770"/>
                </a:lnTo>
                <a:lnTo>
                  <a:pt x="5464472" y="769041"/>
                </a:lnTo>
                <a:lnTo>
                  <a:pt x="5473655" y="821419"/>
                </a:lnTo>
                <a:lnTo>
                  <a:pt x="5434257" y="862028"/>
                </a:lnTo>
                <a:lnTo>
                  <a:pt x="5472154" y="903024"/>
                </a:lnTo>
                <a:lnTo>
                  <a:pt x="5509626" y="990029"/>
                </a:lnTo>
                <a:lnTo>
                  <a:pt x="5537935" y="1007543"/>
                </a:lnTo>
                <a:lnTo>
                  <a:pt x="5581152" y="976325"/>
                </a:lnTo>
                <a:lnTo>
                  <a:pt x="5677644" y="1047441"/>
                </a:lnTo>
                <a:lnTo>
                  <a:pt x="5656417" y="1084420"/>
                </a:lnTo>
                <a:lnTo>
                  <a:pt x="5701852" y="1139737"/>
                </a:lnTo>
                <a:lnTo>
                  <a:pt x="5742124" y="1143661"/>
                </a:lnTo>
                <a:lnTo>
                  <a:pt x="5728630" y="1235988"/>
                </a:lnTo>
                <a:lnTo>
                  <a:pt x="5794788" y="1304796"/>
                </a:lnTo>
                <a:lnTo>
                  <a:pt x="5766821" y="1375903"/>
                </a:lnTo>
                <a:lnTo>
                  <a:pt x="5824119" y="1438739"/>
                </a:lnTo>
                <a:lnTo>
                  <a:pt x="5838770" y="1544426"/>
                </a:lnTo>
                <a:lnTo>
                  <a:pt x="5782589" y="1523546"/>
                </a:lnTo>
                <a:lnTo>
                  <a:pt x="5675907" y="1464156"/>
                </a:lnTo>
                <a:lnTo>
                  <a:pt x="5518067" y="1368134"/>
                </a:lnTo>
                <a:lnTo>
                  <a:pt x="5444406" y="1278328"/>
                </a:lnTo>
                <a:lnTo>
                  <a:pt x="5430155" y="1218092"/>
                </a:lnTo>
                <a:lnTo>
                  <a:pt x="5401625" y="1192227"/>
                </a:lnTo>
                <a:lnTo>
                  <a:pt x="5429015" y="1127477"/>
                </a:lnTo>
                <a:lnTo>
                  <a:pt x="5391641" y="1004262"/>
                </a:lnTo>
                <a:lnTo>
                  <a:pt x="5363621" y="897128"/>
                </a:lnTo>
                <a:lnTo>
                  <a:pt x="5349254" y="800260"/>
                </a:lnTo>
                <a:lnTo>
                  <a:pt x="5268161" y="710868"/>
                </a:lnTo>
                <a:lnTo>
                  <a:pt x="5248801" y="753650"/>
                </a:lnTo>
                <a:lnTo>
                  <a:pt x="5292619" y="810781"/>
                </a:lnTo>
                <a:lnTo>
                  <a:pt x="5308941" y="945685"/>
                </a:lnTo>
                <a:lnTo>
                  <a:pt x="5207815" y="911790"/>
                </a:lnTo>
                <a:lnTo>
                  <a:pt x="5167883" y="1009178"/>
                </a:lnTo>
                <a:lnTo>
                  <a:pt x="5209057" y="1175600"/>
                </a:lnTo>
                <a:lnTo>
                  <a:pt x="5269914" y="1182179"/>
                </a:lnTo>
                <a:lnTo>
                  <a:pt x="5223863" y="1267570"/>
                </a:lnTo>
                <a:lnTo>
                  <a:pt x="5185414" y="1321726"/>
                </a:lnTo>
                <a:lnTo>
                  <a:pt x="5144189" y="1278651"/>
                </a:lnTo>
                <a:lnTo>
                  <a:pt x="5090197" y="1316675"/>
                </a:lnTo>
                <a:lnTo>
                  <a:pt x="5081986" y="1381996"/>
                </a:lnTo>
                <a:lnTo>
                  <a:pt x="4978356" y="1459681"/>
                </a:lnTo>
                <a:lnTo>
                  <a:pt x="4888700" y="1568340"/>
                </a:lnTo>
                <a:lnTo>
                  <a:pt x="4875693" y="1781607"/>
                </a:lnTo>
                <a:lnTo>
                  <a:pt x="4841592" y="2041615"/>
                </a:lnTo>
                <a:lnTo>
                  <a:pt x="4909559" y="2008393"/>
                </a:lnTo>
                <a:lnTo>
                  <a:pt x="4958335" y="2037235"/>
                </a:lnTo>
                <a:lnTo>
                  <a:pt x="5007345" y="2024857"/>
                </a:lnTo>
                <a:lnTo>
                  <a:pt x="5008171" y="1973420"/>
                </a:lnTo>
                <a:lnTo>
                  <a:pt x="5053620" y="1946111"/>
                </a:lnTo>
                <a:lnTo>
                  <a:pt x="5164776" y="1974411"/>
                </a:lnTo>
                <a:lnTo>
                  <a:pt x="5209669" y="2028241"/>
                </a:lnTo>
                <a:lnTo>
                  <a:pt x="5229134" y="2117678"/>
                </a:lnTo>
                <a:lnTo>
                  <a:pt x="5286040" y="2198322"/>
                </a:lnTo>
                <a:lnTo>
                  <a:pt x="5347368" y="2318097"/>
                </a:lnTo>
                <a:lnTo>
                  <a:pt x="5351773" y="2464746"/>
                </a:lnTo>
                <a:lnTo>
                  <a:pt x="5370108" y="2522596"/>
                </a:lnTo>
                <a:lnTo>
                  <a:pt x="5361664" y="2647613"/>
                </a:lnTo>
                <a:lnTo>
                  <a:pt x="5349433" y="2772749"/>
                </a:lnTo>
                <a:lnTo>
                  <a:pt x="5343918" y="2835761"/>
                </a:lnTo>
                <a:lnTo>
                  <a:pt x="5301404" y="2921401"/>
                </a:lnTo>
                <a:lnTo>
                  <a:pt x="5268814" y="2942808"/>
                </a:lnTo>
                <a:lnTo>
                  <a:pt x="5214568" y="2927803"/>
                </a:lnTo>
                <a:lnTo>
                  <a:pt x="5174282" y="3022811"/>
                </a:lnTo>
                <a:lnTo>
                  <a:pt x="5179770" y="3052006"/>
                </a:lnTo>
                <a:lnTo>
                  <a:pt x="5179770" y="3052006"/>
                </a:lnTo>
                <a:lnTo>
                  <a:pt x="5179770" y="3052007"/>
                </a:lnTo>
                <a:lnTo>
                  <a:pt x="5179769" y="3052007"/>
                </a:lnTo>
                <a:lnTo>
                  <a:pt x="5164875" y="3043483"/>
                </a:lnTo>
                <a:lnTo>
                  <a:pt x="5164874" y="3043482"/>
                </a:lnTo>
                <a:lnTo>
                  <a:pt x="5143426" y="3006418"/>
                </a:lnTo>
                <a:lnTo>
                  <a:pt x="5169648" y="2988809"/>
                </a:lnTo>
                <a:lnTo>
                  <a:pt x="5127546" y="2898455"/>
                </a:lnTo>
                <a:lnTo>
                  <a:pt x="5078080" y="2844174"/>
                </a:lnTo>
                <a:lnTo>
                  <a:pt x="5106944" y="2793181"/>
                </a:lnTo>
                <a:lnTo>
                  <a:pt x="5175765" y="2768971"/>
                </a:lnTo>
                <a:lnTo>
                  <a:pt x="5166229" y="2679265"/>
                </a:lnTo>
                <a:lnTo>
                  <a:pt x="5134059" y="2591701"/>
                </a:lnTo>
                <a:lnTo>
                  <a:pt x="5136089" y="2554306"/>
                </a:lnTo>
                <a:lnTo>
                  <a:pt x="5119922" y="2475798"/>
                </a:lnTo>
                <a:lnTo>
                  <a:pt x="5056216" y="2545371"/>
                </a:lnTo>
                <a:lnTo>
                  <a:pt x="5032227" y="2598425"/>
                </a:lnTo>
                <a:lnTo>
                  <a:pt x="4959129" y="2641318"/>
                </a:lnTo>
                <a:lnTo>
                  <a:pt x="4901126" y="2584680"/>
                </a:lnTo>
                <a:lnTo>
                  <a:pt x="4816411" y="2564359"/>
                </a:lnTo>
                <a:lnTo>
                  <a:pt x="4721550" y="2584484"/>
                </a:lnTo>
                <a:lnTo>
                  <a:pt x="4667477" y="2521177"/>
                </a:lnTo>
                <a:lnTo>
                  <a:pt x="4628611" y="2483975"/>
                </a:lnTo>
                <a:lnTo>
                  <a:pt x="4595656" y="2460686"/>
                </a:lnTo>
                <a:lnTo>
                  <a:pt x="4531323" y="2399561"/>
                </a:lnTo>
                <a:lnTo>
                  <a:pt x="4479007" y="2390751"/>
                </a:lnTo>
                <a:lnTo>
                  <a:pt x="4401836" y="2398721"/>
                </a:lnTo>
                <a:lnTo>
                  <a:pt x="4342956" y="2426308"/>
                </a:lnTo>
                <a:lnTo>
                  <a:pt x="4291944" y="2463013"/>
                </a:lnTo>
                <a:lnTo>
                  <a:pt x="4268618" y="2516010"/>
                </a:lnTo>
                <a:lnTo>
                  <a:pt x="4301253" y="2524396"/>
                </a:lnTo>
                <a:lnTo>
                  <a:pt x="4318388" y="2566542"/>
                </a:lnTo>
                <a:lnTo>
                  <a:pt x="4301460" y="2601405"/>
                </a:lnTo>
                <a:lnTo>
                  <a:pt x="4288321" y="2699754"/>
                </a:lnTo>
                <a:lnTo>
                  <a:pt x="4301282" y="2733718"/>
                </a:lnTo>
                <a:lnTo>
                  <a:pt x="4247941" y="2808106"/>
                </a:lnTo>
                <a:lnTo>
                  <a:pt x="4177147" y="2798839"/>
                </a:lnTo>
                <a:lnTo>
                  <a:pt x="4118546" y="2824519"/>
                </a:lnTo>
                <a:lnTo>
                  <a:pt x="4083904" y="2806031"/>
                </a:lnTo>
                <a:lnTo>
                  <a:pt x="4050952" y="2806366"/>
                </a:lnTo>
                <a:lnTo>
                  <a:pt x="3991285" y="2883296"/>
                </a:lnTo>
                <a:lnTo>
                  <a:pt x="3926065" y="2914052"/>
                </a:lnTo>
                <a:lnTo>
                  <a:pt x="3882494" y="2945490"/>
                </a:lnTo>
                <a:lnTo>
                  <a:pt x="3813081" y="2947029"/>
                </a:lnTo>
                <a:lnTo>
                  <a:pt x="3764212" y="2957903"/>
                </a:lnTo>
                <a:lnTo>
                  <a:pt x="3724205" y="2922558"/>
                </a:lnTo>
                <a:lnTo>
                  <a:pt x="3665966" y="2892737"/>
                </a:lnTo>
                <a:lnTo>
                  <a:pt x="3612057" y="2890672"/>
                </a:lnTo>
                <a:lnTo>
                  <a:pt x="3547692" y="2911210"/>
                </a:lnTo>
                <a:lnTo>
                  <a:pt x="3500148" y="2932993"/>
                </a:lnTo>
                <a:lnTo>
                  <a:pt x="3421680" y="2907102"/>
                </a:lnTo>
                <a:lnTo>
                  <a:pt x="3405406" y="2846609"/>
                </a:lnTo>
                <a:lnTo>
                  <a:pt x="3343173" y="2831174"/>
                </a:lnTo>
                <a:lnTo>
                  <a:pt x="3296037" y="2825200"/>
                </a:lnTo>
                <a:lnTo>
                  <a:pt x="3236920" y="2794844"/>
                </a:lnTo>
                <a:lnTo>
                  <a:pt x="3187978" y="2882778"/>
                </a:lnTo>
                <a:lnTo>
                  <a:pt x="3211312" y="2930396"/>
                </a:lnTo>
                <a:lnTo>
                  <a:pt x="3162082" y="2989948"/>
                </a:lnTo>
                <a:lnTo>
                  <a:pt x="3084571" y="2970882"/>
                </a:lnTo>
                <a:lnTo>
                  <a:pt x="3031525" y="2968151"/>
                </a:lnTo>
                <a:lnTo>
                  <a:pt x="2996502" y="2929294"/>
                </a:lnTo>
                <a:lnTo>
                  <a:pt x="2941712" y="2926986"/>
                </a:lnTo>
                <a:lnTo>
                  <a:pt x="2897070" y="2900127"/>
                </a:lnTo>
                <a:lnTo>
                  <a:pt x="2815412" y="2934847"/>
                </a:lnTo>
                <a:lnTo>
                  <a:pt x="2708709" y="2998142"/>
                </a:lnTo>
                <a:lnTo>
                  <a:pt x="2650792" y="3006900"/>
                </a:lnTo>
                <a:lnTo>
                  <a:pt x="2629045" y="3011393"/>
                </a:lnTo>
                <a:lnTo>
                  <a:pt x="2606512" y="2957867"/>
                </a:lnTo>
                <a:lnTo>
                  <a:pt x="2536858" y="2960089"/>
                </a:lnTo>
                <a:lnTo>
                  <a:pt x="2519308" y="2922181"/>
                </a:lnTo>
                <a:lnTo>
                  <a:pt x="2485111" y="2900864"/>
                </a:lnTo>
                <a:lnTo>
                  <a:pt x="2467639" y="2849798"/>
                </a:lnTo>
                <a:lnTo>
                  <a:pt x="2441763" y="2830460"/>
                </a:lnTo>
                <a:lnTo>
                  <a:pt x="2364453" y="2838062"/>
                </a:lnTo>
                <a:lnTo>
                  <a:pt x="2303875" y="2777359"/>
                </a:lnTo>
                <a:lnTo>
                  <a:pt x="2267782" y="2813762"/>
                </a:lnTo>
                <a:lnTo>
                  <a:pt x="2206066" y="2584065"/>
                </a:lnTo>
                <a:lnTo>
                  <a:pt x="2162338" y="2506772"/>
                </a:lnTo>
                <a:lnTo>
                  <a:pt x="2186024" y="2486473"/>
                </a:lnTo>
                <a:lnTo>
                  <a:pt x="2048143" y="2527570"/>
                </a:lnTo>
                <a:lnTo>
                  <a:pt x="2001970" y="2517942"/>
                </a:lnTo>
                <a:lnTo>
                  <a:pt x="2019575" y="2476428"/>
                </a:lnTo>
                <a:lnTo>
                  <a:pt x="1969757" y="2430345"/>
                </a:lnTo>
                <a:lnTo>
                  <a:pt x="1915789" y="2432640"/>
                </a:lnTo>
                <a:lnTo>
                  <a:pt x="1930689" y="2347382"/>
                </a:lnTo>
                <a:lnTo>
                  <a:pt x="1858262" y="2300982"/>
                </a:lnTo>
                <a:lnTo>
                  <a:pt x="1806375" y="2316910"/>
                </a:lnTo>
                <a:lnTo>
                  <a:pt x="1685383" y="2297886"/>
                </a:lnTo>
                <a:lnTo>
                  <a:pt x="1655717" y="2306684"/>
                </a:lnTo>
                <a:lnTo>
                  <a:pt x="1481534" y="2252593"/>
                </a:lnTo>
                <a:lnTo>
                  <a:pt x="1448689" y="2266922"/>
                </a:lnTo>
                <a:lnTo>
                  <a:pt x="1453662" y="2333360"/>
                </a:lnTo>
                <a:lnTo>
                  <a:pt x="1401460" y="2329844"/>
                </a:lnTo>
                <a:lnTo>
                  <a:pt x="1399062" y="2354043"/>
                </a:lnTo>
                <a:lnTo>
                  <a:pt x="1337286" y="2366030"/>
                </a:lnTo>
                <a:lnTo>
                  <a:pt x="1383332" y="2455353"/>
                </a:lnTo>
                <a:lnTo>
                  <a:pt x="1353599" y="2483855"/>
                </a:lnTo>
                <a:lnTo>
                  <a:pt x="1290921" y="2445782"/>
                </a:lnTo>
                <a:lnTo>
                  <a:pt x="1265705" y="2459758"/>
                </a:lnTo>
                <a:lnTo>
                  <a:pt x="1229124" y="2389450"/>
                </a:lnTo>
                <a:lnTo>
                  <a:pt x="1157809" y="2348475"/>
                </a:lnTo>
                <a:lnTo>
                  <a:pt x="1092445" y="2348539"/>
                </a:lnTo>
                <a:lnTo>
                  <a:pt x="1058918" y="2286870"/>
                </a:lnTo>
                <a:lnTo>
                  <a:pt x="997672" y="2175562"/>
                </a:lnTo>
                <a:lnTo>
                  <a:pt x="931873" y="2130345"/>
                </a:lnTo>
                <a:lnTo>
                  <a:pt x="792486" y="2136414"/>
                </a:lnTo>
                <a:lnTo>
                  <a:pt x="749814" y="2179589"/>
                </a:lnTo>
                <a:lnTo>
                  <a:pt x="737566" y="2108108"/>
                </a:lnTo>
                <a:lnTo>
                  <a:pt x="646881" y="2150894"/>
                </a:lnTo>
                <a:lnTo>
                  <a:pt x="648163" y="2173966"/>
                </a:lnTo>
                <a:lnTo>
                  <a:pt x="583659" y="2201803"/>
                </a:lnTo>
                <a:lnTo>
                  <a:pt x="583684" y="2275176"/>
                </a:lnTo>
                <a:lnTo>
                  <a:pt x="617252" y="2299591"/>
                </a:lnTo>
                <a:lnTo>
                  <a:pt x="610563" y="2365341"/>
                </a:lnTo>
                <a:lnTo>
                  <a:pt x="579414" y="2395292"/>
                </a:lnTo>
                <a:lnTo>
                  <a:pt x="593944" y="2423909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Map / Russia"/>
          <p:cNvSpPr/>
          <p:nvPr/>
        </p:nvSpPr>
        <p:spPr>
          <a:xfrm>
            <a:off x="9444147" y="3094023"/>
            <a:ext cx="125329" cy="117199"/>
          </a:xfrm>
          <a:custGeom>
            <a:avLst/>
            <a:gdLst/>
            <a:ahLst/>
            <a:cxnLst/>
            <a:rect l="l" t="t" r="r" b="b"/>
            <a:pathLst>
              <a:path w="125329" h="117199">
                <a:moveTo>
                  <a:pt x="113393" y="0"/>
                </a:moveTo>
                <a:lnTo>
                  <a:pt x="123448" y="19929"/>
                </a:lnTo>
                <a:lnTo>
                  <a:pt x="125329" y="103543"/>
                </a:lnTo>
                <a:lnTo>
                  <a:pt x="87014" y="117199"/>
                </a:lnTo>
                <a:lnTo>
                  <a:pt x="36996" y="91548"/>
                </a:lnTo>
                <a:lnTo>
                  <a:pt x="8685" y="55785"/>
                </a:lnTo>
                <a:lnTo>
                  <a:pt x="0" y="1939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Map / Russia"/>
          <p:cNvSpPr/>
          <p:nvPr/>
        </p:nvSpPr>
        <p:spPr>
          <a:xfrm>
            <a:off x="9566218" y="3151369"/>
            <a:ext cx="101779" cy="134658"/>
          </a:xfrm>
          <a:custGeom>
            <a:avLst/>
            <a:gdLst/>
            <a:ahLst/>
            <a:cxnLst/>
            <a:rect l="l" t="t" r="r" b="b"/>
            <a:pathLst>
              <a:path w="101779" h="134658">
                <a:moveTo>
                  <a:pt x="50424" y="4618"/>
                </a:moveTo>
                <a:lnTo>
                  <a:pt x="101650" y="50785"/>
                </a:lnTo>
                <a:lnTo>
                  <a:pt x="101779" y="88506"/>
                </a:lnTo>
                <a:lnTo>
                  <a:pt x="0" y="134658"/>
                </a:lnTo>
                <a:lnTo>
                  <a:pt x="23809" y="11755"/>
                </a:lnTo>
                <a:lnTo>
                  <a:pt x="36907" y="0"/>
                </a:lnTo>
                <a:lnTo>
                  <a:pt x="50424" y="4618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Map / Russia"/>
          <p:cNvSpPr/>
          <p:nvPr/>
        </p:nvSpPr>
        <p:spPr>
          <a:xfrm>
            <a:off x="10344837" y="3116182"/>
            <a:ext cx="181158" cy="153030"/>
          </a:xfrm>
          <a:custGeom>
            <a:avLst/>
            <a:gdLst/>
            <a:ahLst/>
            <a:cxnLst/>
            <a:rect l="l" t="t" r="r" b="b"/>
            <a:pathLst>
              <a:path w="181158" h="153030">
                <a:moveTo>
                  <a:pt x="13241" y="45829"/>
                </a:moveTo>
                <a:lnTo>
                  <a:pt x="60552" y="14540"/>
                </a:lnTo>
                <a:lnTo>
                  <a:pt x="151246" y="0"/>
                </a:lnTo>
                <a:lnTo>
                  <a:pt x="181158" y="61162"/>
                </a:lnTo>
                <a:lnTo>
                  <a:pt x="113840" y="113203"/>
                </a:lnTo>
                <a:lnTo>
                  <a:pt x="95720" y="153030"/>
                </a:lnTo>
                <a:lnTo>
                  <a:pt x="25340" y="132849"/>
                </a:lnTo>
                <a:lnTo>
                  <a:pt x="0" y="76015"/>
                </a:lnTo>
                <a:lnTo>
                  <a:pt x="13241" y="45829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Map / Russia"/>
          <p:cNvSpPr/>
          <p:nvPr/>
        </p:nvSpPr>
        <p:spPr>
          <a:xfrm>
            <a:off x="10520951" y="3058919"/>
            <a:ext cx="102243" cy="67484"/>
          </a:xfrm>
          <a:custGeom>
            <a:avLst/>
            <a:gdLst/>
            <a:ahLst/>
            <a:cxnLst/>
            <a:rect l="l" t="t" r="r" b="b"/>
            <a:pathLst>
              <a:path w="102243" h="67484">
                <a:moveTo>
                  <a:pt x="39443" y="23866"/>
                </a:moveTo>
                <a:lnTo>
                  <a:pt x="95835" y="0"/>
                </a:lnTo>
                <a:lnTo>
                  <a:pt x="102243" y="43381"/>
                </a:lnTo>
                <a:lnTo>
                  <a:pt x="70297" y="63807"/>
                </a:lnTo>
                <a:lnTo>
                  <a:pt x="15424" y="67484"/>
                </a:lnTo>
                <a:lnTo>
                  <a:pt x="0" y="42695"/>
                </a:lnTo>
                <a:lnTo>
                  <a:pt x="39443" y="23866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Map / Russia"/>
          <p:cNvSpPr/>
          <p:nvPr/>
        </p:nvSpPr>
        <p:spPr>
          <a:xfrm>
            <a:off x="10520779" y="3276194"/>
            <a:ext cx="84078" cy="67935"/>
          </a:xfrm>
          <a:custGeom>
            <a:avLst/>
            <a:gdLst/>
            <a:ahLst/>
            <a:cxnLst/>
            <a:rect l="l" t="t" r="r" b="b"/>
            <a:pathLst>
              <a:path w="84078" h="67935">
                <a:moveTo>
                  <a:pt x="2485" y="66915"/>
                </a:moveTo>
                <a:lnTo>
                  <a:pt x="0" y="25305"/>
                </a:lnTo>
                <a:lnTo>
                  <a:pt x="18815" y="0"/>
                </a:lnTo>
                <a:lnTo>
                  <a:pt x="66981" y="3475"/>
                </a:lnTo>
                <a:lnTo>
                  <a:pt x="84078" y="18994"/>
                </a:lnTo>
                <a:lnTo>
                  <a:pt x="55133" y="43792"/>
                </a:lnTo>
                <a:lnTo>
                  <a:pt x="8753" y="67935"/>
                </a:lnTo>
                <a:lnTo>
                  <a:pt x="2485" y="66915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Map / Russia"/>
          <p:cNvSpPr/>
          <p:nvPr/>
        </p:nvSpPr>
        <p:spPr>
          <a:xfrm>
            <a:off x="6549512" y="3491956"/>
            <a:ext cx="102955" cy="139975"/>
          </a:xfrm>
          <a:custGeom>
            <a:avLst/>
            <a:gdLst/>
            <a:ahLst/>
            <a:cxnLst/>
            <a:rect l="l" t="t" r="r" b="b"/>
            <a:pathLst>
              <a:path w="102955" h="139975">
                <a:moveTo>
                  <a:pt x="63771" y="139975"/>
                </a:moveTo>
                <a:lnTo>
                  <a:pt x="19500" y="63656"/>
                </a:lnTo>
                <a:lnTo>
                  <a:pt x="0" y="7176"/>
                </a:lnTo>
                <a:lnTo>
                  <a:pt x="37096" y="0"/>
                </a:lnTo>
                <a:lnTo>
                  <a:pt x="91408" y="44633"/>
                </a:lnTo>
                <a:lnTo>
                  <a:pt x="102955" y="94650"/>
                </a:lnTo>
                <a:lnTo>
                  <a:pt x="102057" y="119261"/>
                </a:lnTo>
                <a:lnTo>
                  <a:pt x="80025" y="126152"/>
                </a:lnTo>
                <a:lnTo>
                  <a:pt x="63771" y="139975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Map / Russia"/>
          <p:cNvSpPr/>
          <p:nvPr/>
        </p:nvSpPr>
        <p:spPr>
          <a:xfrm>
            <a:off x="8372985" y="3266884"/>
            <a:ext cx="575759" cy="375515"/>
          </a:xfrm>
          <a:custGeom>
            <a:avLst/>
            <a:gdLst/>
            <a:ahLst/>
            <a:cxnLst/>
            <a:rect l="l" t="t" r="r" b="b"/>
            <a:pathLst>
              <a:path w="575759" h="375515">
                <a:moveTo>
                  <a:pt x="153905" y="98038"/>
                </a:moveTo>
                <a:lnTo>
                  <a:pt x="244041" y="65291"/>
                </a:lnTo>
                <a:lnTo>
                  <a:pt x="260319" y="28174"/>
                </a:lnTo>
                <a:lnTo>
                  <a:pt x="327574" y="14737"/>
                </a:lnTo>
                <a:lnTo>
                  <a:pt x="418003" y="0"/>
                </a:lnTo>
                <a:lnTo>
                  <a:pt x="488368" y="16600"/>
                </a:lnTo>
                <a:lnTo>
                  <a:pt x="534561" y="1129"/>
                </a:lnTo>
                <a:lnTo>
                  <a:pt x="575749" y="5955"/>
                </a:lnTo>
                <a:lnTo>
                  <a:pt x="575759" y="44240"/>
                </a:lnTo>
                <a:lnTo>
                  <a:pt x="552210" y="64793"/>
                </a:lnTo>
                <a:lnTo>
                  <a:pt x="464374" y="74511"/>
                </a:lnTo>
                <a:lnTo>
                  <a:pt x="384768" y="82182"/>
                </a:lnTo>
                <a:lnTo>
                  <a:pt x="281237" y="120729"/>
                </a:lnTo>
                <a:lnTo>
                  <a:pt x="206259" y="175307"/>
                </a:lnTo>
                <a:lnTo>
                  <a:pt x="127881" y="224600"/>
                </a:lnTo>
                <a:lnTo>
                  <a:pt x="93723" y="287786"/>
                </a:lnTo>
                <a:lnTo>
                  <a:pt x="101663" y="375515"/>
                </a:lnTo>
                <a:lnTo>
                  <a:pt x="83484" y="373238"/>
                </a:lnTo>
                <a:lnTo>
                  <a:pt x="11974" y="313730"/>
                </a:lnTo>
                <a:lnTo>
                  <a:pt x="27337" y="278150"/>
                </a:lnTo>
                <a:lnTo>
                  <a:pt x="0" y="230660"/>
                </a:lnTo>
                <a:lnTo>
                  <a:pt x="24176" y="190741"/>
                </a:lnTo>
                <a:lnTo>
                  <a:pt x="56988" y="191502"/>
                </a:lnTo>
                <a:lnTo>
                  <a:pt x="83517" y="152457"/>
                </a:lnTo>
                <a:lnTo>
                  <a:pt x="166621" y="119507"/>
                </a:lnTo>
                <a:lnTo>
                  <a:pt x="153905" y="98038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Map / Russia"/>
          <p:cNvSpPr/>
          <p:nvPr/>
        </p:nvSpPr>
        <p:spPr>
          <a:xfrm>
            <a:off x="11579406" y="4525476"/>
            <a:ext cx="479786" cy="556522"/>
          </a:xfrm>
          <a:custGeom>
            <a:avLst/>
            <a:gdLst/>
            <a:ahLst/>
            <a:cxnLst/>
            <a:rect l="l" t="t" r="r" b="b"/>
            <a:pathLst>
              <a:path w="479786" h="556522">
                <a:moveTo>
                  <a:pt x="53571" y="33902"/>
                </a:moveTo>
                <a:lnTo>
                  <a:pt x="117531" y="83854"/>
                </a:lnTo>
                <a:lnTo>
                  <a:pt x="168670" y="146794"/>
                </a:lnTo>
                <a:lnTo>
                  <a:pt x="238649" y="196661"/>
                </a:lnTo>
                <a:lnTo>
                  <a:pt x="374867" y="272583"/>
                </a:lnTo>
                <a:lnTo>
                  <a:pt x="296191" y="303943"/>
                </a:lnTo>
                <a:lnTo>
                  <a:pt x="346714" y="417643"/>
                </a:lnTo>
                <a:lnTo>
                  <a:pt x="443428" y="447880"/>
                </a:lnTo>
                <a:lnTo>
                  <a:pt x="479786" y="493362"/>
                </a:lnTo>
                <a:lnTo>
                  <a:pt x="414209" y="482738"/>
                </a:lnTo>
                <a:lnTo>
                  <a:pt x="425902" y="556522"/>
                </a:lnTo>
                <a:lnTo>
                  <a:pt x="373661" y="508855"/>
                </a:lnTo>
                <a:lnTo>
                  <a:pt x="327656" y="441919"/>
                </a:lnTo>
                <a:lnTo>
                  <a:pt x="266527" y="376268"/>
                </a:lnTo>
                <a:lnTo>
                  <a:pt x="236878" y="319765"/>
                </a:lnTo>
                <a:lnTo>
                  <a:pt x="169010" y="232562"/>
                </a:lnTo>
                <a:lnTo>
                  <a:pt x="94672" y="188345"/>
                </a:lnTo>
                <a:lnTo>
                  <a:pt x="27797" y="97704"/>
                </a:lnTo>
                <a:lnTo>
                  <a:pt x="39012" y="39799"/>
                </a:lnTo>
                <a:lnTo>
                  <a:pt x="0" y="22475"/>
                </a:lnTo>
                <a:lnTo>
                  <a:pt x="9206" y="0"/>
                </a:lnTo>
                <a:lnTo>
                  <a:pt x="53571" y="33902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Map / Russia"/>
          <p:cNvSpPr/>
          <p:nvPr/>
        </p:nvSpPr>
        <p:spPr>
          <a:xfrm>
            <a:off x="6271018" y="4475994"/>
            <a:ext cx="180032" cy="188860"/>
          </a:xfrm>
          <a:custGeom>
            <a:avLst/>
            <a:gdLst/>
            <a:ahLst/>
            <a:cxnLst/>
            <a:rect l="l" t="t" r="r" b="b"/>
            <a:pathLst>
              <a:path w="180032" h="188860">
                <a:moveTo>
                  <a:pt x="95556" y="13058"/>
                </a:moveTo>
                <a:lnTo>
                  <a:pt x="121190" y="11874"/>
                </a:lnTo>
                <a:lnTo>
                  <a:pt x="133508" y="54959"/>
                </a:lnTo>
                <a:lnTo>
                  <a:pt x="142935" y="71372"/>
                </a:lnTo>
                <a:lnTo>
                  <a:pt x="135183" y="87749"/>
                </a:lnTo>
                <a:lnTo>
                  <a:pt x="138912" y="96100"/>
                </a:lnTo>
                <a:lnTo>
                  <a:pt x="133708" y="101129"/>
                </a:lnTo>
                <a:lnTo>
                  <a:pt x="136959" y="135977"/>
                </a:lnTo>
                <a:lnTo>
                  <a:pt x="180032" y="177735"/>
                </a:lnTo>
                <a:lnTo>
                  <a:pt x="150082" y="188860"/>
                </a:lnTo>
                <a:lnTo>
                  <a:pt x="96762" y="149437"/>
                </a:lnTo>
                <a:lnTo>
                  <a:pt x="7742" y="118453"/>
                </a:lnTo>
                <a:lnTo>
                  <a:pt x="0" y="81901"/>
                </a:lnTo>
                <a:lnTo>
                  <a:pt x="38816" y="67359"/>
                </a:lnTo>
                <a:lnTo>
                  <a:pt x="17776" y="1770"/>
                </a:lnTo>
                <a:lnTo>
                  <a:pt x="36766" y="0"/>
                </a:lnTo>
                <a:lnTo>
                  <a:pt x="93316" y="26240"/>
                </a:lnTo>
                <a:lnTo>
                  <a:pt x="95556" y="13058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Map / Belarus"/>
          <p:cNvSpPr/>
          <p:nvPr/>
        </p:nvSpPr>
        <p:spPr>
          <a:xfrm>
            <a:off x="6438036" y="3680523"/>
            <a:ext cx="470974" cy="423724"/>
          </a:xfrm>
          <a:custGeom>
            <a:avLst/>
            <a:gdLst/>
            <a:ahLst/>
            <a:cxnLst/>
            <a:rect l="l" t="t" r="r" b="b"/>
            <a:pathLst>
              <a:path w="470974" h="423724">
                <a:moveTo>
                  <a:pt x="439594" y="86087"/>
                </a:moveTo>
                <a:lnTo>
                  <a:pt x="450462" y="137516"/>
                </a:lnTo>
                <a:lnTo>
                  <a:pt x="437665" y="154720"/>
                </a:lnTo>
                <a:lnTo>
                  <a:pt x="459837" y="168683"/>
                </a:lnTo>
                <a:lnTo>
                  <a:pt x="470974" y="216802"/>
                </a:lnTo>
                <a:lnTo>
                  <a:pt x="442843" y="243628"/>
                </a:lnTo>
                <a:lnTo>
                  <a:pt x="419017" y="248822"/>
                </a:lnTo>
                <a:lnTo>
                  <a:pt x="394030" y="305151"/>
                </a:lnTo>
                <a:lnTo>
                  <a:pt x="394051" y="329874"/>
                </a:lnTo>
                <a:lnTo>
                  <a:pt x="380493" y="336622"/>
                </a:lnTo>
                <a:lnTo>
                  <a:pt x="389193" y="371447"/>
                </a:lnTo>
                <a:lnTo>
                  <a:pt x="380680" y="396105"/>
                </a:lnTo>
                <a:lnTo>
                  <a:pt x="354680" y="392163"/>
                </a:lnTo>
                <a:lnTo>
                  <a:pt x="332591" y="358889"/>
                </a:lnTo>
                <a:lnTo>
                  <a:pt x="320713" y="355981"/>
                </a:lnTo>
                <a:lnTo>
                  <a:pt x="306030" y="381815"/>
                </a:lnTo>
                <a:lnTo>
                  <a:pt x="271687" y="423723"/>
                </a:lnTo>
                <a:lnTo>
                  <a:pt x="271687" y="423724"/>
                </a:lnTo>
                <a:lnTo>
                  <a:pt x="241486" y="392058"/>
                </a:lnTo>
                <a:lnTo>
                  <a:pt x="217618" y="390337"/>
                </a:lnTo>
                <a:lnTo>
                  <a:pt x="182329" y="412430"/>
                </a:lnTo>
                <a:lnTo>
                  <a:pt x="176590" y="391213"/>
                </a:lnTo>
                <a:lnTo>
                  <a:pt x="146180" y="355887"/>
                </a:lnTo>
                <a:lnTo>
                  <a:pt x="154109" y="333748"/>
                </a:lnTo>
                <a:lnTo>
                  <a:pt x="131272" y="326265"/>
                </a:lnTo>
                <a:lnTo>
                  <a:pt x="130041" y="303613"/>
                </a:lnTo>
                <a:lnTo>
                  <a:pt x="108657" y="269351"/>
                </a:lnTo>
                <a:lnTo>
                  <a:pt x="93656" y="210894"/>
                </a:lnTo>
                <a:lnTo>
                  <a:pt x="71358" y="164120"/>
                </a:lnTo>
                <a:lnTo>
                  <a:pt x="48979" y="131640"/>
                </a:lnTo>
                <a:lnTo>
                  <a:pt x="15344" y="119384"/>
                </a:lnTo>
                <a:lnTo>
                  <a:pt x="0" y="100036"/>
                </a:lnTo>
                <a:lnTo>
                  <a:pt x="31051" y="80447"/>
                </a:lnTo>
                <a:lnTo>
                  <a:pt x="55993" y="47624"/>
                </a:lnTo>
                <a:lnTo>
                  <a:pt x="85775" y="64836"/>
                </a:lnTo>
                <a:lnTo>
                  <a:pt x="114067" y="48192"/>
                </a:lnTo>
                <a:lnTo>
                  <a:pt x="133947" y="20414"/>
                </a:lnTo>
                <a:lnTo>
                  <a:pt x="164161" y="0"/>
                </a:lnTo>
                <a:lnTo>
                  <a:pt x="187881" y="40400"/>
                </a:lnTo>
                <a:lnTo>
                  <a:pt x="241897" y="68442"/>
                </a:lnTo>
                <a:lnTo>
                  <a:pt x="287004" y="52828"/>
                </a:lnTo>
                <a:lnTo>
                  <a:pt x="330126" y="70961"/>
                </a:lnTo>
                <a:lnTo>
                  <a:pt x="358528" y="47104"/>
                </a:lnTo>
                <a:lnTo>
                  <a:pt x="385600" y="62992"/>
                </a:lnTo>
                <a:lnTo>
                  <a:pt x="439594" y="86087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 / Россия"/>
          <p:cNvSpPr txBox="1"/>
          <p:nvPr/>
        </p:nvSpPr>
        <p:spPr>
          <a:xfrm>
            <a:off x="9601200" y="4114800"/>
            <a:ext cx="21945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11110"/>
                </a:solidFill>
                <a:latin typeface="Manrope"/>
              </a:defRPr>
            </a:pPr>
            <a:r>
              <a:t>Россия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6126479" y="3860845"/>
            <a:ext cx="599460" cy="272242"/>
          </a:xfrm>
          <a:prstGeom prst="line">
            <a:avLst/>
          </a:prstGeom>
          <a:ln w="10160">
            <a:solidFill>
              <a:srgbClr val="C3C5BC"/>
            </a:solidFill>
          </a:ln>
        </p:spPr>
      </p:cxnSp>
      <p:sp>
        <p:nvSpPr>
          <p:cNvPr id="80" name="Colour field / FFFFFF"/>
          <p:cNvSpPr/>
          <p:nvPr/>
        </p:nvSpPr>
        <p:spPr>
          <a:xfrm>
            <a:off x="6684791" y="3819697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 / Беларусь"/>
          <p:cNvSpPr txBox="1"/>
          <p:nvPr/>
        </p:nvSpPr>
        <p:spPr>
          <a:xfrm>
            <a:off x="3931920" y="4206240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anrope"/>
              </a:defRPr>
            </a:pPr>
            <a:r>
              <a:t>Беларусь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969060" y="5496993"/>
            <a:ext cx="900620" cy="373455"/>
          </a:xfrm>
          <a:prstGeom prst="line">
            <a:avLst/>
          </a:prstGeom>
          <a:ln w="10160">
            <a:solidFill>
              <a:srgbClr val="C3C5BC"/>
            </a:solidFill>
          </a:ln>
        </p:spPr>
      </p:cxnSp>
      <p:sp>
        <p:nvSpPr>
          <p:cNvPr id="83" name="Colour field / FFFFFF"/>
          <p:cNvSpPr/>
          <p:nvPr/>
        </p:nvSpPr>
        <p:spPr>
          <a:xfrm>
            <a:off x="7927912" y="5455845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 / Казахстан"/>
          <p:cNvSpPr txBox="1"/>
          <p:nvPr/>
        </p:nvSpPr>
        <p:spPr>
          <a:xfrm>
            <a:off x="8869680" y="5943600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anrope"/>
              </a:defRPr>
            </a:pPr>
            <a:r>
              <a:t>Казахстан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615699" y="5934844"/>
            <a:ext cx="1162541" cy="895724"/>
          </a:xfrm>
          <a:prstGeom prst="line">
            <a:avLst/>
          </a:prstGeom>
          <a:ln w="10160">
            <a:solidFill>
              <a:srgbClr val="C3C5BC"/>
            </a:solidFill>
          </a:ln>
        </p:spPr>
      </p:cxnSp>
      <p:sp>
        <p:nvSpPr>
          <p:cNvPr id="86" name="Colour field / FFFFFF"/>
          <p:cNvSpPr/>
          <p:nvPr/>
        </p:nvSpPr>
        <p:spPr>
          <a:xfrm>
            <a:off x="7574551" y="5893696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 / Узбекистан"/>
          <p:cNvSpPr txBox="1"/>
          <p:nvPr/>
        </p:nvSpPr>
        <p:spPr>
          <a:xfrm>
            <a:off x="7360920" y="6903720"/>
            <a:ext cx="28346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anrope"/>
              </a:defRPr>
            </a:pPr>
            <a:r>
              <a:t>Узбекистан</a:t>
            </a:r>
          </a:p>
        </p:txBody>
      </p:sp>
      <p:sp>
        <p:nvSpPr>
          <p:cNvPr id="88" name="Colour field / A0A393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Colour field / A0A393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Colour field / A0A393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1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777C6D"/>
            </a:solidFill>
          </a:ln>
        </p:spPr>
      </p:cxnSp>
      <p:cxnSp>
        <p:nvCxnSpPr>
          <p:cNvPr id="92" name="Graphic / connection"/>
          <p:cNvCxnSpPr/>
          <p:nvPr/>
        </p:nvCxnSpPr>
        <p:spPr>
          <a:xfrm>
            <a:off x="3703320" y="2377440"/>
            <a:ext cx="274319" cy="0"/>
          </a:xfrm>
          <a:prstGeom prst="line">
            <a:avLst/>
          </a:prstGeom>
          <a:ln w="8890">
            <a:solidFill>
              <a:srgbClr val="484D41"/>
            </a:solidFill>
          </a:ln>
        </p:spPr>
      </p:cxnSp>
      <p:cxnSp>
        <p:nvCxnSpPr>
          <p:cNvPr id="93" name="Graphic / connection"/>
          <p:cNvCxnSpPr/>
          <p:nvPr/>
        </p:nvCxnSpPr>
        <p:spPr>
          <a:xfrm>
            <a:off x="3703320" y="2377440"/>
            <a:ext cx="0" cy="274320"/>
          </a:xfrm>
          <a:prstGeom prst="line">
            <a:avLst/>
          </a:prstGeom>
          <a:ln w="8890">
            <a:solidFill>
              <a:srgbClr val="484D41"/>
            </a:solidFill>
          </a:ln>
        </p:spPr>
      </p:cxnSp>
      <p:cxnSp>
        <p:nvCxnSpPr>
          <p:cNvPr id="94" name="Graphic / connection"/>
          <p:cNvCxnSpPr/>
          <p:nvPr/>
        </p:nvCxnSpPr>
        <p:spPr>
          <a:xfrm flipH="1">
            <a:off x="13807440" y="2377440"/>
            <a:ext cx="274320" cy="0"/>
          </a:xfrm>
          <a:prstGeom prst="line">
            <a:avLst/>
          </a:prstGeom>
          <a:ln w="8890">
            <a:solidFill>
              <a:srgbClr val="484D41"/>
            </a:solidFill>
          </a:ln>
        </p:spPr>
      </p:cxnSp>
      <p:cxnSp>
        <p:nvCxnSpPr>
          <p:cNvPr id="95" name="Graphic / connection"/>
          <p:cNvCxnSpPr/>
          <p:nvPr/>
        </p:nvCxnSpPr>
        <p:spPr>
          <a:xfrm>
            <a:off x="14081760" y="2377440"/>
            <a:ext cx="0" cy="274320"/>
          </a:xfrm>
          <a:prstGeom prst="line">
            <a:avLst/>
          </a:prstGeom>
          <a:ln w="8890">
            <a:solidFill>
              <a:srgbClr val="484D41"/>
            </a:solidFill>
          </a:ln>
        </p:spPr>
      </p:cxnSp>
      <p:cxnSp>
        <p:nvCxnSpPr>
          <p:cNvPr id="96" name="Graphic / connection"/>
          <p:cNvCxnSpPr/>
          <p:nvPr/>
        </p:nvCxnSpPr>
        <p:spPr>
          <a:xfrm flipH="1">
            <a:off x="13807440" y="7360920"/>
            <a:ext cx="274320" cy="0"/>
          </a:xfrm>
          <a:prstGeom prst="line">
            <a:avLst/>
          </a:prstGeom>
          <a:ln w="8890">
            <a:solidFill>
              <a:srgbClr val="484D41"/>
            </a:solidFill>
          </a:ln>
        </p:spPr>
      </p:cxnSp>
      <p:cxnSp>
        <p:nvCxnSpPr>
          <p:cNvPr id="97" name="Graphic / connection"/>
          <p:cNvCxnSpPr/>
          <p:nvPr/>
        </p:nvCxnSpPr>
        <p:spPr>
          <a:xfrm flipV="1">
            <a:off x="14081760" y="7086600"/>
            <a:ext cx="0" cy="274320"/>
          </a:xfrm>
          <a:prstGeom prst="line">
            <a:avLst/>
          </a:prstGeom>
          <a:ln w="8890">
            <a:solidFill>
              <a:srgbClr val="484D41"/>
            </a:solidFill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" name="Graphic / outline 09"/>
          <p:cNvSpPr txBox="1"/>
          <p:nvPr/>
        </p:nvSpPr>
        <p:spPr>
          <a:xfrm>
            <a:off x="6492240" y="6309360"/>
            <a:ext cx="146304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175"/>
              </a:lnSpc>
              <a:spcBef>
                <a:spcPts val="0"/>
              </a:spcBef>
              <a:spcAft>
                <a:spcPts val="0"/>
              </a:spcAft>
              <a:defRPr sz="6500" b="1">
                <a:solidFill>
                  <a:srgbClr val="E7E9E0"/>
                </a:solidFill>
                <a:latin typeface="Manrope"/>
              </a:defRPr>
            </a:pPr>
            <a:r>
              <a:rPr spc="-120">
                <a:noFill/>
                <a:ln w="8500">
                  <a:solidFill>
                    <a:srgbClr val="E7E9E0"/>
                  </a:solidFill>
                </a:ln>
              </a:rPr>
              <a:t>09</a:t>
            </a:r>
          </a:p>
        </p:txBody>
      </p:sp>
      <p:sp>
        <p:nvSpPr>
          <p:cNvPr id="44" name="Colour field / E2E4DA"/>
          <p:cNvSpPr/>
          <p:nvPr/>
        </p:nvSpPr>
        <p:spPr>
          <a:xfrm>
            <a:off x="5449824" y="5120640"/>
            <a:ext cx="9144" cy="2304288"/>
          </a:xfrm>
          <a:prstGeom prst="rect">
            <a:avLst/>
          </a:prstGeom>
          <a:solidFill>
            <a:srgbClr val="E2E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Colour field / E2E4DA"/>
          <p:cNvSpPr/>
          <p:nvPr/>
        </p:nvSpPr>
        <p:spPr>
          <a:xfrm>
            <a:off x="2971800" y="5120640"/>
            <a:ext cx="9144" cy="2304288"/>
          </a:xfrm>
          <a:prstGeom prst="rect">
            <a:avLst/>
          </a:prstGeom>
          <a:solidFill>
            <a:srgbClr val="E2E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Colour field / E2E4DA"/>
          <p:cNvSpPr/>
          <p:nvPr/>
        </p:nvSpPr>
        <p:spPr>
          <a:xfrm>
            <a:off x="640080" y="6556248"/>
            <a:ext cx="7132320" cy="10972"/>
          </a:xfrm>
          <a:prstGeom prst="rect">
            <a:avLst/>
          </a:prstGeom>
          <a:solidFill>
            <a:srgbClr val="E2E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Colour field / E2E4DA"/>
          <p:cNvSpPr/>
          <p:nvPr/>
        </p:nvSpPr>
        <p:spPr>
          <a:xfrm>
            <a:off x="640080" y="5843016"/>
            <a:ext cx="7132320" cy="10972"/>
          </a:xfrm>
          <a:prstGeom prst="rect">
            <a:avLst/>
          </a:prstGeom>
          <a:solidFill>
            <a:srgbClr val="E2E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Colour field / E2E4DA"/>
          <p:cNvSpPr/>
          <p:nvPr/>
        </p:nvSpPr>
        <p:spPr>
          <a:xfrm>
            <a:off x="640080" y="5084064"/>
            <a:ext cx="7132320" cy="10972"/>
          </a:xfrm>
          <a:prstGeom prst="rect">
            <a:avLst/>
          </a:prstGeom>
          <a:solidFill>
            <a:srgbClr val="E2E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Colour field / E1E2D9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КЛИЕНТСКИЙ ОПЫТ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КЛИЕНТСКИЙ ОПЫТ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6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06</a:t>
            </a:r>
          </a:p>
        </p:txBody>
      </p:sp>
      <p:sp>
        <p:nvSpPr>
          <p:cNvPr id="6" name="Text / Опыт Ventra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Опыт Ventra</a:t>
            </a:r>
          </a:p>
        </p:txBody>
      </p:sp>
      <p:sp>
        <p:nvSpPr>
          <p:cNvPr id="7" name="Text / Объединяем опыт разных индустрий, чтобы наход"/>
          <p:cNvSpPr txBox="1"/>
          <p:nvPr/>
        </p:nvSpPr>
        <p:spPr>
          <a:xfrm>
            <a:off x="640080" y="2697480"/>
            <a:ext cx="133502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Объединяем опыт разных индустрий, чтобы находить решения с учётом специфики вашего бизнеса.</a:t>
            </a:r>
          </a:p>
        </p:txBody>
      </p:sp>
      <p:sp>
        <p:nvSpPr>
          <p:cNvPr id="8" name="Text / 750+"/>
          <p:cNvSpPr txBox="1"/>
          <p:nvPr/>
        </p:nvSpPr>
        <p:spPr>
          <a:xfrm>
            <a:off x="640080" y="3520440"/>
            <a:ext cx="34747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100"/>
              <a:t>750+</a:t>
            </a:r>
          </a:p>
        </p:txBody>
      </p:sp>
      <p:sp>
        <p:nvSpPr>
          <p:cNvPr id="9" name="Text / клиентов"/>
          <p:cNvSpPr txBox="1"/>
          <p:nvPr/>
        </p:nvSpPr>
        <p:spPr>
          <a:xfrm>
            <a:off x="640080" y="4480560"/>
            <a:ext cx="3474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клиентов</a:t>
            </a:r>
          </a:p>
        </p:txBody>
      </p:sp>
      <p:sp>
        <p:nvSpPr>
          <p:cNvPr id="10" name="Text / 1 200+"/>
          <p:cNvSpPr txBox="1"/>
          <p:nvPr/>
        </p:nvSpPr>
        <p:spPr>
          <a:xfrm>
            <a:off x="4206240" y="3520440"/>
            <a:ext cx="34747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100"/>
              <a:t>1 200+</a:t>
            </a:r>
          </a:p>
        </p:txBody>
      </p:sp>
      <p:sp>
        <p:nvSpPr>
          <p:cNvPr id="11" name="Text / проектов"/>
          <p:cNvSpPr txBox="1"/>
          <p:nvPr/>
        </p:nvSpPr>
        <p:spPr>
          <a:xfrm>
            <a:off x="4206240" y="4480560"/>
            <a:ext cx="3474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проектов</a:t>
            </a:r>
          </a:p>
        </p:txBody>
      </p:sp>
      <p:sp>
        <p:nvSpPr>
          <p:cNvPr id="12" name="Text / FMCG &amp; Retail"/>
          <p:cNvSpPr txBox="1"/>
          <p:nvPr/>
        </p:nvSpPr>
        <p:spPr>
          <a:xfrm>
            <a:off x="640080" y="5303520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FMCG &amp; Retail</a:t>
            </a:r>
          </a:p>
        </p:txBody>
      </p:sp>
      <p:sp>
        <p:nvSpPr>
          <p:cNvPr id="13" name="Text / Финтех &amp; ИТ"/>
          <p:cNvSpPr txBox="1"/>
          <p:nvPr/>
        </p:nvSpPr>
        <p:spPr>
          <a:xfrm>
            <a:off x="3108960" y="5303520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Финтех &amp; ИТ</a:t>
            </a:r>
          </a:p>
        </p:txBody>
      </p:sp>
      <p:sp>
        <p:nvSpPr>
          <p:cNvPr id="14" name="Text / Фарма и медицина"/>
          <p:cNvSpPr txBox="1"/>
          <p:nvPr/>
        </p:nvSpPr>
        <p:spPr>
          <a:xfrm>
            <a:off x="5577840" y="5303520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Фарма и медицина</a:t>
            </a:r>
          </a:p>
        </p:txBody>
      </p:sp>
      <p:sp>
        <p:nvSpPr>
          <p:cNvPr id="15" name="Text / Электроника&#10;и бытовая техника"/>
          <p:cNvSpPr txBox="1"/>
          <p:nvPr/>
        </p:nvSpPr>
        <p:spPr>
          <a:xfrm>
            <a:off x="640080" y="6016752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Электроника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и бытовая техника</a:t>
            </a:r>
          </a:p>
        </p:txBody>
      </p:sp>
      <p:sp>
        <p:nvSpPr>
          <p:cNvPr id="16" name="Text / Производство&#10;и склад"/>
          <p:cNvSpPr txBox="1"/>
          <p:nvPr/>
        </p:nvSpPr>
        <p:spPr>
          <a:xfrm>
            <a:off x="3108960" y="6016752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Производство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и склад</a:t>
            </a:r>
          </a:p>
        </p:txBody>
      </p:sp>
      <p:sp>
        <p:nvSpPr>
          <p:cNvPr id="17" name="Text / Автопром"/>
          <p:cNvSpPr txBox="1"/>
          <p:nvPr/>
        </p:nvSpPr>
        <p:spPr>
          <a:xfrm>
            <a:off x="5577840" y="6016752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Автопром</a:t>
            </a:r>
          </a:p>
        </p:txBody>
      </p:sp>
      <p:sp>
        <p:nvSpPr>
          <p:cNvPr id="18" name="Text / Fashion &amp; Beauty"/>
          <p:cNvSpPr txBox="1"/>
          <p:nvPr/>
        </p:nvSpPr>
        <p:spPr>
          <a:xfrm>
            <a:off x="640080" y="6729983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Fashion &amp; Beauty</a:t>
            </a:r>
          </a:p>
        </p:txBody>
      </p:sp>
      <p:sp>
        <p:nvSpPr>
          <p:cNvPr id="19" name="Text / Телеком"/>
          <p:cNvSpPr txBox="1"/>
          <p:nvPr/>
        </p:nvSpPr>
        <p:spPr>
          <a:xfrm>
            <a:off x="3108960" y="6729983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Телеком</a:t>
            </a:r>
          </a:p>
        </p:txBody>
      </p:sp>
      <p:sp>
        <p:nvSpPr>
          <p:cNvPr id="20" name="Text / Агро"/>
          <p:cNvSpPr txBox="1"/>
          <p:nvPr/>
        </p:nvSpPr>
        <p:spPr>
          <a:xfrm>
            <a:off x="5577840" y="6729983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Агро</a:t>
            </a:r>
          </a:p>
        </p:txBody>
      </p:sp>
      <p:pic>
        <p:nvPicPr>
          <p:cNvPr id="21" name="Image / 6_11.png" descr="6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80655"/>
            <a:ext cx="1691640" cy="429376"/>
          </a:xfrm>
          <a:prstGeom prst="rect">
            <a:avLst/>
          </a:prstGeom>
        </p:spPr>
      </p:pic>
      <p:pic>
        <p:nvPicPr>
          <p:cNvPr id="22" name="Image / 6_44.png" descr="6_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3628644"/>
            <a:ext cx="1691639" cy="533400"/>
          </a:xfrm>
          <a:prstGeom prst="rect">
            <a:avLst/>
          </a:prstGeom>
        </p:spPr>
      </p:pic>
      <p:pic>
        <p:nvPicPr>
          <p:cNvPr id="23" name="Image / 6_49.png" descr="6_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520" y="3631170"/>
            <a:ext cx="1691640" cy="528347"/>
          </a:xfrm>
          <a:prstGeom prst="rect">
            <a:avLst/>
          </a:prstGeom>
        </p:spPr>
      </p:pic>
      <p:pic>
        <p:nvPicPr>
          <p:cNvPr id="24" name="Image / 6_43.png" descr="6_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497324"/>
            <a:ext cx="1691639" cy="533400"/>
          </a:xfrm>
          <a:prstGeom prst="rect">
            <a:avLst/>
          </a:prstGeom>
        </p:spPr>
      </p:pic>
      <p:pic>
        <p:nvPicPr>
          <p:cNvPr id="25" name="Image / 6_58.png" descr="6_5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0395" y="4480560"/>
            <a:ext cx="1441969" cy="566928"/>
          </a:xfrm>
          <a:prstGeom prst="rect">
            <a:avLst/>
          </a:prstGeom>
        </p:spPr>
      </p:pic>
      <p:pic>
        <p:nvPicPr>
          <p:cNvPr id="26" name="Image / 6_41.png" descr="6_4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74804" y="4480560"/>
            <a:ext cx="1665072" cy="566928"/>
          </a:xfrm>
          <a:prstGeom prst="rect">
            <a:avLst/>
          </a:prstGeom>
        </p:spPr>
      </p:pic>
      <p:pic>
        <p:nvPicPr>
          <p:cNvPr id="27" name="Image / 6_57.png" descr="6_5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3308" y="5349240"/>
            <a:ext cx="684223" cy="566928"/>
          </a:xfrm>
          <a:prstGeom prst="rect">
            <a:avLst/>
          </a:prstGeom>
        </p:spPr>
      </p:pic>
      <p:pic>
        <p:nvPicPr>
          <p:cNvPr id="28" name="Image / 6_38.png" descr="6_3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6184" y="5349240"/>
            <a:ext cx="850392" cy="566928"/>
          </a:xfrm>
          <a:prstGeom prst="rect">
            <a:avLst/>
          </a:prstGeom>
        </p:spPr>
      </p:pic>
      <p:pic>
        <p:nvPicPr>
          <p:cNvPr id="29" name="Image / 6_28.png" descr="6_2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61520" y="5416006"/>
            <a:ext cx="1691640" cy="433395"/>
          </a:xfrm>
          <a:prstGeom prst="rect">
            <a:avLst/>
          </a:prstGeom>
        </p:spPr>
      </p:pic>
      <p:pic>
        <p:nvPicPr>
          <p:cNvPr id="30" name="Image / 6_33.png" descr="6_3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76256" y="6217920"/>
            <a:ext cx="798327" cy="566928"/>
          </a:xfrm>
          <a:prstGeom prst="rect">
            <a:avLst/>
          </a:prstGeom>
        </p:spPr>
      </p:pic>
      <p:pic>
        <p:nvPicPr>
          <p:cNvPr id="31" name="Image / 6_61.png" descr="6_6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95560" y="6228890"/>
            <a:ext cx="1691640" cy="544987"/>
          </a:xfrm>
          <a:prstGeom prst="rect">
            <a:avLst/>
          </a:prstGeom>
        </p:spPr>
      </p:pic>
      <p:pic>
        <p:nvPicPr>
          <p:cNvPr id="32" name="Image / 6_54.png" descr="6_5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42255" y="6217920"/>
            <a:ext cx="930169" cy="566928"/>
          </a:xfrm>
          <a:prstGeom prst="rect">
            <a:avLst/>
          </a:prstGeom>
        </p:spPr>
      </p:pic>
      <p:sp>
        <p:nvSpPr>
          <p:cNvPr id="33" name="Text / ПОЛНЫЙ СПИСОК ЛОГОТИПОВ — В ПРИЛОЖЕНИИ"/>
          <p:cNvSpPr txBox="1"/>
          <p:nvPr/>
        </p:nvSpPr>
        <p:spPr>
          <a:xfrm>
            <a:off x="8229600" y="7315200"/>
            <a:ext cx="5760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ПОЛНЫЙ СПИСОК ЛОГОТИПОВ — В ПРИЛОЖЕНИИ</a:t>
            </a:r>
          </a:p>
        </p:txBody>
      </p:sp>
      <p:sp>
        <p:nvSpPr>
          <p:cNvPr id="34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sp>
        <p:nvSpPr>
          <p:cNvPr id="46" name="Text / ИНДУСТРИЙ"/>
          <p:cNvSpPr txBox="1"/>
          <p:nvPr/>
        </p:nvSpPr>
        <p:spPr>
          <a:xfrm>
            <a:off x="6492240" y="7333488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96A65"/>
                </a:solidFill>
                <a:latin typeface="Manrope"/>
              </a:defRPr>
            </a:pPr>
            <a:r>
              <a:t>ИНДУСТРИЙ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Graphic / outline 03"/>
          <p:cNvSpPr txBox="1"/>
          <p:nvPr/>
        </p:nvSpPr>
        <p:spPr>
          <a:xfrm>
            <a:off x="12435840" y="2578608"/>
            <a:ext cx="15544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D9DCD1"/>
                </a:solidFill>
                <a:latin typeface="Manrope"/>
              </a:defRPr>
            </a:pPr>
            <a:r>
              <a:rPr spc="-120">
                <a:noFill/>
                <a:ln w="8500">
                  <a:solidFill>
                    <a:srgbClr val="D9DCD1"/>
                  </a:solidFill>
                </a:ln>
              </a:rPr>
              <a:t>03</a:t>
            </a:r>
          </a:p>
        </p:txBody>
      </p:sp>
      <p:sp>
        <p:nvSpPr>
          <p:cNvPr id="31" name="Graphic / outline 02"/>
          <p:cNvSpPr txBox="1"/>
          <p:nvPr/>
        </p:nvSpPr>
        <p:spPr>
          <a:xfrm>
            <a:off x="7863840" y="2578608"/>
            <a:ext cx="15544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D9DCD1"/>
                </a:solidFill>
                <a:latin typeface="Manrope"/>
              </a:defRPr>
            </a:pPr>
            <a:r>
              <a:rPr spc="-120">
                <a:noFill/>
                <a:ln w="8500">
                  <a:solidFill>
                    <a:srgbClr val="D9DCD1"/>
                  </a:solidFill>
                </a:ln>
              </a:rPr>
              <a:t>02</a:t>
            </a:r>
          </a:p>
        </p:txBody>
      </p:sp>
      <p:sp>
        <p:nvSpPr>
          <p:cNvPr id="30" name="Graphic / outline 01"/>
          <p:cNvSpPr txBox="1"/>
          <p:nvPr/>
        </p:nvSpPr>
        <p:spPr>
          <a:xfrm>
            <a:off x="3291839" y="2578608"/>
            <a:ext cx="15544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D9DCD1"/>
                </a:solidFill>
                <a:latin typeface="Manrope"/>
              </a:defRPr>
            </a:pPr>
            <a:r>
              <a:rPr spc="-120">
                <a:noFill/>
                <a:ln w="8500">
                  <a:solidFill>
                    <a:srgbClr val="D9DCD1"/>
                  </a:solidFill>
                </a:ln>
              </a:rPr>
              <a:t>01</a:t>
            </a:r>
          </a:p>
        </p:txBody>
      </p:sp>
      <p:sp>
        <p:nvSpPr>
          <p:cNvPr id="29" name="Colour field / E1E2D9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РЕЙТИНГИ / 2024–2025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РЕЙТИНГИ / 2024–2025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7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07</a:t>
            </a:r>
          </a:p>
        </p:txBody>
      </p:sp>
      <p:sp>
        <p:nvSpPr>
          <p:cNvPr id="6" name="Text / Рейтинги и признание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Рейтинги и признание</a:t>
            </a:r>
          </a:p>
        </p:txBody>
      </p:sp>
      <p:sp>
        <p:nvSpPr>
          <p:cNvPr id="7" name="Colour field / D2D2CB"/>
          <p:cNvSpPr/>
          <p:nvPr/>
        </p:nvSpPr>
        <p:spPr>
          <a:xfrm>
            <a:off x="640080" y="30632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lour field / D2D2CB"/>
          <p:cNvSpPr/>
          <p:nvPr/>
        </p:nvSpPr>
        <p:spPr>
          <a:xfrm>
            <a:off x="5212080" y="30632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lour field / D2D2CB"/>
          <p:cNvSpPr/>
          <p:nvPr/>
        </p:nvSpPr>
        <p:spPr>
          <a:xfrm>
            <a:off x="9784080" y="30632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/ Рейтинги&#10;работодателей"/>
          <p:cNvSpPr txBox="1"/>
          <p:nvPr/>
        </p:nvSpPr>
        <p:spPr>
          <a:xfrm>
            <a:off x="640080" y="3337560"/>
            <a:ext cx="42062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Рейтинги</a:t>
            </a: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работодателей</a:t>
            </a:r>
          </a:p>
        </p:txBody>
      </p:sp>
      <p:sp>
        <p:nvSpPr>
          <p:cNvPr id="11" name="Text / HH.ru&#10;Forbes / РБК"/>
          <p:cNvSpPr txBox="1"/>
          <p:nvPr/>
        </p:nvSpPr>
        <p:spPr>
          <a:xfrm>
            <a:off x="640080" y="4663440"/>
            <a:ext cx="420624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11110"/>
                </a:solidFill>
                <a:latin typeface="Manrope"/>
              </a:defRPr>
            </a:pPr>
            <a:r>
              <a:t>HH.ru</a:t>
            </a:r>
          </a:p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11110"/>
                </a:solidFill>
                <a:latin typeface="Manrope"/>
              </a:defRPr>
            </a:pPr>
            <a:r>
              <a:t>Forbes / РБК</a:t>
            </a:r>
          </a:p>
        </p:txBody>
      </p:sp>
      <p:sp>
        <p:nvSpPr>
          <p:cNvPr id="12" name="Text / Рейтинги лучших&#10;работодателей России"/>
          <p:cNvSpPr txBox="1"/>
          <p:nvPr/>
        </p:nvSpPr>
        <p:spPr>
          <a:xfrm>
            <a:off x="640080" y="6492240"/>
            <a:ext cx="42062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Рейтинги лучших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работодателей России</a:t>
            </a:r>
          </a:p>
        </p:txBody>
      </p:sp>
      <p:sp>
        <p:nvSpPr>
          <p:cNvPr id="13" name="Text / Профессиональные&#10;рейтинги"/>
          <p:cNvSpPr txBox="1"/>
          <p:nvPr/>
        </p:nvSpPr>
        <p:spPr>
          <a:xfrm>
            <a:off x="5212080" y="3337560"/>
            <a:ext cx="42062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Профессиональные</a:t>
            </a: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рейтинги</a:t>
            </a:r>
          </a:p>
        </p:txBody>
      </p:sp>
      <p:sp>
        <p:nvSpPr>
          <p:cNvPr id="14" name="Text / ТОП-1000 российских менеджеров / АМР, Коммерс"/>
          <p:cNvSpPr txBox="1"/>
          <p:nvPr/>
        </p:nvSpPr>
        <p:spPr>
          <a:xfrm>
            <a:off x="5212080" y="4526280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ТОП-1000 российских менеджеров / АМР,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Коммерсантъ</a:t>
            </a:r>
          </a:p>
        </p:txBody>
      </p:sp>
      <p:sp>
        <p:nvSpPr>
          <p:cNvPr id="15" name="Text / Топ-5 поставщиков ИТ-услуг РАЭКС"/>
          <p:cNvSpPr txBox="1"/>
          <p:nvPr/>
        </p:nvSpPr>
        <p:spPr>
          <a:xfrm>
            <a:off x="5212080" y="5205679"/>
            <a:ext cx="4206240" cy="261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Топ-5 поставщиков ИТ-услуг РАЭКС</a:t>
            </a:r>
          </a:p>
        </p:txBody>
      </p:sp>
      <p:sp>
        <p:nvSpPr>
          <p:cNvPr id="16" name="Text / Топ-15 ИТ-компаний РАЭКС"/>
          <p:cNvSpPr txBox="1"/>
          <p:nvPr/>
        </p:nvSpPr>
        <p:spPr>
          <a:xfrm>
            <a:off x="5212080" y="5650534"/>
            <a:ext cx="4206240" cy="261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Топ-15 ИТ-компаний РАЭКС</a:t>
            </a:r>
          </a:p>
        </p:txBody>
      </p:sp>
      <p:sp>
        <p:nvSpPr>
          <p:cNvPr id="17" name="Text / Топ-100 CNews: 63-е место"/>
          <p:cNvSpPr txBox="1"/>
          <p:nvPr/>
        </p:nvSpPr>
        <p:spPr>
          <a:xfrm>
            <a:off x="5212080" y="6095390"/>
            <a:ext cx="4206240" cy="261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Топ-100 CNews: 63-е место</a:t>
            </a:r>
          </a:p>
        </p:txBody>
      </p:sp>
      <p:sp>
        <p:nvSpPr>
          <p:cNvPr id="18" name="Text / Рейтинг трейд-маркетинговых агентств 2024"/>
          <p:cNvSpPr txBox="1"/>
          <p:nvPr/>
        </p:nvSpPr>
        <p:spPr>
          <a:xfrm>
            <a:off x="5212080" y="6540246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Рейтинг трейд-маркетинговых агентств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2024</a:t>
            </a:r>
          </a:p>
        </p:txBody>
      </p:sp>
      <p:sp>
        <p:nvSpPr>
          <p:cNvPr id="19" name="Text / HR-tech"/>
          <p:cNvSpPr txBox="1"/>
          <p:nvPr/>
        </p:nvSpPr>
        <p:spPr>
          <a:xfrm>
            <a:off x="9784080" y="3337560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HR-tech</a:t>
            </a:r>
          </a:p>
        </p:txBody>
      </p:sp>
      <p:sp>
        <p:nvSpPr>
          <p:cNvPr id="20" name="Text / №1 среди платформ гибкой занятости / Smart Ra"/>
          <p:cNvSpPr txBox="1"/>
          <p:nvPr/>
        </p:nvSpPr>
        <p:spPr>
          <a:xfrm>
            <a:off x="9784080" y="4526280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№1 среди платформ гибкой занятости /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Smart Ranking</a:t>
            </a:r>
          </a:p>
        </p:txBody>
      </p:sp>
      <p:sp>
        <p:nvSpPr>
          <p:cNvPr id="21" name="Text / №1 по росту HR-tech компаний России, 2024 / S"/>
          <p:cNvSpPr txBox="1"/>
          <p:nvPr/>
        </p:nvSpPr>
        <p:spPr>
          <a:xfrm>
            <a:off x="9784080" y="5205679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№1 по росту HR-tech компаний России,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2024 / Smart Ranking</a:t>
            </a:r>
          </a:p>
        </p:txBody>
      </p:sp>
      <p:sp>
        <p:nvSpPr>
          <p:cNvPr id="22" name="Text / ТОП-20 бесплатных бизнес-приложений App Store"/>
          <p:cNvSpPr txBox="1"/>
          <p:nvPr/>
        </p:nvSpPr>
        <p:spPr>
          <a:xfrm>
            <a:off x="9784080" y="5885078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ТОП-20 бесплатных бизнес-приложений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App Store и Google Play</a:t>
            </a:r>
          </a:p>
        </p:txBody>
      </p:sp>
      <p:sp>
        <p:nvSpPr>
          <p:cNvPr id="23" name="Text / Product Market Fit 2024 / Smart Ranking"/>
          <p:cNvSpPr txBox="1"/>
          <p:nvPr/>
        </p:nvSpPr>
        <p:spPr>
          <a:xfrm>
            <a:off x="9784080" y="6564477"/>
            <a:ext cx="4206240" cy="261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Product Market Fit 2024 / Smart Ranking</a:t>
            </a:r>
          </a:p>
        </p:txBody>
      </p:sp>
      <p:sp>
        <p:nvSpPr>
          <p:cNvPr id="24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Graphic / outline 06"/>
          <p:cNvSpPr txBox="1"/>
          <p:nvPr/>
        </p:nvSpPr>
        <p:spPr>
          <a:xfrm>
            <a:off x="9418320" y="6080760"/>
            <a:ext cx="36576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455"/>
              </a:lnSpc>
              <a:spcBef>
                <a:spcPts val="0"/>
              </a:spcBef>
              <a:spcAft>
                <a:spcPts val="0"/>
              </a:spcAft>
              <a:defRPr sz="8900" b="1">
                <a:solidFill>
                  <a:srgbClr val="D5D8CC"/>
                </a:solidFill>
                <a:latin typeface="Manrope"/>
              </a:defRPr>
            </a:pPr>
            <a:r>
              <a:rPr spc="-120">
                <a:noFill/>
                <a:ln w="8500">
                  <a:solidFill>
                    <a:srgbClr val="D5D8CC"/>
                  </a:solidFill>
                </a:ln>
              </a:rPr>
              <a:t>06</a:t>
            </a:r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РЕШЕНИЯ ДЛЯ БИЗНЕС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РЕШЕНИЯ ДЛЯ БИЗНЕСА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8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08</a:t>
            </a:r>
          </a:p>
        </p:txBody>
      </p:sp>
      <p:sp>
        <p:nvSpPr>
          <p:cNvPr id="6" name="Text / Направления&#10;работы"/>
          <p:cNvSpPr txBox="1"/>
          <p:nvPr/>
        </p:nvSpPr>
        <p:spPr>
          <a:xfrm>
            <a:off x="640080" y="1828800"/>
            <a:ext cx="13350240" cy="2103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623"/>
              </a:lnSpc>
              <a:spcBef>
                <a:spcPts val="0"/>
              </a:spcBef>
              <a:spcAft>
                <a:spcPts val="0"/>
              </a:spcAft>
              <a:defRPr sz="77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Направления</a:t>
            </a:r>
          </a:p>
          <a:p>
            <a:pPr>
              <a:lnSpc>
                <a:spcPts val="7623"/>
              </a:lnSpc>
              <a:spcBef>
                <a:spcPts val="0"/>
              </a:spcBef>
              <a:spcAft>
                <a:spcPts val="0"/>
              </a:spcAft>
              <a:defRPr sz="77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работы</a:t>
            </a:r>
          </a:p>
        </p:txBody>
      </p:sp>
      <p:sp>
        <p:nvSpPr>
          <p:cNvPr id="8" name="Text / ПОДБОР / АУТСОРСИНГ / ПРОДАЖИ / ПРОИЗВОДСТВО "/>
          <p:cNvSpPr txBox="1"/>
          <p:nvPr/>
        </p:nvSpPr>
        <p:spPr>
          <a:xfrm>
            <a:off x="640080" y="7132320"/>
            <a:ext cx="13350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rPr spc="70"/>
              <a:t>ПОДБОР / АУТСОРСИНГ / ПРОДАЖИ / ПРОИЗВОДСТВО / ИТ / VENTRA GO!</a:t>
            </a:r>
          </a:p>
        </p:txBody>
      </p:sp>
      <p:sp>
        <p:nvSpPr>
          <p:cNvPr id="9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pic>
        <p:nvPicPr>
          <p:cNvPr id="13" name="Editorial image / cover/None" descr="exec-09f01960-7655-40ee-b1b9-4b308daea5a5.png"/>
          <p:cNvPicPr>
            <a:picLocks noChangeAspect="1"/>
          </p:cNvPicPr>
          <p:nvPr/>
        </p:nvPicPr>
        <p:blipFill>
          <a:blip r:embed="rId4"/>
          <a:srcRect l="42000" t="2766" b="2766"/>
          <a:stretch>
            <a:fillRect/>
          </a:stretch>
        </p:blipFill>
        <p:spPr>
          <a:xfrm>
            <a:off x="8503920" y="1737360"/>
            <a:ext cx="5486400" cy="5029200"/>
          </a:xfrm>
          <a:prstGeom prst="rect">
            <a:avLst/>
          </a:prstGeom>
        </p:spPr>
      </p:pic>
      <p:cxnSp>
        <p:nvCxnSpPr>
          <p:cNvPr id="14" name="Graphic / connection"/>
          <p:cNvCxnSpPr/>
          <p:nvPr/>
        </p:nvCxnSpPr>
        <p:spPr>
          <a:xfrm>
            <a:off x="8375904" y="1609343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15" name="Graphic / connection"/>
          <p:cNvCxnSpPr/>
          <p:nvPr/>
        </p:nvCxnSpPr>
        <p:spPr>
          <a:xfrm>
            <a:off x="8375904" y="1609343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16" name="Graphic / connection"/>
          <p:cNvCxnSpPr/>
          <p:nvPr/>
        </p:nvCxnSpPr>
        <p:spPr>
          <a:xfrm flipH="1">
            <a:off x="13844016" y="1609343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17" name="Graphic / connection"/>
          <p:cNvCxnSpPr/>
          <p:nvPr/>
        </p:nvCxnSpPr>
        <p:spPr>
          <a:xfrm>
            <a:off x="14118336" y="1609343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18" name="Graphic / connection"/>
          <p:cNvCxnSpPr/>
          <p:nvPr/>
        </p:nvCxnSpPr>
        <p:spPr>
          <a:xfrm>
            <a:off x="8375904" y="689457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19" name="Graphic / connection"/>
          <p:cNvCxnSpPr/>
          <p:nvPr/>
        </p:nvCxnSpPr>
        <p:spPr>
          <a:xfrm flipV="1">
            <a:off x="8375904" y="662025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0" name="Graphic / connection"/>
          <p:cNvCxnSpPr/>
          <p:nvPr/>
        </p:nvCxnSpPr>
        <p:spPr>
          <a:xfrm flipH="1">
            <a:off x="13844016" y="689457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1" name="Graphic / connection"/>
          <p:cNvCxnSpPr/>
          <p:nvPr/>
        </p:nvCxnSpPr>
        <p:spPr>
          <a:xfrm flipV="1">
            <a:off x="14118336" y="662025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22" name="Graphic / planar junction"/>
          <p:cNvSpPr/>
          <p:nvPr/>
        </p:nvSpPr>
        <p:spPr>
          <a:xfrm>
            <a:off x="13624560" y="173736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 / От понимания задачи —&#10;к управляемому результа"/>
          <p:cNvSpPr txBox="1"/>
          <p:nvPr/>
        </p:nvSpPr>
        <p:spPr>
          <a:xfrm>
            <a:off x="640080" y="5303520"/>
            <a:ext cx="73152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111110"/>
                </a:solidFill>
                <a:latin typeface="Manrope"/>
              </a:defRPr>
            </a:pPr>
            <a:r>
              <a:t>От понимания задачи —</a:t>
            </a:r>
          </a:p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111110"/>
                </a:solidFill>
                <a:latin typeface="Manrope"/>
              </a:defRPr>
            </a:pPr>
            <a:r>
              <a:t>к управляемому результату.</a:t>
            </a:r>
          </a:p>
        </p:txBody>
      </p:sp>
      <p:cxnSp>
        <p:nvCxnSpPr>
          <p:cNvPr id="25" name="Graphic / connection"/>
          <p:cNvCxnSpPr/>
          <p:nvPr/>
        </p:nvCxnSpPr>
        <p:spPr>
          <a:xfrm>
            <a:off x="7132320" y="3794760"/>
            <a:ext cx="1005840" cy="0"/>
          </a:xfrm>
          <a:prstGeom prst="line">
            <a:avLst/>
          </a:prstGeom>
          <a:ln w="10160">
            <a:solidFill>
              <a:srgbClr val="777E6C"/>
            </a:solidFill>
          </a:ln>
        </p:spPr>
      </p:cxnSp>
      <p:sp>
        <p:nvSpPr>
          <p:cNvPr id="26" name="Colour field / FF6600"/>
          <p:cNvSpPr/>
          <p:nvPr/>
        </p:nvSpPr>
        <p:spPr>
          <a:xfrm>
            <a:off x="8074152" y="3730752"/>
            <a:ext cx="128016" cy="1280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Colour field / FF6600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SERVICES / ТОП-2 НА РЫНКЕ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SERVICES / ТОП-2 НА РЫНКЕ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9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09</a:t>
            </a:r>
          </a:p>
        </p:txBody>
      </p:sp>
      <p:sp>
        <p:nvSpPr>
          <p:cNvPr id="6" name="Text / Подбор и HR-серви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Подбор и HR-сервисы</a:t>
            </a:r>
          </a:p>
        </p:txBody>
      </p:sp>
      <p:sp>
        <p:nvSpPr>
          <p:cNvPr id="7" name="Text / Находим специалистов с учётом задачи,&#10;культур"/>
          <p:cNvSpPr txBox="1"/>
          <p:nvPr/>
        </p:nvSpPr>
        <p:spPr>
          <a:xfrm>
            <a:off x="640080" y="2697480"/>
            <a:ext cx="822960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Находим специалистов с учётом задачи,</a:t>
            </a:r>
          </a:p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культуры и динамики команды клиента.</a:t>
            </a:r>
          </a:p>
        </p:txBody>
      </p:sp>
      <p:sp>
        <p:nvSpPr>
          <p:cNvPr id="16" name="Colour field / F4F3EF"/>
          <p:cNvSpPr/>
          <p:nvPr/>
        </p:nvSpPr>
        <p:spPr>
          <a:xfrm>
            <a:off x="9281160" y="5394960"/>
            <a:ext cx="4709160" cy="205740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Colour field / FF6600"/>
          <p:cNvSpPr/>
          <p:nvPr/>
        </p:nvSpPr>
        <p:spPr>
          <a:xfrm>
            <a:off x="9281160" y="5394960"/>
            <a:ext cx="594360" cy="411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 / 9 500+"/>
          <p:cNvSpPr txBox="1"/>
          <p:nvPr/>
        </p:nvSpPr>
        <p:spPr>
          <a:xfrm>
            <a:off x="9601200" y="5632704"/>
            <a:ext cx="40690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4"/>
              </a:lnSpc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111110"/>
                </a:solidFill>
                <a:latin typeface="Manrope"/>
              </a:defRPr>
            </a:pPr>
            <a:r>
              <a:rPr spc="-130"/>
              <a:t>9 500+</a:t>
            </a:r>
          </a:p>
        </p:txBody>
      </p:sp>
      <p:sp>
        <p:nvSpPr>
          <p:cNvPr id="19" name="Text / позиций закрыто&#10;в 2022–2025 гг."/>
          <p:cNvSpPr txBox="1"/>
          <p:nvPr/>
        </p:nvSpPr>
        <p:spPr>
          <a:xfrm>
            <a:off x="9601200" y="6565392"/>
            <a:ext cx="4023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2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позиций закрыто</a:t>
            </a:r>
          </a:p>
          <a:p>
            <a:pPr>
              <a:lnSpc>
                <a:spcPts val="2072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в 2022–2025 гг.</a:t>
            </a:r>
          </a:p>
        </p:txBody>
      </p:sp>
      <p:sp>
        <p:nvSpPr>
          <p:cNvPr id="20" name="Text / &gt;10 лет"/>
          <p:cNvSpPr txBox="1"/>
          <p:nvPr/>
        </p:nvSpPr>
        <p:spPr>
          <a:xfrm>
            <a:off x="640080" y="6720840"/>
            <a:ext cx="2560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&gt;10 лет</a:t>
            </a:r>
          </a:p>
        </p:txBody>
      </p:sp>
      <p:sp>
        <p:nvSpPr>
          <p:cNvPr id="21" name="Text / опыт консультантов"/>
          <p:cNvSpPr txBox="1"/>
          <p:nvPr/>
        </p:nvSpPr>
        <p:spPr>
          <a:xfrm>
            <a:off x="640080" y="7342631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96A65"/>
                </a:solidFill>
                <a:latin typeface="Manrope"/>
              </a:defRPr>
            </a:pPr>
            <a:r>
              <a:t>опыт консультантов</a:t>
            </a:r>
          </a:p>
        </p:txBody>
      </p:sp>
      <p:sp>
        <p:nvSpPr>
          <p:cNvPr id="22" name="Text / &gt;5 млн"/>
          <p:cNvSpPr txBox="1"/>
          <p:nvPr/>
        </p:nvSpPr>
        <p:spPr>
          <a:xfrm>
            <a:off x="3474720" y="6720840"/>
            <a:ext cx="2560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&gt;5 млн</a:t>
            </a:r>
          </a:p>
        </p:txBody>
      </p:sp>
      <p:sp>
        <p:nvSpPr>
          <p:cNvPr id="23" name="Text / специалистов в базе"/>
          <p:cNvSpPr txBox="1"/>
          <p:nvPr/>
        </p:nvSpPr>
        <p:spPr>
          <a:xfrm>
            <a:off x="3474720" y="7342631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96A65"/>
                </a:solidFill>
                <a:latin typeface="Manrope"/>
              </a:defRPr>
            </a:pPr>
            <a:r>
              <a:t>специалистов в базе</a:t>
            </a:r>
          </a:p>
        </p:txBody>
      </p:sp>
      <p:sp>
        <p:nvSpPr>
          <p:cNvPr id="24" name="Text / 2 мес."/>
          <p:cNvSpPr txBox="1"/>
          <p:nvPr/>
        </p:nvSpPr>
        <p:spPr>
          <a:xfrm>
            <a:off x="6400800" y="6720840"/>
            <a:ext cx="2560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2 мес.</a:t>
            </a:r>
          </a:p>
        </p:txBody>
      </p:sp>
      <p:sp>
        <p:nvSpPr>
          <p:cNvPr id="25" name="Text / закрытие позиции"/>
          <p:cNvSpPr txBox="1"/>
          <p:nvPr/>
        </p:nvSpPr>
        <p:spPr>
          <a:xfrm>
            <a:off x="6400800" y="7342631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96A65"/>
                </a:solidFill>
                <a:latin typeface="Manrope"/>
              </a:defRPr>
            </a:pPr>
            <a:r>
              <a:t>закрытие позиции</a:t>
            </a:r>
          </a:p>
        </p:txBody>
      </p:sp>
      <p:sp>
        <p:nvSpPr>
          <p:cNvPr id="26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9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pic>
        <p:nvPicPr>
          <p:cNvPr id="32" name="Editorial image / office/1" descr="exec-a12304ee-99f9-4d4b-8b35-e35ea8c91cce.png"/>
          <p:cNvPicPr>
            <a:picLocks noChangeAspect="1"/>
          </p:cNvPicPr>
          <p:nvPr/>
        </p:nvPicPr>
        <p:blipFill>
          <a:blip r:embed="rId5"/>
          <a:srcRect l="50634" r="634" t="200" b="50200"/>
          <a:stretch>
            <a:fillRect/>
          </a:stretch>
        </p:blipFill>
        <p:spPr>
          <a:xfrm>
            <a:off x="9281160" y="2697480"/>
            <a:ext cx="4709160" cy="2697480"/>
          </a:xfrm>
          <a:prstGeom prst="rect">
            <a:avLst/>
          </a:prstGeom>
        </p:spPr>
      </p:pic>
      <p:cxnSp>
        <p:nvCxnSpPr>
          <p:cNvPr id="33" name="Graphic / connection"/>
          <p:cNvCxnSpPr/>
          <p:nvPr/>
        </p:nvCxnSpPr>
        <p:spPr>
          <a:xfrm>
            <a:off x="9153144" y="256946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4" name="Graphic / connection"/>
          <p:cNvCxnSpPr/>
          <p:nvPr/>
        </p:nvCxnSpPr>
        <p:spPr>
          <a:xfrm>
            <a:off x="9153144" y="256946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5" name="Graphic / connection"/>
          <p:cNvCxnSpPr/>
          <p:nvPr/>
        </p:nvCxnSpPr>
        <p:spPr>
          <a:xfrm flipH="1">
            <a:off x="13844016" y="256946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6" name="Graphic / connection"/>
          <p:cNvCxnSpPr/>
          <p:nvPr/>
        </p:nvCxnSpPr>
        <p:spPr>
          <a:xfrm>
            <a:off x="14118336" y="256946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7" name="Graphic / connection"/>
          <p:cNvCxnSpPr/>
          <p:nvPr/>
        </p:nvCxnSpPr>
        <p:spPr>
          <a:xfrm>
            <a:off x="9153144" y="552297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8" name="Graphic / connection"/>
          <p:cNvCxnSpPr/>
          <p:nvPr/>
        </p:nvCxnSpPr>
        <p:spPr>
          <a:xfrm flipV="1">
            <a:off x="9153144" y="524865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9" name="Graphic / connection"/>
          <p:cNvCxnSpPr/>
          <p:nvPr/>
        </p:nvCxnSpPr>
        <p:spPr>
          <a:xfrm flipH="1">
            <a:off x="13844016" y="552297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0" name="Graphic / connection"/>
          <p:cNvCxnSpPr/>
          <p:nvPr/>
        </p:nvCxnSpPr>
        <p:spPr>
          <a:xfrm flipV="1">
            <a:off x="14118336" y="524865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15" name="Graphic / planar junction"/>
          <p:cNvSpPr/>
          <p:nvPr/>
        </p:nvSpPr>
        <p:spPr>
          <a:xfrm>
            <a:off x="13624560" y="26974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 / Executive search"/>
          <p:cNvSpPr txBox="1"/>
          <p:nvPr/>
        </p:nvSpPr>
        <p:spPr>
          <a:xfrm>
            <a:off x="896112" y="3703320"/>
            <a:ext cx="781812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Executive search</a:t>
            </a:r>
          </a:p>
        </p:txBody>
      </p:sp>
      <p:sp>
        <p:nvSpPr>
          <p:cNvPr id="42" name="Colour field / 8E9681"/>
          <p:cNvSpPr/>
          <p:nvPr/>
        </p:nvSpPr>
        <p:spPr>
          <a:xfrm>
            <a:off x="658368" y="3840480"/>
            <a:ext cx="50292" cy="50292"/>
          </a:xfrm>
          <a:prstGeom prst="rect">
            <a:avLst/>
          </a:prstGeom>
          <a:solidFill>
            <a:srgbClr val="8E96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 / Профессиональный рекрутмент"/>
          <p:cNvSpPr txBox="1"/>
          <p:nvPr/>
        </p:nvSpPr>
        <p:spPr>
          <a:xfrm>
            <a:off x="896112" y="4078224"/>
            <a:ext cx="781812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Профессиональный рекрутмент</a:t>
            </a:r>
          </a:p>
        </p:txBody>
      </p:sp>
      <p:sp>
        <p:nvSpPr>
          <p:cNvPr id="44" name="Colour field / 8E9681"/>
          <p:cNvSpPr/>
          <p:nvPr/>
        </p:nvSpPr>
        <p:spPr>
          <a:xfrm>
            <a:off x="658368" y="4215384"/>
            <a:ext cx="50292" cy="50292"/>
          </a:xfrm>
          <a:prstGeom prst="rect">
            <a:avLst/>
          </a:prstGeom>
          <a:solidFill>
            <a:srgbClr val="8E96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 / Международный подбор"/>
          <p:cNvSpPr txBox="1"/>
          <p:nvPr/>
        </p:nvSpPr>
        <p:spPr>
          <a:xfrm>
            <a:off x="896112" y="4453128"/>
            <a:ext cx="781812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Международный подбор</a:t>
            </a:r>
          </a:p>
        </p:txBody>
      </p:sp>
      <p:sp>
        <p:nvSpPr>
          <p:cNvPr id="46" name="Colour field / 8E9681"/>
          <p:cNvSpPr/>
          <p:nvPr/>
        </p:nvSpPr>
        <p:spPr>
          <a:xfrm>
            <a:off x="658368" y="4590288"/>
            <a:ext cx="50292" cy="50292"/>
          </a:xfrm>
          <a:prstGeom prst="rect">
            <a:avLst/>
          </a:prstGeom>
          <a:solidFill>
            <a:srgbClr val="8E96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 / Формирование и управление проектными командам"/>
          <p:cNvSpPr txBox="1"/>
          <p:nvPr/>
        </p:nvSpPr>
        <p:spPr>
          <a:xfrm>
            <a:off x="896112" y="4828031"/>
            <a:ext cx="781812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Формирование и управление проектными командами</a:t>
            </a:r>
          </a:p>
        </p:txBody>
      </p:sp>
      <p:sp>
        <p:nvSpPr>
          <p:cNvPr id="48" name="Colour field / 8E9681"/>
          <p:cNvSpPr/>
          <p:nvPr/>
        </p:nvSpPr>
        <p:spPr>
          <a:xfrm>
            <a:off x="658368" y="4965192"/>
            <a:ext cx="50292" cy="50292"/>
          </a:xfrm>
          <a:prstGeom prst="rect">
            <a:avLst/>
          </a:prstGeom>
          <a:solidFill>
            <a:srgbClr val="8E96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 / Аутсорсинг процесса рекрутмента (RPO)"/>
          <p:cNvSpPr txBox="1"/>
          <p:nvPr/>
        </p:nvSpPr>
        <p:spPr>
          <a:xfrm>
            <a:off x="896112" y="5202936"/>
            <a:ext cx="781812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Аутсорсинг процесса рекрутмента (RPO)</a:t>
            </a:r>
          </a:p>
        </p:txBody>
      </p:sp>
      <p:sp>
        <p:nvSpPr>
          <p:cNvPr id="50" name="Colour field / 8E9681"/>
          <p:cNvSpPr/>
          <p:nvPr/>
        </p:nvSpPr>
        <p:spPr>
          <a:xfrm>
            <a:off x="658368" y="5340096"/>
            <a:ext cx="50292" cy="50292"/>
          </a:xfrm>
          <a:prstGeom prst="rect">
            <a:avLst/>
          </a:prstGeom>
          <a:solidFill>
            <a:srgbClr val="8E96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 / Массовый подбор"/>
          <p:cNvSpPr txBox="1"/>
          <p:nvPr/>
        </p:nvSpPr>
        <p:spPr>
          <a:xfrm>
            <a:off x="896112" y="5577840"/>
            <a:ext cx="781812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Массовый подбор</a:t>
            </a:r>
          </a:p>
        </p:txBody>
      </p:sp>
      <p:sp>
        <p:nvSpPr>
          <p:cNvPr id="52" name="Colour field / 8E9681"/>
          <p:cNvSpPr/>
          <p:nvPr/>
        </p:nvSpPr>
        <p:spPr>
          <a:xfrm>
            <a:off x="658368" y="5715000"/>
            <a:ext cx="50292" cy="50292"/>
          </a:xfrm>
          <a:prstGeom prst="rect">
            <a:avLst/>
          </a:prstGeom>
          <a:solidFill>
            <a:srgbClr val="8E96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 / HR-консалтинг"/>
          <p:cNvSpPr txBox="1"/>
          <p:nvPr/>
        </p:nvSpPr>
        <p:spPr>
          <a:xfrm>
            <a:off x="896112" y="5952744"/>
            <a:ext cx="7818120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HR-консалтинг</a:t>
            </a:r>
          </a:p>
        </p:txBody>
      </p:sp>
      <p:sp>
        <p:nvSpPr>
          <p:cNvPr id="54" name="Colour field / 8E9681"/>
          <p:cNvSpPr/>
          <p:nvPr/>
        </p:nvSpPr>
        <p:spPr>
          <a:xfrm>
            <a:off x="658368" y="6089904"/>
            <a:ext cx="50292" cy="50292"/>
          </a:xfrm>
          <a:prstGeom prst="rect">
            <a:avLst/>
          </a:prstGeom>
          <a:solidFill>
            <a:srgbClr val="8E96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Colour field / E1E2D9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SERVICES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SERVICES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0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10</a:t>
            </a:r>
          </a:p>
        </p:txBody>
      </p:sp>
      <p:sp>
        <p:nvSpPr>
          <p:cNvPr id="6" name="Text / Подбор и HR-сервисы: кей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7"/>
              </a:lnSpc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Подбор и HR-сервисы: кейсы</a:t>
            </a:r>
          </a:p>
        </p:txBody>
      </p:sp>
      <p:sp>
        <p:nvSpPr>
          <p:cNvPr id="8" name="Text / 01"/>
          <p:cNvSpPr txBox="1"/>
          <p:nvPr/>
        </p:nvSpPr>
        <p:spPr>
          <a:xfrm>
            <a:off x="640080" y="560527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9" name="Text / Фармацевтика"/>
          <p:cNvSpPr txBox="1"/>
          <p:nvPr/>
        </p:nvSpPr>
        <p:spPr>
          <a:xfrm>
            <a:off x="1234440" y="5486400"/>
            <a:ext cx="36118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Фармацевтика</a:t>
            </a:r>
          </a:p>
        </p:txBody>
      </p:sp>
      <p:sp>
        <p:nvSpPr>
          <p:cNvPr id="10" name="Text / Аутсорсинг процесса рекрутмента крупной фарма"/>
          <p:cNvSpPr txBox="1"/>
          <p:nvPr/>
        </p:nvSpPr>
        <p:spPr>
          <a:xfrm>
            <a:off x="640080" y="6309360"/>
            <a:ext cx="4160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Аутсорсинг процесса рекрутмента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крупной фармацевтической компании.</a:t>
            </a:r>
          </a:p>
        </p:txBody>
      </p:sp>
      <p:sp>
        <p:nvSpPr>
          <p:cNvPr id="12" name="Text / 02"/>
          <p:cNvSpPr txBox="1"/>
          <p:nvPr/>
        </p:nvSpPr>
        <p:spPr>
          <a:xfrm>
            <a:off x="5212080" y="560527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3" name="Text / Бытовая техника"/>
          <p:cNvSpPr txBox="1"/>
          <p:nvPr/>
        </p:nvSpPr>
        <p:spPr>
          <a:xfrm>
            <a:off x="5806440" y="5486400"/>
            <a:ext cx="36118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Бытовая техника</a:t>
            </a:r>
          </a:p>
        </p:txBody>
      </p:sp>
      <p:sp>
        <p:nvSpPr>
          <p:cNvPr id="14" name="Text / Формирование команды 400+ работников для круп"/>
          <p:cNvSpPr txBox="1"/>
          <p:nvPr/>
        </p:nvSpPr>
        <p:spPr>
          <a:xfrm>
            <a:off x="5212080" y="6309360"/>
            <a:ext cx="4160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Формирование команды 400+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работников для крупного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производителя бытовой техники.</a:t>
            </a:r>
          </a:p>
        </p:txBody>
      </p:sp>
      <p:sp>
        <p:nvSpPr>
          <p:cNvPr id="16" name="Text / 03"/>
          <p:cNvSpPr txBox="1"/>
          <p:nvPr/>
        </p:nvSpPr>
        <p:spPr>
          <a:xfrm>
            <a:off x="9784080" y="560527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17" name="Text / Электроника"/>
          <p:cNvSpPr txBox="1"/>
          <p:nvPr/>
        </p:nvSpPr>
        <p:spPr>
          <a:xfrm>
            <a:off x="10378440" y="5486400"/>
            <a:ext cx="36118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Электроника</a:t>
            </a:r>
          </a:p>
        </p:txBody>
      </p:sp>
      <p:sp>
        <p:nvSpPr>
          <p:cNvPr id="18" name="Text / Аутсорсинг административной поддержки офиса к"/>
          <p:cNvSpPr txBox="1"/>
          <p:nvPr/>
        </p:nvSpPr>
        <p:spPr>
          <a:xfrm>
            <a:off x="9784080" y="6309360"/>
            <a:ext cx="4160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Аутсорсинг административной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поддержки офиса крупного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производителя электронного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оборудования.</a:t>
            </a:r>
          </a:p>
        </p:txBody>
      </p:sp>
      <p:sp>
        <p:nvSpPr>
          <p:cNvPr id="19" name="Text / ПРИМЕРЫ ЗАКРЫТЫХ ВАКАНСИЙ — В ПРИЛОЖЕНИИ"/>
          <p:cNvSpPr txBox="1"/>
          <p:nvPr/>
        </p:nvSpPr>
        <p:spPr>
          <a:xfrm>
            <a:off x="640080" y="7452360"/>
            <a:ext cx="13350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ПРИМЕРЫ ЗАКРЫТЫХ ВАКАНСИЙ — В ПРИЛОЖЕНИИ</a:t>
            </a:r>
          </a:p>
        </p:txBody>
      </p:sp>
      <p:sp>
        <p:nvSpPr>
          <p:cNvPr id="20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pic>
        <p:nvPicPr>
          <p:cNvPr id="26" name="Editorial image / office/3" descr="exec-a12304ee-99f9-4d4b-8b35-e35ea8c91cce.png"/>
          <p:cNvPicPr>
            <a:picLocks noChangeAspect="1"/>
          </p:cNvPicPr>
          <p:nvPr/>
        </p:nvPicPr>
        <p:blipFill>
          <a:blip r:embed="rId7"/>
          <a:srcRect l="50200" r="200" t="50572" b="572"/>
          <a:stretch>
            <a:fillRect/>
          </a:stretch>
        </p:blipFill>
        <p:spPr>
          <a:xfrm>
            <a:off x="640080" y="2971800"/>
            <a:ext cx="4206240" cy="2331720"/>
          </a:xfrm>
          <a:prstGeom prst="rect">
            <a:avLst/>
          </a:prstGeom>
        </p:spPr>
      </p:pic>
      <p:cxnSp>
        <p:nvCxnSpPr>
          <p:cNvPr id="27" name="Graphic / connection"/>
          <p:cNvCxnSpPr/>
          <p:nvPr/>
        </p:nvCxnSpPr>
        <p:spPr>
          <a:xfrm>
            <a:off x="512063" y="284378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8" name="Graphic / connection"/>
          <p:cNvCxnSpPr/>
          <p:nvPr/>
        </p:nvCxnSpPr>
        <p:spPr>
          <a:xfrm>
            <a:off x="512063" y="2843784"/>
            <a:ext cx="0" cy="274319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9" name="Graphic / connection"/>
          <p:cNvCxnSpPr/>
          <p:nvPr/>
        </p:nvCxnSpPr>
        <p:spPr>
          <a:xfrm flipH="1">
            <a:off x="4700016" y="284378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0" name="Graphic / connection"/>
          <p:cNvCxnSpPr/>
          <p:nvPr/>
        </p:nvCxnSpPr>
        <p:spPr>
          <a:xfrm>
            <a:off x="4974336" y="2843784"/>
            <a:ext cx="0" cy="274319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1" name="Graphic / connection"/>
          <p:cNvCxnSpPr/>
          <p:nvPr/>
        </p:nvCxnSpPr>
        <p:spPr>
          <a:xfrm>
            <a:off x="512063" y="543153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2" name="Graphic / connection"/>
          <p:cNvCxnSpPr/>
          <p:nvPr/>
        </p:nvCxnSpPr>
        <p:spPr>
          <a:xfrm flipV="1">
            <a:off x="512063" y="51572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3" name="Graphic / connection"/>
          <p:cNvCxnSpPr/>
          <p:nvPr/>
        </p:nvCxnSpPr>
        <p:spPr>
          <a:xfrm flipH="1">
            <a:off x="4700016" y="543153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4" name="Graphic / connection"/>
          <p:cNvCxnSpPr/>
          <p:nvPr/>
        </p:nvCxnSpPr>
        <p:spPr>
          <a:xfrm flipV="1">
            <a:off x="4974336" y="51572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7" name="Graphic / planar junction"/>
          <p:cNvSpPr/>
          <p:nvPr/>
        </p:nvSpPr>
        <p:spPr>
          <a:xfrm>
            <a:off x="4480559" y="2971800"/>
            <a:ext cx="365761" cy="365760"/>
          </a:xfrm>
          <a:custGeom>
            <a:avLst/>
            <a:gdLst/>
            <a:ahLst/>
            <a:cxnLst/>
            <a:rect l="l" t="t" r="r" b="b"/>
            <a:pathLst>
              <a:path w="365761" h="365760">
                <a:moveTo>
                  <a:pt x="0" y="0"/>
                </a:moveTo>
                <a:lnTo>
                  <a:pt x="365761" y="0"/>
                </a:lnTo>
                <a:lnTo>
                  <a:pt x="365761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Editorial image / retail/0" descr="exec-68e76964-f850-4348-bf04-88539aeb7380.png"/>
          <p:cNvPicPr>
            <a:picLocks noChangeAspect="1"/>
          </p:cNvPicPr>
          <p:nvPr/>
        </p:nvPicPr>
        <p:blipFill>
          <a:blip r:embed="rId8"/>
          <a:srcRect l="200" r="50200" t="572" b="50572"/>
          <a:stretch>
            <a:fillRect/>
          </a:stretch>
        </p:blipFill>
        <p:spPr>
          <a:xfrm>
            <a:off x="5212080" y="2971800"/>
            <a:ext cx="4206240" cy="2331720"/>
          </a:xfrm>
          <a:prstGeom prst="rect">
            <a:avLst/>
          </a:prstGeom>
        </p:spPr>
      </p:pic>
      <p:cxnSp>
        <p:nvCxnSpPr>
          <p:cNvPr id="36" name="Graphic / connection"/>
          <p:cNvCxnSpPr/>
          <p:nvPr/>
        </p:nvCxnSpPr>
        <p:spPr>
          <a:xfrm>
            <a:off x="5084064" y="284378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7" name="Graphic / connection"/>
          <p:cNvCxnSpPr/>
          <p:nvPr/>
        </p:nvCxnSpPr>
        <p:spPr>
          <a:xfrm>
            <a:off x="5084064" y="2843784"/>
            <a:ext cx="0" cy="274319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8" name="Graphic / connection"/>
          <p:cNvCxnSpPr/>
          <p:nvPr/>
        </p:nvCxnSpPr>
        <p:spPr>
          <a:xfrm flipH="1">
            <a:off x="9272016" y="284378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9" name="Graphic / connection"/>
          <p:cNvCxnSpPr/>
          <p:nvPr/>
        </p:nvCxnSpPr>
        <p:spPr>
          <a:xfrm>
            <a:off x="9546336" y="2843784"/>
            <a:ext cx="0" cy="274319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0" name="Graphic / connection"/>
          <p:cNvCxnSpPr/>
          <p:nvPr/>
        </p:nvCxnSpPr>
        <p:spPr>
          <a:xfrm>
            <a:off x="5084064" y="543153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1" name="Graphic / connection"/>
          <p:cNvCxnSpPr/>
          <p:nvPr/>
        </p:nvCxnSpPr>
        <p:spPr>
          <a:xfrm flipV="1">
            <a:off x="5084064" y="51572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2" name="Graphic / connection"/>
          <p:cNvCxnSpPr/>
          <p:nvPr/>
        </p:nvCxnSpPr>
        <p:spPr>
          <a:xfrm flipH="1">
            <a:off x="9272016" y="543153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3" name="Graphic / connection"/>
          <p:cNvCxnSpPr/>
          <p:nvPr/>
        </p:nvCxnSpPr>
        <p:spPr>
          <a:xfrm flipV="1">
            <a:off x="9546336" y="51572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11" name="Graphic / planar junction"/>
          <p:cNvSpPr/>
          <p:nvPr/>
        </p:nvSpPr>
        <p:spPr>
          <a:xfrm>
            <a:off x="9052560" y="29718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Editorial image / retail/1" descr="exec-68e76964-f850-4348-bf04-88539aeb7380.png"/>
          <p:cNvPicPr>
            <a:picLocks noChangeAspect="1"/>
          </p:cNvPicPr>
          <p:nvPr/>
        </p:nvPicPr>
        <p:blipFill>
          <a:blip r:embed="rId8"/>
          <a:srcRect l="50200" r="200" t="572" b="50572"/>
          <a:stretch>
            <a:fillRect/>
          </a:stretch>
        </p:blipFill>
        <p:spPr>
          <a:xfrm>
            <a:off x="9784080" y="2971800"/>
            <a:ext cx="4206240" cy="2331720"/>
          </a:xfrm>
          <a:prstGeom prst="rect">
            <a:avLst/>
          </a:prstGeom>
        </p:spPr>
      </p:pic>
      <p:cxnSp>
        <p:nvCxnSpPr>
          <p:cNvPr id="45" name="Graphic / connection"/>
          <p:cNvCxnSpPr/>
          <p:nvPr/>
        </p:nvCxnSpPr>
        <p:spPr>
          <a:xfrm>
            <a:off x="9656063" y="2843784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6" name="Graphic / connection"/>
          <p:cNvCxnSpPr/>
          <p:nvPr/>
        </p:nvCxnSpPr>
        <p:spPr>
          <a:xfrm>
            <a:off x="9656063" y="2843784"/>
            <a:ext cx="0" cy="274319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7" name="Graphic / connection"/>
          <p:cNvCxnSpPr/>
          <p:nvPr/>
        </p:nvCxnSpPr>
        <p:spPr>
          <a:xfrm flipH="1">
            <a:off x="13844015" y="2843784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8" name="Graphic / connection"/>
          <p:cNvCxnSpPr/>
          <p:nvPr/>
        </p:nvCxnSpPr>
        <p:spPr>
          <a:xfrm>
            <a:off x="14118336" y="2843784"/>
            <a:ext cx="0" cy="274319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9" name="Graphic / connection"/>
          <p:cNvCxnSpPr/>
          <p:nvPr/>
        </p:nvCxnSpPr>
        <p:spPr>
          <a:xfrm>
            <a:off x="9656063" y="5431536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0" name="Graphic / connection"/>
          <p:cNvCxnSpPr/>
          <p:nvPr/>
        </p:nvCxnSpPr>
        <p:spPr>
          <a:xfrm flipV="1">
            <a:off x="9656063" y="51572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1" name="Graphic / connection"/>
          <p:cNvCxnSpPr/>
          <p:nvPr/>
        </p:nvCxnSpPr>
        <p:spPr>
          <a:xfrm flipH="1">
            <a:off x="13844015" y="5431536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2" name="Graphic / connection"/>
          <p:cNvCxnSpPr/>
          <p:nvPr/>
        </p:nvCxnSpPr>
        <p:spPr>
          <a:xfrm flipV="1">
            <a:off x="14118336" y="51572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15" name="Graphic / planar junction"/>
          <p:cNvSpPr/>
          <p:nvPr/>
        </p:nvSpPr>
        <p:spPr>
          <a:xfrm>
            <a:off x="13624559" y="29718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 / ИЗОБРАЖЕНИЯ — ИЛЛЮСТРАЦИИ ОТРАСЛЕЙ"/>
          <p:cNvSpPr txBox="1"/>
          <p:nvPr/>
        </p:nvSpPr>
        <p:spPr>
          <a:xfrm>
            <a:off x="640080" y="2496312"/>
            <a:ext cx="13350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ИЗОБРАЖЕНИЯ — ИЛЛЮСТРАЦИИ ОТРАСЛЕЙ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SERVICES / ТОП-2 НА РЫНКЕ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anrope"/>
              </a:defRPr>
            </a:pPr>
            <a:r>
              <a:rPr spc="90"/>
              <a:t>HR SERVICES / ТОП-2 НА РЫНКЕ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99A92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1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t>11</a:t>
            </a:r>
          </a:p>
        </p:txBody>
      </p:sp>
      <p:sp>
        <p:nvSpPr>
          <p:cNvPr id="6" name="Text / Аутсорсинг&#10;административных функций"/>
          <p:cNvSpPr txBox="1"/>
          <p:nvPr/>
        </p:nvSpPr>
        <p:spPr>
          <a:xfrm>
            <a:off x="640080" y="1645920"/>
            <a:ext cx="932688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61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Аутсорсинг</a:t>
            </a:r>
          </a:p>
          <a:p>
            <a:pPr>
              <a:lnSpc>
                <a:spcPts val="3861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административных функций</a:t>
            </a:r>
          </a:p>
        </p:txBody>
      </p:sp>
      <p:sp>
        <p:nvSpPr>
          <p:cNvPr id="7" name="Text / Берём на себя операционную нагрузку, чтобы ко"/>
          <p:cNvSpPr txBox="1"/>
          <p:nvPr/>
        </p:nvSpPr>
        <p:spPr>
          <a:xfrm>
            <a:off x="640080" y="3337560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4C6BB"/>
                </a:solidFill>
                <a:latin typeface="Manrope"/>
              </a:defRPr>
            </a:pPr>
            <a:r>
              <a:t>Берём на себя операционную нагрузку, чтобы команда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4C6BB"/>
                </a:solidFill>
                <a:latin typeface="Manrope"/>
              </a:defRPr>
            </a:pPr>
            <a:r>
              <a:t>клиента сосредоточилась на приоритетах бизнеса.</a:t>
            </a:r>
          </a:p>
        </p:txBody>
      </p:sp>
      <p:sp>
        <p:nvSpPr>
          <p:cNvPr id="8" name="Text / 500+"/>
          <p:cNvSpPr txBox="1"/>
          <p:nvPr/>
        </p:nvSpPr>
        <p:spPr>
          <a:xfrm>
            <a:off x="10378440" y="1828800"/>
            <a:ext cx="36118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605"/>
              </a:lnSpc>
              <a:spcBef>
                <a:spcPts val="0"/>
              </a:spcBef>
              <a:spcAft>
                <a:spcPts val="0"/>
              </a:spcAft>
              <a:defRPr sz="5900" b="1">
                <a:solidFill>
                  <a:srgbClr val="FFFFFF"/>
                </a:solidFill>
                <a:latin typeface="Manrope"/>
              </a:defRPr>
            </a:pPr>
            <a:r>
              <a:rPr spc="-120"/>
              <a:t>500+</a:t>
            </a:r>
          </a:p>
        </p:txBody>
      </p:sp>
      <p:sp>
        <p:nvSpPr>
          <p:cNvPr id="9" name="Text / проектов&#10;в 2022–2025 гг."/>
          <p:cNvSpPr txBox="1"/>
          <p:nvPr/>
        </p:nvSpPr>
        <p:spPr>
          <a:xfrm>
            <a:off x="10378440" y="2852928"/>
            <a:ext cx="35661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проектов</a:t>
            </a:r>
          </a:p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в 2022–2025 гг.</a:t>
            </a:r>
          </a:p>
        </p:txBody>
      </p:sp>
      <p:sp>
        <p:nvSpPr>
          <p:cNvPr id="10" name="Text / Управление закупками и поставщиками"/>
          <p:cNvSpPr txBox="1"/>
          <p:nvPr/>
        </p:nvSpPr>
        <p:spPr>
          <a:xfrm>
            <a:off x="640080" y="452628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Управление закупками и поставщиками</a:t>
            </a:r>
          </a:p>
        </p:txBody>
      </p:sp>
      <p:sp>
        <p:nvSpPr>
          <p:cNvPr id="11" name="Text / Организация ресепшена"/>
          <p:cNvSpPr txBox="1"/>
          <p:nvPr/>
        </p:nvSpPr>
        <p:spPr>
          <a:xfrm>
            <a:off x="640080" y="502920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Организация ресепшена</a:t>
            </a:r>
          </a:p>
        </p:txBody>
      </p:sp>
      <p:sp>
        <p:nvSpPr>
          <p:cNvPr id="12" name="Text / Почтовая служба и работа с документами"/>
          <p:cNvSpPr txBox="1"/>
          <p:nvPr/>
        </p:nvSpPr>
        <p:spPr>
          <a:xfrm>
            <a:off x="640080" y="553212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Почтовая служба и работа с документами</a:t>
            </a:r>
          </a:p>
        </p:txBody>
      </p:sp>
      <p:sp>
        <p:nvSpPr>
          <p:cNvPr id="13" name="Text / Административный персонал на проекты"/>
          <p:cNvSpPr txBox="1"/>
          <p:nvPr/>
        </p:nvSpPr>
        <p:spPr>
          <a:xfrm>
            <a:off x="640080" y="603504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Административный персонал на проекты</a:t>
            </a:r>
          </a:p>
        </p:txBody>
      </p:sp>
      <p:sp>
        <p:nvSpPr>
          <p:cNvPr id="14" name="Text / Подбор секретарей и ассистентов"/>
          <p:cNvSpPr txBox="1"/>
          <p:nvPr/>
        </p:nvSpPr>
        <p:spPr>
          <a:xfrm>
            <a:off x="640080" y="653796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Подбор секретарей и ассистентов</a:t>
            </a:r>
          </a:p>
        </p:txBody>
      </p:sp>
      <p:sp>
        <p:nvSpPr>
          <p:cNvPr id="16" name="Text / 1+ млн специалистов в базе"/>
          <p:cNvSpPr txBox="1"/>
          <p:nvPr/>
        </p:nvSpPr>
        <p:spPr>
          <a:xfrm>
            <a:off x="640080" y="7269480"/>
            <a:ext cx="5486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defRPr sz="1580" b="0">
                <a:solidFill>
                  <a:srgbClr val="C4C6BB"/>
                </a:solidFill>
                <a:latin typeface="Manrope"/>
              </a:defRPr>
            </a:pPr>
            <a:r>
              <a:t>1+ млн специалистов в базе</a:t>
            </a:r>
          </a:p>
        </p:txBody>
      </p:sp>
      <p:sp>
        <p:nvSpPr>
          <p:cNvPr id="17" name="Text / 2 мес. — срок закрытия позиции"/>
          <p:cNvSpPr txBox="1"/>
          <p:nvPr/>
        </p:nvSpPr>
        <p:spPr>
          <a:xfrm>
            <a:off x="8366760" y="7251192"/>
            <a:ext cx="56235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anrope"/>
              </a:defRPr>
            </a:pPr>
            <a:r>
              <a:t>2 мес. — срок закрытия позиции</a:t>
            </a:r>
          </a:p>
        </p:txBody>
      </p:sp>
      <p:sp>
        <p:nvSpPr>
          <p:cNvPr id="18" name="Colour field / A0A393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olour field / A0A393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olour field / A0A393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777C6D"/>
            </a:solidFill>
          </a:ln>
        </p:spPr>
      </p:cxnSp>
      <p:pic>
        <p:nvPicPr>
          <p:cNvPr id="22" name="Editorial image / office/2" descr="exec-a12304ee-99f9-4d4b-8b35-e35ea8c91cce.png"/>
          <p:cNvPicPr>
            <a:picLocks noChangeAspect="1"/>
          </p:cNvPicPr>
          <p:nvPr/>
        </p:nvPicPr>
        <p:blipFill>
          <a:blip r:embed="rId5"/>
          <a:srcRect l="200" r="50200" t="53863" b="3863"/>
          <a:stretch>
            <a:fillRect/>
          </a:stretch>
        </p:blipFill>
        <p:spPr>
          <a:xfrm>
            <a:off x="8366760" y="4160520"/>
            <a:ext cx="5623560" cy="2697480"/>
          </a:xfrm>
          <a:prstGeom prst="rect">
            <a:avLst/>
          </a:prstGeom>
        </p:spPr>
      </p:pic>
      <p:cxnSp>
        <p:nvCxnSpPr>
          <p:cNvPr id="23" name="Graphic / connection"/>
          <p:cNvCxnSpPr/>
          <p:nvPr/>
        </p:nvCxnSpPr>
        <p:spPr>
          <a:xfrm>
            <a:off x="8238744" y="4032504"/>
            <a:ext cx="274320" cy="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24" name="Graphic / connection"/>
          <p:cNvCxnSpPr/>
          <p:nvPr/>
        </p:nvCxnSpPr>
        <p:spPr>
          <a:xfrm>
            <a:off x="8238744" y="4032504"/>
            <a:ext cx="0" cy="27432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25" name="Graphic / connection"/>
          <p:cNvCxnSpPr/>
          <p:nvPr/>
        </p:nvCxnSpPr>
        <p:spPr>
          <a:xfrm flipH="1">
            <a:off x="13844016" y="4032504"/>
            <a:ext cx="274320" cy="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26" name="Graphic / connection"/>
          <p:cNvCxnSpPr/>
          <p:nvPr/>
        </p:nvCxnSpPr>
        <p:spPr>
          <a:xfrm>
            <a:off x="14118336" y="4032504"/>
            <a:ext cx="0" cy="27432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27" name="Graphic / connection"/>
          <p:cNvCxnSpPr/>
          <p:nvPr/>
        </p:nvCxnSpPr>
        <p:spPr>
          <a:xfrm>
            <a:off x="8238744" y="6986016"/>
            <a:ext cx="274320" cy="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28" name="Graphic / connection"/>
          <p:cNvCxnSpPr/>
          <p:nvPr/>
        </p:nvCxnSpPr>
        <p:spPr>
          <a:xfrm flipV="1">
            <a:off x="8238744" y="6711696"/>
            <a:ext cx="0" cy="27432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29" name="Graphic / connection"/>
          <p:cNvCxnSpPr/>
          <p:nvPr/>
        </p:nvCxnSpPr>
        <p:spPr>
          <a:xfrm flipH="1">
            <a:off x="13844016" y="6986016"/>
            <a:ext cx="274320" cy="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30" name="Graphic / connection"/>
          <p:cNvCxnSpPr/>
          <p:nvPr/>
        </p:nvCxnSpPr>
        <p:spPr>
          <a:xfrm flipV="1">
            <a:off x="14118336" y="6711696"/>
            <a:ext cx="0" cy="27432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sp>
        <p:nvSpPr>
          <p:cNvPr id="15" name="Graphic / planar junction"/>
          <p:cNvSpPr/>
          <p:nvPr/>
        </p:nvSpPr>
        <p:spPr>
          <a:xfrm>
            <a:off x="13624560" y="416052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close/>
              </a:path>
            </a:pathLst>
          </a:custGeom>
          <a:solidFill>
            <a:srgbClr val="1111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 / 02 / 06"/>
          <p:cNvSpPr txBox="1"/>
          <p:nvPr/>
        </p:nvSpPr>
        <p:spPr>
          <a:xfrm>
            <a:off x="7726679" y="2048256"/>
            <a:ext cx="1463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37A68"/>
                </a:solidFill>
                <a:latin typeface="Manrope"/>
              </a:defRPr>
            </a:pPr>
            <a:r>
              <a:rPr spc="70"/>
              <a:t>02 / 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Editorial image / retail/0" descr="exec-68e76964-f850-4348-bf04-88539aeb7380.png"/>
          <p:cNvPicPr>
            <a:picLocks noChangeAspect="1"/>
          </p:cNvPicPr>
          <p:nvPr/>
        </p:nvPicPr>
        <p:blipFill>
          <a:blip r:embed="rId5"/>
          <a:srcRect l="12361" r="62361" t="200" b="50200"/>
          <a:stretch>
            <a:fillRect/>
          </a:stretch>
        </p:blipFill>
        <p:spPr>
          <a:xfrm>
            <a:off x="0" y="0"/>
            <a:ext cx="7452360" cy="8229600"/>
          </a:xfrm>
          <a:prstGeom prst="rect">
            <a:avLst/>
          </a:prstGeom>
        </p:spPr>
      </p:pic>
      <p:sp>
        <p:nvSpPr>
          <p:cNvPr id="3" name="Colour field / F4F3EF"/>
          <p:cNvSpPr/>
          <p:nvPr/>
        </p:nvSpPr>
        <p:spPr>
          <a:xfrm>
            <a:off x="7452360" y="0"/>
            <a:ext cx="7178040" cy="822960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olour field / F4F3EF"/>
          <p:cNvSpPr/>
          <p:nvPr/>
        </p:nvSpPr>
        <p:spPr>
          <a:xfrm>
            <a:off x="457200" y="201168"/>
            <a:ext cx="2240280" cy="105156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Image / image9.png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5" name="Text / ПРОДАЖИ / TRADE"/>
          <p:cNvSpPr txBox="1"/>
          <p:nvPr/>
        </p:nvSpPr>
        <p:spPr>
          <a:xfrm>
            <a:off x="8229600" y="621792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ПРОДАЖИ / TRADE</a:t>
            </a:r>
          </a:p>
        </p:txBody>
      </p:sp>
      <p:sp>
        <p:nvSpPr>
          <p:cNvPr id="6" name="Text / Продажи"/>
          <p:cNvSpPr txBox="1"/>
          <p:nvPr/>
        </p:nvSpPr>
        <p:spPr>
          <a:xfrm>
            <a:off x="8229600" y="1645920"/>
            <a:ext cx="566928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39"/>
              </a:lnSpc>
              <a:spcBef>
                <a:spcPts val="0"/>
              </a:spcBef>
              <a:spcAft>
                <a:spcPts val="0"/>
              </a:spcAft>
              <a:defRPr sz="61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Продажи</a:t>
            </a:r>
          </a:p>
        </p:txBody>
      </p:sp>
      <p:sp>
        <p:nvSpPr>
          <p:cNvPr id="7" name="Text / Торговая компания и эксперт&#10;в области управле"/>
          <p:cNvSpPr txBox="1"/>
          <p:nvPr/>
        </p:nvSpPr>
        <p:spPr>
          <a:xfrm>
            <a:off x="8229600" y="2834640"/>
            <a:ext cx="56692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Торговая компания и эксперт</a:t>
            </a:r>
          </a:p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в области управления продажами</a:t>
            </a:r>
          </a:p>
        </p:txBody>
      </p:sp>
      <p:sp>
        <p:nvSpPr>
          <p:cNvPr id="8" name="Text / Открытие и развитие собственной розницы"/>
          <p:cNvSpPr txBox="1"/>
          <p:nvPr/>
        </p:nvSpPr>
        <p:spPr>
          <a:xfrm>
            <a:off x="8229600" y="4114800"/>
            <a:ext cx="5486400" cy="288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Открытие и развитие собственной розницы</a:t>
            </a:r>
          </a:p>
        </p:txBody>
      </p:sp>
      <p:sp>
        <p:nvSpPr>
          <p:cNvPr id="9" name="Text / Аутсорсинг продаж и управление торговым персо"/>
          <p:cNvSpPr txBox="1"/>
          <p:nvPr/>
        </p:nvSpPr>
        <p:spPr>
          <a:xfrm>
            <a:off x="8229600" y="4521987"/>
            <a:ext cx="5486400" cy="5400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Аутсорсинг продаж и управление торговым</a:t>
            </a:r>
          </a:p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персоналом</a:t>
            </a:r>
          </a:p>
        </p:txBody>
      </p:sp>
      <p:sp>
        <p:nvSpPr>
          <p:cNvPr id="10" name="Text / Field force"/>
          <p:cNvSpPr txBox="1"/>
          <p:nvPr/>
        </p:nvSpPr>
        <p:spPr>
          <a:xfrm>
            <a:off x="8229600" y="5180914"/>
            <a:ext cx="5486400" cy="288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Field force</a:t>
            </a:r>
          </a:p>
        </p:txBody>
      </p:sp>
      <p:sp>
        <p:nvSpPr>
          <p:cNvPr id="11" name="Text / Мерчандайзинг"/>
          <p:cNvSpPr txBox="1"/>
          <p:nvPr/>
        </p:nvSpPr>
        <p:spPr>
          <a:xfrm>
            <a:off x="8229600" y="5588101"/>
            <a:ext cx="5486400" cy="288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Мерчандайзинг</a:t>
            </a:r>
          </a:p>
        </p:txBody>
      </p:sp>
      <p:sp>
        <p:nvSpPr>
          <p:cNvPr id="12" name="Text / BTL &amp; Promo"/>
          <p:cNvSpPr txBox="1"/>
          <p:nvPr/>
        </p:nvSpPr>
        <p:spPr>
          <a:xfrm>
            <a:off x="8229600" y="5995289"/>
            <a:ext cx="5486400" cy="288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BTL &amp; Promo</a:t>
            </a:r>
          </a:p>
        </p:txBody>
      </p:sp>
      <p:sp>
        <p:nvSpPr>
          <p:cNvPr id="13" name="Colour field / 111110"/>
          <p:cNvSpPr/>
          <p:nvPr/>
        </p:nvSpPr>
        <p:spPr>
          <a:xfrm>
            <a:off x="0" y="5029200"/>
            <a:ext cx="7452360" cy="32004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/ Прозрачное управление командами&#10;и исполнением"/>
          <p:cNvSpPr txBox="1"/>
          <p:nvPr/>
        </p:nvSpPr>
        <p:spPr>
          <a:xfrm>
            <a:off x="640080" y="5349240"/>
            <a:ext cx="617220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Прозрачное управление командами</a:t>
            </a:r>
          </a:p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и исполнением в регионах.</a:t>
            </a:r>
          </a:p>
        </p:txBody>
      </p:sp>
      <p:sp>
        <p:nvSpPr>
          <p:cNvPr id="15" name="Text / Топ-2"/>
          <p:cNvSpPr txBox="1"/>
          <p:nvPr/>
        </p:nvSpPr>
        <p:spPr>
          <a:xfrm>
            <a:off x="640080" y="6492240"/>
            <a:ext cx="301752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4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Manrope"/>
              </a:defRPr>
            </a:pPr>
            <a:r>
              <a:t>Топ-2</a:t>
            </a:r>
          </a:p>
        </p:txBody>
      </p:sp>
      <p:sp>
        <p:nvSpPr>
          <p:cNvPr id="16" name="Text / рынка трейд-маркетинга"/>
          <p:cNvSpPr txBox="1"/>
          <p:nvPr/>
        </p:nvSpPr>
        <p:spPr>
          <a:xfrm>
            <a:off x="640080" y="7251192"/>
            <a:ext cx="31089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anrope"/>
              </a:defRPr>
            </a:pPr>
            <a:r>
              <a:t>рынка трейд-маркетинга</a:t>
            </a:r>
          </a:p>
        </p:txBody>
      </p:sp>
      <p:sp>
        <p:nvSpPr>
          <p:cNvPr id="17" name="Text / 5 000"/>
          <p:cNvSpPr txBox="1"/>
          <p:nvPr/>
        </p:nvSpPr>
        <p:spPr>
          <a:xfrm>
            <a:off x="4297680" y="6492240"/>
            <a:ext cx="2743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4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Manrope"/>
              </a:defRPr>
            </a:pPr>
            <a:r>
              <a:t>5 000</a:t>
            </a:r>
          </a:p>
        </p:txBody>
      </p:sp>
      <p:sp>
        <p:nvSpPr>
          <p:cNvPr id="18" name="Text / человек на проектах"/>
          <p:cNvSpPr txBox="1"/>
          <p:nvPr/>
        </p:nvSpPr>
        <p:spPr>
          <a:xfrm>
            <a:off x="4297680" y="7251192"/>
            <a:ext cx="26517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anrope"/>
              </a:defRPr>
            </a:pPr>
            <a:r>
              <a:t>человек на проектах</a:t>
            </a:r>
          </a:p>
        </p:txBody>
      </p:sp>
      <p:sp>
        <p:nvSpPr>
          <p:cNvPr id="19" name="Text / 35%+"/>
          <p:cNvSpPr txBox="1"/>
          <p:nvPr/>
        </p:nvSpPr>
        <p:spPr>
          <a:xfrm>
            <a:off x="8229600" y="640080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509"/>
              </a:lnSpc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111110"/>
                </a:solidFill>
                <a:latin typeface="Manrope"/>
              </a:defRPr>
            </a:pPr>
            <a:r>
              <a:rPr spc="-150"/>
              <a:t>35%+</a:t>
            </a:r>
          </a:p>
        </p:txBody>
      </p:sp>
      <p:sp>
        <p:nvSpPr>
          <p:cNvPr id="20" name="Text / рынка электронного ритейла"/>
          <p:cNvSpPr txBox="1"/>
          <p:nvPr/>
        </p:nvSpPr>
        <p:spPr>
          <a:xfrm>
            <a:off x="8229600" y="7315200"/>
            <a:ext cx="5577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рынка электронного ритейла</a:t>
            </a:r>
          </a:p>
        </p:txBody>
      </p:sp>
      <p:sp>
        <p:nvSpPr>
          <p:cNvPr id="21" name="Text / VENTRA / 12"/>
          <p:cNvSpPr txBox="1"/>
          <p:nvPr/>
        </p:nvSpPr>
        <p:spPr>
          <a:xfrm>
            <a:off x="640080" y="7882127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rPr spc="70"/>
              <a:t>VENTRA / 12</a:t>
            </a:r>
          </a:p>
        </p:txBody>
      </p:sp>
      <p:sp>
        <p:nvSpPr>
          <p:cNvPr id="22" name="Colour field / A0A393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Colour field / A0A393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olour field / A0A393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777C6D"/>
            </a:solidFill>
          </a:ln>
        </p:spPr>
      </p:cxnSp>
      <p:sp>
        <p:nvSpPr>
          <p:cNvPr id="28" name="Colour field / 3C4234"/>
          <p:cNvSpPr/>
          <p:nvPr/>
        </p:nvSpPr>
        <p:spPr>
          <a:xfrm>
            <a:off x="3749039" y="6428232"/>
            <a:ext cx="10972" cy="1207008"/>
          </a:xfrm>
          <a:prstGeom prst="rect">
            <a:avLst/>
          </a:prstGeom>
          <a:solidFill>
            <a:srgbClr val="3C42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Colour field / E1E2D9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TRADE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TRADE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3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13</a:t>
            </a:r>
          </a:p>
        </p:txBody>
      </p:sp>
      <p:sp>
        <p:nvSpPr>
          <p:cNvPr id="6" name="Text / Продажи: кей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Продажи: кейсы</a:t>
            </a:r>
          </a:p>
        </p:txBody>
      </p:sp>
      <p:sp>
        <p:nvSpPr>
          <p:cNvPr id="8" name="Colour field / D2D2CB"/>
          <p:cNvSpPr/>
          <p:nvPr/>
        </p:nvSpPr>
        <p:spPr>
          <a:xfrm>
            <a:off x="640080" y="62636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 / Dyson"/>
          <p:cNvSpPr txBox="1"/>
          <p:nvPr/>
        </p:nvSpPr>
        <p:spPr>
          <a:xfrm>
            <a:off x="640080" y="6492240"/>
            <a:ext cx="4206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11110"/>
                </a:solidFill>
                <a:latin typeface="Manrope"/>
              </a:defRPr>
            </a:pPr>
            <a:r>
              <a:t>Dyson</a:t>
            </a:r>
          </a:p>
        </p:txBody>
      </p:sp>
      <p:sp>
        <p:nvSpPr>
          <p:cNvPr id="10" name="Text / Запуск собственной розницы"/>
          <p:cNvSpPr txBox="1"/>
          <p:nvPr/>
        </p:nvSpPr>
        <p:spPr>
          <a:xfrm>
            <a:off x="640080" y="7196328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Запуск собственной розницы</a:t>
            </a:r>
          </a:p>
        </p:txBody>
      </p:sp>
      <p:sp>
        <p:nvSpPr>
          <p:cNvPr id="12" name="Colour field / D2D2CB"/>
          <p:cNvSpPr/>
          <p:nvPr/>
        </p:nvSpPr>
        <p:spPr>
          <a:xfrm>
            <a:off x="5212080" y="62636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/ IQOS"/>
          <p:cNvSpPr txBox="1"/>
          <p:nvPr/>
        </p:nvSpPr>
        <p:spPr>
          <a:xfrm>
            <a:off x="5212080" y="6492240"/>
            <a:ext cx="4206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11110"/>
                </a:solidFill>
                <a:latin typeface="Manrope"/>
              </a:defRPr>
            </a:pPr>
            <a:r>
              <a:t>IQOS</a:t>
            </a:r>
          </a:p>
        </p:txBody>
      </p:sp>
      <p:sp>
        <p:nvSpPr>
          <p:cNvPr id="14" name="Text / Распределённые продажи"/>
          <p:cNvSpPr txBox="1"/>
          <p:nvPr/>
        </p:nvSpPr>
        <p:spPr>
          <a:xfrm>
            <a:off x="5212080" y="7196328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Распределённые продажи</a:t>
            </a:r>
          </a:p>
        </p:txBody>
      </p:sp>
      <p:sp>
        <p:nvSpPr>
          <p:cNvPr id="16" name="Colour field / D2D2CB"/>
          <p:cNvSpPr/>
          <p:nvPr/>
        </p:nvSpPr>
        <p:spPr>
          <a:xfrm>
            <a:off x="9784080" y="62636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/ BEKO"/>
          <p:cNvSpPr txBox="1"/>
          <p:nvPr/>
        </p:nvSpPr>
        <p:spPr>
          <a:xfrm>
            <a:off x="9784080" y="6492240"/>
            <a:ext cx="4206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11110"/>
                </a:solidFill>
                <a:latin typeface="Manrope"/>
              </a:defRPr>
            </a:pPr>
            <a:r>
              <a:t>BEKO</a:t>
            </a:r>
          </a:p>
        </p:txBody>
      </p:sp>
      <p:sp>
        <p:nvSpPr>
          <p:cNvPr id="18" name="Text / Управление проектом продаж"/>
          <p:cNvSpPr txBox="1"/>
          <p:nvPr/>
        </p:nvSpPr>
        <p:spPr>
          <a:xfrm>
            <a:off x="9784080" y="7196328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Управление проектом продаж</a:t>
            </a:r>
          </a:p>
        </p:txBody>
      </p:sp>
      <p:sp>
        <p:nvSpPr>
          <p:cNvPr id="19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pic>
        <p:nvPicPr>
          <p:cNvPr id="25" name="Editorial image / cases/0" descr="exec-597191c6-b7f2-4dec-a86b-14be4369b759.png"/>
          <p:cNvPicPr>
            <a:picLocks noChangeAspect="1"/>
          </p:cNvPicPr>
          <p:nvPr/>
        </p:nvPicPr>
        <p:blipFill>
          <a:blip r:embed="rId7"/>
          <a:srcRect l="3599" r="53599" t="200" b="50200"/>
          <a:stretch>
            <a:fillRect/>
          </a:stretch>
        </p:blipFill>
        <p:spPr>
          <a:xfrm>
            <a:off x="640080" y="3154680"/>
            <a:ext cx="4206240" cy="2743200"/>
          </a:xfrm>
          <a:prstGeom prst="rect">
            <a:avLst/>
          </a:prstGeom>
        </p:spPr>
      </p:pic>
      <p:cxnSp>
        <p:nvCxnSpPr>
          <p:cNvPr id="26" name="Graphic / connection"/>
          <p:cNvCxnSpPr/>
          <p:nvPr/>
        </p:nvCxnSpPr>
        <p:spPr>
          <a:xfrm>
            <a:off x="512063" y="302666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7" name="Graphic / connection"/>
          <p:cNvCxnSpPr/>
          <p:nvPr/>
        </p:nvCxnSpPr>
        <p:spPr>
          <a:xfrm>
            <a:off x="512063" y="302666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8" name="Graphic / connection"/>
          <p:cNvCxnSpPr/>
          <p:nvPr/>
        </p:nvCxnSpPr>
        <p:spPr>
          <a:xfrm flipH="1">
            <a:off x="4700016" y="302666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9" name="Graphic / connection"/>
          <p:cNvCxnSpPr/>
          <p:nvPr/>
        </p:nvCxnSpPr>
        <p:spPr>
          <a:xfrm>
            <a:off x="4974336" y="302666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0" name="Graphic / connection"/>
          <p:cNvCxnSpPr/>
          <p:nvPr/>
        </p:nvCxnSpPr>
        <p:spPr>
          <a:xfrm>
            <a:off x="512063" y="602589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1" name="Graphic / connection"/>
          <p:cNvCxnSpPr/>
          <p:nvPr/>
        </p:nvCxnSpPr>
        <p:spPr>
          <a:xfrm flipV="1">
            <a:off x="512063" y="575157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2" name="Graphic / connection"/>
          <p:cNvCxnSpPr/>
          <p:nvPr/>
        </p:nvCxnSpPr>
        <p:spPr>
          <a:xfrm flipH="1">
            <a:off x="4700016" y="602589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3" name="Graphic / connection"/>
          <p:cNvCxnSpPr/>
          <p:nvPr/>
        </p:nvCxnSpPr>
        <p:spPr>
          <a:xfrm flipV="1">
            <a:off x="4974336" y="575157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7" name="Graphic / planar junction"/>
          <p:cNvSpPr/>
          <p:nvPr/>
        </p:nvSpPr>
        <p:spPr>
          <a:xfrm>
            <a:off x="4480559" y="3154680"/>
            <a:ext cx="365761" cy="365760"/>
          </a:xfrm>
          <a:custGeom>
            <a:avLst/>
            <a:gdLst/>
            <a:ahLst/>
            <a:cxnLst/>
            <a:rect l="l" t="t" r="r" b="b"/>
            <a:pathLst>
              <a:path w="365761" h="365760">
                <a:moveTo>
                  <a:pt x="0" y="0"/>
                </a:moveTo>
                <a:lnTo>
                  <a:pt x="365761" y="0"/>
                </a:lnTo>
                <a:lnTo>
                  <a:pt x="365761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Editorial image / cases/1" descr="exec-597191c6-b7f2-4dec-a86b-14be4369b759.png"/>
          <p:cNvPicPr>
            <a:picLocks noChangeAspect="1"/>
          </p:cNvPicPr>
          <p:nvPr/>
        </p:nvPicPr>
        <p:blipFill>
          <a:blip r:embed="rId7"/>
          <a:srcRect l="53599" r="3599" t="200" b="50200"/>
          <a:stretch>
            <a:fillRect/>
          </a:stretch>
        </p:blipFill>
        <p:spPr>
          <a:xfrm>
            <a:off x="5212080" y="3154680"/>
            <a:ext cx="4206240" cy="2743200"/>
          </a:xfrm>
          <a:prstGeom prst="rect">
            <a:avLst/>
          </a:prstGeom>
        </p:spPr>
      </p:pic>
      <p:cxnSp>
        <p:nvCxnSpPr>
          <p:cNvPr id="35" name="Graphic / connection"/>
          <p:cNvCxnSpPr/>
          <p:nvPr/>
        </p:nvCxnSpPr>
        <p:spPr>
          <a:xfrm>
            <a:off x="5084064" y="302666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6" name="Graphic / connection"/>
          <p:cNvCxnSpPr/>
          <p:nvPr/>
        </p:nvCxnSpPr>
        <p:spPr>
          <a:xfrm>
            <a:off x="5084064" y="302666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7" name="Graphic / connection"/>
          <p:cNvCxnSpPr/>
          <p:nvPr/>
        </p:nvCxnSpPr>
        <p:spPr>
          <a:xfrm flipH="1">
            <a:off x="9272016" y="302666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8" name="Graphic / connection"/>
          <p:cNvCxnSpPr/>
          <p:nvPr/>
        </p:nvCxnSpPr>
        <p:spPr>
          <a:xfrm>
            <a:off x="9546336" y="302666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9" name="Graphic / connection"/>
          <p:cNvCxnSpPr/>
          <p:nvPr/>
        </p:nvCxnSpPr>
        <p:spPr>
          <a:xfrm>
            <a:off x="5084064" y="602589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0" name="Graphic / connection"/>
          <p:cNvCxnSpPr/>
          <p:nvPr/>
        </p:nvCxnSpPr>
        <p:spPr>
          <a:xfrm flipV="1">
            <a:off x="5084064" y="575157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1" name="Graphic / connection"/>
          <p:cNvCxnSpPr/>
          <p:nvPr/>
        </p:nvCxnSpPr>
        <p:spPr>
          <a:xfrm flipH="1">
            <a:off x="9272016" y="602589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2" name="Graphic / connection"/>
          <p:cNvCxnSpPr/>
          <p:nvPr/>
        </p:nvCxnSpPr>
        <p:spPr>
          <a:xfrm flipV="1">
            <a:off x="9546336" y="575157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11" name="Graphic / planar junction"/>
          <p:cNvSpPr/>
          <p:nvPr/>
        </p:nvSpPr>
        <p:spPr>
          <a:xfrm>
            <a:off x="9052560" y="3154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Editorial image / cases/2" descr="exec-597191c6-b7f2-4dec-a86b-14be4369b759.png"/>
          <p:cNvPicPr>
            <a:picLocks noChangeAspect="1"/>
          </p:cNvPicPr>
          <p:nvPr/>
        </p:nvPicPr>
        <p:blipFill>
          <a:blip r:embed="rId7"/>
          <a:srcRect l="3599" r="53599" t="50200" b="200"/>
          <a:stretch>
            <a:fillRect/>
          </a:stretch>
        </p:blipFill>
        <p:spPr>
          <a:xfrm>
            <a:off x="9784080" y="3154680"/>
            <a:ext cx="4206240" cy="2743200"/>
          </a:xfrm>
          <a:prstGeom prst="rect">
            <a:avLst/>
          </a:prstGeom>
        </p:spPr>
      </p:pic>
      <p:cxnSp>
        <p:nvCxnSpPr>
          <p:cNvPr id="44" name="Graphic / connection"/>
          <p:cNvCxnSpPr/>
          <p:nvPr/>
        </p:nvCxnSpPr>
        <p:spPr>
          <a:xfrm>
            <a:off x="9656063" y="3026664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5" name="Graphic / connection"/>
          <p:cNvCxnSpPr/>
          <p:nvPr/>
        </p:nvCxnSpPr>
        <p:spPr>
          <a:xfrm>
            <a:off x="9656063" y="302666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6" name="Graphic / connection"/>
          <p:cNvCxnSpPr/>
          <p:nvPr/>
        </p:nvCxnSpPr>
        <p:spPr>
          <a:xfrm flipH="1">
            <a:off x="13844015" y="3026664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7" name="Graphic / connection"/>
          <p:cNvCxnSpPr/>
          <p:nvPr/>
        </p:nvCxnSpPr>
        <p:spPr>
          <a:xfrm>
            <a:off x="14118336" y="302666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8" name="Graphic / connection"/>
          <p:cNvCxnSpPr/>
          <p:nvPr/>
        </p:nvCxnSpPr>
        <p:spPr>
          <a:xfrm>
            <a:off x="9656063" y="6025896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9" name="Graphic / connection"/>
          <p:cNvCxnSpPr/>
          <p:nvPr/>
        </p:nvCxnSpPr>
        <p:spPr>
          <a:xfrm flipV="1">
            <a:off x="9656063" y="575157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0" name="Graphic / connection"/>
          <p:cNvCxnSpPr/>
          <p:nvPr/>
        </p:nvCxnSpPr>
        <p:spPr>
          <a:xfrm flipH="1">
            <a:off x="13844015" y="6025896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1" name="Graphic / connection"/>
          <p:cNvCxnSpPr/>
          <p:nvPr/>
        </p:nvCxnSpPr>
        <p:spPr>
          <a:xfrm flipV="1">
            <a:off x="14118336" y="575157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15" name="Graphic / planar junction"/>
          <p:cNvSpPr/>
          <p:nvPr/>
        </p:nvSpPr>
        <p:spPr>
          <a:xfrm>
            <a:off x="13624559" y="31546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 / ИЗОБРАЖЕНИЯ — ИЛЛЮСТРАЦИИ НАПРАВЛЕНИЙ"/>
          <p:cNvSpPr txBox="1"/>
          <p:nvPr/>
        </p:nvSpPr>
        <p:spPr>
          <a:xfrm>
            <a:off x="640080" y="2532888"/>
            <a:ext cx="13350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ИЗОБРАЖЕНИЯ — ИЛЛЮСТРАЦИИ НАПРАВЛЕНИЙ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Colour field / E1E2D9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INDUSTRIAL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INDUSTRIAL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4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14</a:t>
            </a:r>
          </a:p>
        </p:txBody>
      </p:sp>
      <p:sp>
        <p:nvSpPr>
          <p:cNvPr id="6" name="Text / Производство и склад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Производство и склад</a:t>
            </a:r>
          </a:p>
        </p:txBody>
      </p:sp>
      <p:sp>
        <p:nvSpPr>
          <p:cNvPr id="7" name="Text / Поддержка производственных и логистических фу"/>
          <p:cNvSpPr txBox="1"/>
          <p:nvPr/>
        </p:nvSpPr>
        <p:spPr>
          <a:xfrm>
            <a:off x="640080" y="2697480"/>
            <a:ext cx="13350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Поддержка производственных и логистических функций</a:t>
            </a:r>
          </a:p>
        </p:txBody>
      </p:sp>
      <p:sp>
        <p:nvSpPr>
          <p:cNvPr id="8" name="Text / Управляем командами на площадке с учётом&#10;непр"/>
          <p:cNvSpPr txBox="1"/>
          <p:nvPr/>
        </p:nvSpPr>
        <p:spPr>
          <a:xfrm>
            <a:off x="640080" y="3383280"/>
            <a:ext cx="6858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Управляем командами на площадке с учётом</a:t>
            </a:r>
          </a:p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непрерывности процессов и требований к безопасности.</a:t>
            </a:r>
          </a:p>
        </p:txBody>
      </p:sp>
      <p:sp>
        <p:nvSpPr>
          <p:cNvPr id="9" name="Text / Аутсорсинг складской логистики"/>
          <p:cNvSpPr txBox="1"/>
          <p:nvPr/>
        </p:nvSpPr>
        <p:spPr>
          <a:xfrm>
            <a:off x="640080" y="4526280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Аутсорсинг складской логистики</a:t>
            </a:r>
          </a:p>
        </p:txBody>
      </p:sp>
      <p:sp>
        <p:nvSpPr>
          <p:cNvPr id="10" name="Text / Аутсорсинг производственных процессов"/>
          <p:cNvSpPr txBox="1"/>
          <p:nvPr/>
        </p:nvSpPr>
        <p:spPr>
          <a:xfrm>
            <a:off x="640080" y="4974336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Аутсорсинг производственных процессов</a:t>
            </a:r>
          </a:p>
        </p:txBody>
      </p:sp>
      <p:sp>
        <p:nvSpPr>
          <p:cNvPr id="11" name="Text / Аутсорсинг проектов для нефтегазового сектора"/>
          <p:cNvSpPr txBox="1"/>
          <p:nvPr/>
        </p:nvSpPr>
        <p:spPr>
          <a:xfrm>
            <a:off x="640080" y="5422392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Аутсорсинг проектов для нефтегазового сектора</a:t>
            </a:r>
          </a:p>
        </p:txBody>
      </p:sp>
      <p:sp>
        <p:nvSpPr>
          <p:cNvPr id="12" name="Text / Формирование команд на склад и производство"/>
          <p:cNvSpPr txBox="1"/>
          <p:nvPr/>
        </p:nvSpPr>
        <p:spPr>
          <a:xfrm>
            <a:off x="640080" y="5870448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Формирование команд на склад и производство</a:t>
            </a:r>
          </a:p>
        </p:txBody>
      </p:sp>
      <p:sp>
        <p:nvSpPr>
          <p:cNvPr id="13" name="Text / Аутсорсинг вахтовых проектов"/>
          <p:cNvSpPr txBox="1"/>
          <p:nvPr/>
        </p:nvSpPr>
        <p:spPr>
          <a:xfrm>
            <a:off x="640080" y="6318504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Аутсорсинг вахтовых проектов</a:t>
            </a:r>
          </a:p>
        </p:txBody>
      </p:sp>
      <p:sp>
        <p:nvSpPr>
          <p:cNvPr id="14" name="Text / Клининг"/>
          <p:cNvSpPr txBox="1"/>
          <p:nvPr/>
        </p:nvSpPr>
        <p:spPr>
          <a:xfrm>
            <a:off x="640080" y="6766560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Клининг</a:t>
            </a:r>
          </a:p>
        </p:txBody>
      </p:sp>
      <p:sp>
        <p:nvSpPr>
          <p:cNvPr id="16" name="Text / Henkel / обслуживание производственных линий"/>
          <p:cNvSpPr txBox="1"/>
          <p:nvPr/>
        </p:nvSpPr>
        <p:spPr>
          <a:xfrm>
            <a:off x="7863840" y="5715000"/>
            <a:ext cx="61264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2"/>
              </a:lnSpc>
              <a:spcBef>
                <a:spcPts val="0"/>
              </a:spcBef>
              <a:spcAft>
                <a:spcPts val="0"/>
              </a:spcAft>
              <a:defRPr sz="1520" b="0">
                <a:solidFill>
                  <a:srgbClr val="111110"/>
                </a:solidFill>
                <a:latin typeface="Manrope"/>
              </a:defRPr>
            </a:pPr>
            <a:r>
              <a:t>Henkel / обслуживание производственных линий</a:t>
            </a:r>
          </a:p>
        </p:txBody>
      </p:sp>
      <p:sp>
        <p:nvSpPr>
          <p:cNvPr id="19" name="Text / ДИКСИ / ОБСЛУЖИВАНИЕ РЦ"/>
          <p:cNvSpPr txBox="1"/>
          <p:nvPr/>
        </p:nvSpPr>
        <p:spPr>
          <a:xfrm>
            <a:off x="7863840" y="7498079"/>
            <a:ext cx="2926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ДИКСИ / ОБСЛУЖИВАНИЕ РЦ</a:t>
            </a:r>
          </a:p>
        </p:txBody>
      </p:sp>
      <p:sp>
        <p:nvSpPr>
          <p:cNvPr id="20" name="Text / МАГНИТ / ОБСЛУЖИВАНИЕ СЕТИ"/>
          <p:cNvSpPr txBox="1"/>
          <p:nvPr/>
        </p:nvSpPr>
        <p:spPr>
          <a:xfrm>
            <a:off x="11155680" y="7498079"/>
            <a:ext cx="2926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МАГНИТ / ОБСЛУЖИВАНИЕ СЕТИ</a:t>
            </a:r>
          </a:p>
        </p:txBody>
      </p:sp>
      <p:sp>
        <p:nvSpPr>
          <p:cNvPr id="21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pic>
        <p:nvPicPr>
          <p:cNvPr id="27" name="Editorial image / tech/0" descr="exec-693a8447-01d7-476e-a9ef-b909e1d5b7e7.png"/>
          <p:cNvPicPr>
            <a:picLocks noChangeAspect="1"/>
          </p:cNvPicPr>
          <p:nvPr/>
        </p:nvPicPr>
        <p:blipFill>
          <a:blip r:embed="rId7"/>
          <a:srcRect l="200" r="50200" t="8887" b="58887"/>
          <a:stretch>
            <a:fillRect/>
          </a:stretch>
        </p:blipFill>
        <p:spPr>
          <a:xfrm>
            <a:off x="7863840" y="3337560"/>
            <a:ext cx="6126480" cy="2240280"/>
          </a:xfrm>
          <a:prstGeom prst="rect">
            <a:avLst/>
          </a:prstGeom>
        </p:spPr>
      </p:pic>
      <p:cxnSp>
        <p:nvCxnSpPr>
          <p:cNvPr id="28" name="Graphic / connection"/>
          <p:cNvCxnSpPr/>
          <p:nvPr/>
        </p:nvCxnSpPr>
        <p:spPr>
          <a:xfrm>
            <a:off x="7735823" y="3209544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9" name="Graphic / connection"/>
          <p:cNvCxnSpPr/>
          <p:nvPr/>
        </p:nvCxnSpPr>
        <p:spPr>
          <a:xfrm>
            <a:off x="7735823" y="3209544"/>
            <a:ext cx="0" cy="274319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0" name="Graphic / connection"/>
          <p:cNvCxnSpPr/>
          <p:nvPr/>
        </p:nvCxnSpPr>
        <p:spPr>
          <a:xfrm flipH="1">
            <a:off x="13844016" y="320954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1" name="Graphic / connection"/>
          <p:cNvCxnSpPr/>
          <p:nvPr/>
        </p:nvCxnSpPr>
        <p:spPr>
          <a:xfrm>
            <a:off x="14118336" y="3209544"/>
            <a:ext cx="0" cy="274319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2" name="Graphic / connection"/>
          <p:cNvCxnSpPr/>
          <p:nvPr/>
        </p:nvCxnSpPr>
        <p:spPr>
          <a:xfrm>
            <a:off x="7735823" y="5705855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3" name="Graphic / connection"/>
          <p:cNvCxnSpPr/>
          <p:nvPr/>
        </p:nvCxnSpPr>
        <p:spPr>
          <a:xfrm flipV="1">
            <a:off x="7735823" y="5431536"/>
            <a:ext cx="0" cy="274319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4" name="Graphic / connection"/>
          <p:cNvCxnSpPr/>
          <p:nvPr/>
        </p:nvCxnSpPr>
        <p:spPr>
          <a:xfrm flipH="1">
            <a:off x="13844016" y="5705855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5" name="Graphic / connection"/>
          <p:cNvCxnSpPr/>
          <p:nvPr/>
        </p:nvCxnSpPr>
        <p:spPr>
          <a:xfrm flipV="1">
            <a:off x="14118336" y="5431536"/>
            <a:ext cx="0" cy="274319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pic>
        <p:nvPicPr>
          <p:cNvPr id="36" name="Editorial image / tech/1" descr="exec-693a8447-01d7-476e-a9ef-b909e1d5b7e7.png"/>
          <p:cNvPicPr>
            <a:picLocks noChangeAspect="1"/>
          </p:cNvPicPr>
          <p:nvPr/>
        </p:nvPicPr>
        <p:blipFill>
          <a:blip r:embed="rId7"/>
          <a:srcRect l="50200" r="200" t="10785" b="60785"/>
          <a:stretch>
            <a:fillRect/>
          </a:stretch>
        </p:blipFill>
        <p:spPr>
          <a:xfrm>
            <a:off x="7863840" y="6446520"/>
            <a:ext cx="2834640" cy="914400"/>
          </a:xfrm>
          <a:prstGeom prst="rect">
            <a:avLst/>
          </a:prstGeom>
        </p:spPr>
      </p:pic>
      <p:cxnSp>
        <p:nvCxnSpPr>
          <p:cNvPr id="37" name="Graphic / connection"/>
          <p:cNvCxnSpPr/>
          <p:nvPr/>
        </p:nvCxnSpPr>
        <p:spPr>
          <a:xfrm>
            <a:off x="7735823" y="6318504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8" name="Graphic / connection"/>
          <p:cNvCxnSpPr/>
          <p:nvPr/>
        </p:nvCxnSpPr>
        <p:spPr>
          <a:xfrm>
            <a:off x="7735823" y="631850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9" name="Graphic / connection"/>
          <p:cNvCxnSpPr/>
          <p:nvPr/>
        </p:nvCxnSpPr>
        <p:spPr>
          <a:xfrm flipH="1">
            <a:off x="10552176" y="631850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0" name="Graphic / connection"/>
          <p:cNvCxnSpPr/>
          <p:nvPr/>
        </p:nvCxnSpPr>
        <p:spPr>
          <a:xfrm>
            <a:off x="10826496" y="631850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1" name="Graphic / connection"/>
          <p:cNvCxnSpPr/>
          <p:nvPr/>
        </p:nvCxnSpPr>
        <p:spPr>
          <a:xfrm>
            <a:off x="7735823" y="7488936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2" name="Graphic / connection"/>
          <p:cNvCxnSpPr/>
          <p:nvPr/>
        </p:nvCxnSpPr>
        <p:spPr>
          <a:xfrm flipV="1">
            <a:off x="7735823" y="72146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3" name="Graphic / connection"/>
          <p:cNvCxnSpPr/>
          <p:nvPr/>
        </p:nvCxnSpPr>
        <p:spPr>
          <a:xfrm flipH="1">
            <a:off x="10552176" y="748893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4" name="Graphic / connection"/>
          <p:cNvCxnSpPr/>
          <p:nvPr/>
        </p:nvCxnSpPr>
        <p:spPr>
          <a:xfrm flipV="1">
            <a:off x="10826496" y="72146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pic>
        <p:nvPicPr>
          <p:cNvPr id="45" name="Editorial image / retail/3" descr="exec-68e76964-f850-4348-bf04-88539aeb7380.png"/>
          <p:cNvPicPr>
            <a:picLocks noChangeAspect="1"/>
          </p:cNvPicPr>
          <p:nvPr/>
        </p:nvPicPr>
        <p:blipFill>
          <a:blip r:embed="rId8"/>
          <a:srcRect l="50200" r="200" t="60785" b="10785"/>
          <a:stretch>
            <a:fillRect/>
          </a:stretch>
        </p:blipFill>
        <p:spPr>
          <a:xfrm>
            <a:off x="11155680" y="6446520"/>
            <a:ext cx="2834640" cy="914400"/>
          </a:xfrm>
          <a:prstGeom prst="rect">
            <a:avLst/>
          </a:prstGeom>
        </p:spPr>
      </p:pic>
      <p:cxnSp>
        <p:nvCxnSpPr>
          <p:cNvPr id="46" name="Graphic / connection"/>
          <p:cNvCxnSpPr/>
          <p:nvPr/>
        </p:nvCxnSpPr>
        <p:spPr>
          <a:xfrm>
            <a:off x="11027663" y="6318504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7" name="Graphic / connection"/>
          <p:cNvCxnSpPr/>
          <p:nvPr/>
        </p:nvCxnSpPr>
        <p:spPr>
          <a:xfrm>
            <a:off x="11027663" y="631850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8" name="Graphic / connection"/>
          <p:cNvCxnSpPr/>
          <p:nvPr/>
        </p:nvCxnSpPr>
        <p:spPr>
          <a:xfrm flipH="1">
            <a:off x="13844015" y="6318504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9" name="Graphic / connection"/>
          <p:cNvCxnSpPr/>
          <p:nvPr/>
        </p:nvCxnSpPr>
        <p:spPr>
          <a:xfrm>
            <a:off x="14118336" y="631850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0" name="Graphic / connection"/>
          <p:cNvCxnSpPr/>
          <p:nvPr/>
        </p:nvCxnSpPr>
        <p:spPr>
          <a:xfrm>
            <a:off x="11027663" y="7488936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1" name="Graphic / connection"/>
          <p:cNvCxnSpPr/>
          <p:nvPr/>
        </p:nvCxnSpPr>
        <p:spPr>
          <a:xfrm flipV="1">
            <a:off x="11027663" y="72146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2" name="Graphic / connection"/>
          <p:cNvCxnSpPr/>
          <p:nvPr/>
        </p:nvCxnSpPr>
        <p:spPr>
          <a:xfrm flipH="1">
            <a:off x="13844015" y="7488936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3" name="Graphic / connection"/>
          <p:cNvCxnSpPr/>
          <p:nvPr/>
        </p:nvCxnSpPr>
        <p:spPr>
          <a:xfrm flipV="1">
            <a:off x="14118336" y="721461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54" name="Colour field / F4F3EF"/>
          <p:cNvSpPr/>
          <p:nvPr/>
        </p:nvSpPr>
        <p:spPr>
          <a:xfrm>
            <a:off x="8028431" y="3474720"/>
            <a:ext cx="2560320" cy="292608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 / ИЛЛЮСТРАЦИЯ ОТРАСЛИ"/>
          <p:cNvSpPr txBox="1"/>
          <p:nvPr/>
        </p:nvSpPr>
        <p:spPr>
          <a:xfrm>
            <a:off x="8138160" y="3529584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11110"/>
                </a:solidFill>
                <a:latin typeface="Manrope"/>
              </a:defRPr>
            </a:pPr>
            <a:r>
              <a:t>ИЛЛЮСТРАЦИЯ ОТРАСЛИ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Graphic / outline 05"/>
          <p:cNvSpPr txBox="1"/>
          <p:nvPr/>
        </p:nvSpPr>
        <p:spPr>
          <a:xfrm>
            <a:off x="5715000" y="1828800"/>
            <a:ext cx="260604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85"/>
              </a:lnSpc>
              <a:spcBef>
                <a:spcPts val="0"/>
              </a:spcBef>
              <a:spcAft>
                <a:spcPts val="0"/>
              </a:spcAft>
              <a:defRPr sz="10300" b="1">
                <a:solidFill>
                  <a:srgbClr val="E1E4D8"/>
                </a:solidFill>
                <a:latin typeface="Manrope"/>
              </a:defRPr>
            </a:pPr>
            <a:r>
              <a:rPr spc="-120">
                <a:noFill/>
                <a:ln w="8500">
                  <a:solidFill>
                    <a:srgbClr val="E1E4D8"/>
                  </a:solidFill>
                </a:ln>
              </a:rPr>
              <a:t>05</a:t>
            </a:r>
          </a:p>
        </p:txBody>
      </p:sp>
      <p:sp>
        <p:nvSpPr>
          <p:cNvPr id="28" name="Colour field / FF6600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IT / ИТ-СТАТУС С 2011 ГОД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IT / ИТ-СТАТУС С 2011 ГОДА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5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15</a:t>
            </a:r>
          </a:p>
        </p:txBody>
      </p:sp>
      <p:sp>
        <p:nvSpPr>
          <p:cNvPr id="6" name="Text / ИТ"/>
          <p:cNvSpPr txBox="1"/>
          <p:nvPr/>
        </p:nvSpPr>
        <p:spPr>
          <a:xfrm>
            <a:off x="640080" y="1554480"/>
            <a:ext cx="7772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117"/>
              </a:lnSpc>
              <a:spcBef>
                <a:spcPts val="0"/>
              </a:spcBef>
              <a:spcAft>
                <a:spcPts val="0"/>
              </a:spcAft>
              <a:defRPr sz="8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ИТ</a:t>
            </a:r>
          </a:p>
        </p:txBody>
      </p:sp>
      <p:sp>
        <p:nvSpPr>
          <p:cNvPr id="7" name="Text / Готовая команда&#10;под ваш стек&#10;за 3 дня."/>
          <p:cNvSpPr txBox="1"/>
          <p:nvPr/>
        </p:nvSpPr>
        <p:spPr>
          <a:xfrm>
            <a:off x="640080" y="3063240"/>
            <a:ext cx="7863840" cy="1920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11110"/>
                </a:solidFill>
                <a:latin typeface="Manrope"/>
              </a:defRPr>
            </a:pPr>
            <a:r>
              <a:rPr spc="-40"/>
              <a:t>Готовая команда</a:t>
            </a:r>
          </a:p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11110"/>
                </a:solidFill>
                <a:latin typeface="Manrope"/>
              </a:defRPr>
            </a:pPr>
            <a:r>
              <a:rPr spc="-40"/>
              <a:t>под ваш стек</a:t>
            </a:r>
          </a:p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11110"/>
                </a:solidFill>
                <a:latin typeface="Manrope"/>
              </a:defRPr>
            </a:pPr>
            <a:r>
              <a:rPr spc="-40"/>
              <a:t>за 3 дня.</a:t>
            </a:r>
          </a:p>
        </p:txBody>
      </p:sp>
      <p:sp>
        <p:nvSpPr>
          <p:cNvPr id="8" name="Text / Понимаем технологический контекст и управляем"/>
          <p:cNvSpPr txBox="1"/>
          <p:nvPr/>
        </p:nvSpPr>
        <p:spPr>
          <a:xfrm>
            <a:off x="640080" y="5440680"/>
            <a:ext cx="768096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0"/>
                </a:solidFill>
                <a:latin typeface="Manrope"/>
              </a:defRPr>
            </a:pPr>
            <a:r>
              <a:t>Понимаем технологический контекст и управляем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0"/>
                </a:solidFill>
                <a:latin typeface="Manrope"/>
              </a:defRPr>
            </a:pPr>
            <a:r>
              <a:t>командой, чтобы вы сосредоточились на продукте.</a:t>
            </a:r>
          </a:p>
        </p:txBody>
      </p:sp>
      <p:sp>
        <p:nvSpPr>
          <p:cNvPr id="10" name="Text / Формирование ИТ-команд"/>
          <p:cNvSpPr txBox="1"/>
          <p:nvPr/>
        </p:nvSpPr>
        <p:spPr>
          <a:xfrm>
            <a:off x="9235440" y="4526280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Формирование ИТ-команд</a:t>
            </a:r>
          </a:p>
        </p:txBody>
      </p:sp>
      <p:sp>
        <p:nvSpPr>
          <p:cNvPr id="11" name="Text / Услуги внешней разработки"/>
          <p:cNvSpPr txBox="1"/>
          <p:nvPr/>
        </p:nvSpPr>
        <p:spPr>
          <a:xfrm>
            <a:off x="9235440" y="4837176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Услуги внешней разработки</a:t>
            </a:r>
          </a:p>
        </p:txBody>
      </p:sp>
      <p:sp>
        <p:nvSpPr>
          <p:cNvPr id="12" name="Text / Разработка ПО"/>
          <p:cNvSpPr txBox="1"/>
          <p:nvPr/>
        </p:nvSpPr>
        <p:spPr>
          <a:xfrm>
            <a:off x="9235440" y="5148072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Разработка ПО</a:t>
            </a:r>
          </a:p>
        </p:txBody>
      </p:sp>
      <p:sp>
        <p:nvSpPr>
          <p:cNvPr id="13" name="Text / 1С-консалтинг"/>
          <p:cNvSpPr txBox="1"/>
          <p:nvPr/>
        </p:nvSpPr>
        <p:spPr>
          <a:xfrm>
            <a:off x="9235440" y="5458968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1С-консалтинг</a:t>
            </a:r>
          </a:p>
        </p:txBody>
      </p:sp>
      <p:sp>
        <p:nvSpPr>
          <p:cNvPr id="14" name="Text / Управление ИТ-инфраструктурой"/>
          <p:cNvSpPr txBox="1"/>
          <p:nvPr/>
        </p:nvSpPr>
        <p:spPr>
          <a:xfrm>
            <a:off x="9235440" y="5769864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Управление ИТ-инфраструктурой</a:t>
            </a:r>
          </a:p>
        </p:txBody>
      </p:sp>
      <p:sp>
        <p:nvSpPr>
          <p:cNvPr id="15" name="Text / ИТ-рекрутмент"/>
          <p:cNvSpPr txBox="1"/>
          <p:nvPr/>
        </p:nvSpPr>
        <p:spPr>
          <a:xfrm>
            <a:off x="9235440" y="6080760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ИТ-рекрутмент</a:t>
            </a:r>
          </a:p>
        </p:txBody>
      </p:sp>
      <p:sp>
        <p:nvSpPr>
          <p:cNvPr id="16" name="Colour field / D2D2CB"/>
          <p:cNvSpPr/>
          <p:nvPr/>
        </p:nvSpPr>
        <p:spPr>
          <a:xfrm>
            <a:off x="640080" y="6382512"/>
            <a:ext cx="13350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/ 2 000+"/>
          <p:cNvSpPr txBox="1"/>
          <p:nvPr/>
        </p:nvSpPr>
        <p:spPr>
          <a:xfrm>
            <a:off x="640080" y="6675120"/>
            <a:ext cx="42062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04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2 000+</a:t>
            </a:r>
          </a:p>
        </p:txBody>
      </p:sp>
      <p:sp>
        <p:nvSpPr>
          <p:cNvPr id="18" name="Text / специалистов в штате"/>
          <p:cNvSpPr txBox="1"/>
          <p:nvPr/>
        </p:nvSpPr>
        <p:spPr>
          <a:xfrm>
            <a:off x="640080" y="7351775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0"/>
                </a:solidFill>
                <a:latin typeface="Manrope"/>
              </a:defRPr>
            </a:pPr>
            <a:r>
              <a:t>специалистов в штате</a:t>
            </a:r>
          </a:p>
        </p:txBody>
      </p:sp>
      <p:sp>
        <p:nvSpPr>
          <p:cNvPr id="19" name="Text / 350 000+"/>
          <p:cNvSpPr txBox="1"/>
          <p:nvPr/>
        </p:nvSpPr>
        <p:spPr>
          <a:xfrm>
            <a:off x="5212080" y="6675120"/>
            <a:ext cx="42062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04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350 000+</a:t>
            </a:r>
          </a:p>
        </p:txBody>
      </p:sp>
      <p:sp>
        <p:nvSpPr>
          <p:cNvPr id="20" name="Text / часов работы в месяц"/>
          <p:cNvSpPr txBox="1"/>
          <p:nvPr/>
        </p:nvSpPr>
        <p:spPr>
          <a:xfrm>
            <a:off x="5212080" y="7351775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0"/>
                </a:solidFill>
                <a:latin typeface="Manrope"/>
              </a:defRPr>
            </a:pPr>
            <a:r>
              <a:t>часов работы в месяц</a:t>
            </a:r>
          </a:p>
        </p:txBody>
      </p:sp>
      <p:sp>
        <p:nvSpPr>
          <p:cNvPr id="21" name="Text / 1 млн+"/>
          <p:cNvSpPr txBox="1"/>
          <p:nvPr/>
        </p:nvSpPr>
        <p:spPr>
          <a:xfrm>
            <a:off x="9784080" y="6675120"/>
            <a:ext cx="42062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04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1 млн+</a:t>
            </a:r>
          </a:p>
        </p:txBody>
      </p:sp>
      <p:sp>
        <p:nvSpPr>
          <p:cNvPr id="22" name="Text / ИТ-специалистов в базе"/>
          <p:cNvSpPr txBox="1"/>
          <p:nvPr/>
        </p:nvSpPr>
        <p:spPr>
          <a:xfrm>
            <a:off x="9784080" y="7351775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0"/>
                </a:solidFill>
                <a:latin typeface="Manrope"/>
              </a:defRPr>
            </a:pPr>
            <a:r>
              <a:t>ИТ-специалистов в базе</a:t>
            </a:r>
          </a:p>
        </p:txBody>
      </p:sp>
      <p:sp>
        <p:nvSpPr>
          <p:cNvPr id="23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pic>
        <p:nvPicPr>
          <p:cNvPr id="29" name="Editorial image / tech/3" descr="exec-693a8447-01d7-476e-a9ef-b909e1d5b7e7.png"/>
          <p:cNvPicPr>
            <a:picLocks noChangeAspect="1"/>
          </p:cNvPicPr>
          <p:nvPr/>
        </p:nvPicPr>
        <p:blipFill>
          <a:blip r:embed="rId5"/>
          <a:srcRect l="50200" r="200" t="53815" b="3815"/>
          <a:stretch>
            <a:fillRect/>
          </a:stretch>
        </p:blipFill>
        <p:spPr>
          <a:xfrm>
            <a:off x="9235440" y="1920240"/>
            <a:ext cx="4754880" cy="2286000"/>
          </a:xfrm>
          <a:prstGeom prst="rect">
            <a:avLst/>
          </a:prstGeom>
        </p:spPr>
      </p:pic>
      <p:cxnSp>
        <p:nvCxnSpPr>
          <p:cNvPr id="30" name="Graphic / connection"/>
          <p:cNvCxnSpPr/>
          <p:nvPr/>
        </p:nvCxnSpPr>
        <p:spPr>
          <a:xfrm>
            <a:off x="9107424" y="179222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1" name="Graphic / connection"/>
          <p:cNvCxnSpPr/>
          <p:nvPr/>
        </p:nvCxnSpPr>
        <p:spPr>
          <a:xfrm>
            <a:off x="9107424" y="1792224"/>
            <a:ext cx="0" cy="274319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2" name="Graphic / connection"/>
          <p:cNvCxnSpPr/>
          <p:nvPr/>
        </p:nvCxnSpPr>
        <p:spPr>
          <a:xfrm flipH="1">
            <a:off x="13844016" y="179222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3" name="Graphic / connection"/>
          <p:cNvCxnSpPr/>
          <p:nvPr/>
        </p:nvCxnSpPr>
        <p:spPr>
          <a:xfrm>
            <a:off x="14118336" y="1792224"/>
            <a:ext cx="0" cy="274319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4" name="Graphic / connection"/>
          <p:cNvCxnSpPr/>
          <p:nvPr/>
        </p:nvCxnSpPr>
        <p:spPr>
          <a:xfrm>
            <a:off x="9107424" y="4334255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5" name="Graphic / connection"/>
          <p:cNvCxnSpPr/>
          <p:nvPr/>
        </p:nvCxnSpPr>
        <p:spPr>
          <a:xfrm flipV="1">
            <a:off x="9107424" y="4059935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6" name="Graphic / connection"/>
          <p:cNvCxnSpPr/>
          <p:nvPr/>
        </p:nvCxnSpPr>
        <p:spPr>
          <a:xfrm flipH="1">
            <a:off x="13844016" y="4334255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7" name="Graphic / connection"/>
          <p:cNvCxnSpPr/>
          <p:nvPr/>
        </p:nvCxnSpPr>
        <p:spPr>
          <a:xfrm flipV="1">
            <a:off x="14118336" y="4059935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9" name="Graphic / planar junction"/>
          <p:cNvSpPr/>
          <p:nvPr/>
        </p:nvSpPr>
        <p:spPr>
          <a:xfrm>
            <a:off x="13624560" y="19202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" name="Graphic / connection"/>
          <p:cNvCxnSpPr/>
          <p:nvPr/>
        </p:nvCxnSpPr>
        <p:spPr>
          <a:xfrm>
            <a:off x="8046720" y="3566160"/>
            <a:ext cx="777240" cy="0"/>
          </a:xfrm>
          <a:prstGeom prst="line">
            <a:avLst/>
          </a:prstGeom>
          <a:ln w="10160">
            <a:solidFill>
              <a:srgbClr val="8F9881"/>
            </a:solidFill>
          </a:ln>
        </p:spPr>
      </p:cxnSp>
      <p:sp>
        <p:nvSpPr>
          <p:cNvPr id="39" name="Colour field / FF6600"/>
          <p:cNvSpPr/>
          <p:nvPr/>
        </p:nvSpPr>
        <p:spPr>
          <a:xfrm>
            <a:off x="8750808" y="3502152"/>
            <a:ext cx="128016" cy="1280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Colour field / E1E2D9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IT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IT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6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16</a:t>
            </a:r>
          </a:p>
        </p:txBody>
      </p:sp>
      <p:sp>
        <p:nvSpPr>
          <p:cNvPr id="6" name="Text / ИТ: кей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ИТ: кейсы</a:t>
            </a:r>
          </a:p>
        </p:txBody>
      </p:sp>
      <p:sp>
        <p:nvSpPr>
          <p:cNvPr id="23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pic>
        <p:nvPicPr>
          <p:cNvPr id="29" name="Editorial image / tech/2" descr="exec-693a8447-01d7-476e-a9ef-b909e1d5b7e7.png"/>
          <p:cNvPicPr>
            <a:picLocks noChangeAspect="1"/>
          </p:cNvPicPr>
          <p:nvPr/>
        </p:nvPicPr>
        <p:blipFill>
          <a:blip r:embed="rId4"/>
          <a:srcRect l="200" r="50200" t="50323" b="323"/>
          <a:stretch>
            <a:fillRect/>
          </a:stretch>
        </p:blipFill>
        <p:spPr>
          <a:xfrm>
            <a:off x="640080" y="2862072"/>
            <a:ext cx="1600200" cy="896112"/>
          </a:xfrm>
          <a:prstGeom prst="rect">
            <a:avLst/>
          </a:prstGeom>
        </p:spPr>
      </p:pic>
      <p:sp>
        <p:nvSpPr>
          <p:cNvPr id="30" name="Text / 01"/>
          <p:cNvSpPr txBox="1"/>
          <p:nvPr/>
        </p:nvSpPr>
        <p:spPr>
          <a:xfrm>
            <a:off x="2487168" y="2898648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31" name="Text / Высоконагруженные сервисы"/>
          <p:cNvSpPr txBox="1"/>
          <p:nvPr/>
        </p:nvSpPr>
        <p:spPr>
          <a:xfrm>
            <a:off x="3017520" y="2898648"/>
            <a:ext cx="3794760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1110"/>
                </a:solidFill>
                <a:latin typeface="Manrope"/>
              </a:defRPr>
            </a:pPr>
            <a:r>
              <a:t>Высоконагруженные сервисы</a:t>
            </a:r>
          </a:p>
        </p:txBody>
      </p:sp>
      <p:sp>
        <p:nvSpPr>
          <p:cNvPr id="32" name="Text / Для международной ИТ-компании спроектировали "/>
          <p:cNvSpPr txBox="1"/>
          <p:nvPr/>
        </p:nvSpPr>
        <p:spPr>
          <a:xfrm>
            <a:off x="7223760" y="2880360"/>
            <a:ext cx="6766560" cy="941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3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696A65"/>
                </a:solidFill>
                <a:latin typeface="Manrope"/>
              </a:defRPr>
            </a:pPr>
            <a:r>
              <a:t>Для международной ИТ-компании спроектировали микросервисную</a:t>
            </a:r>
          </a:p>
          <a:p>
            <a:pPr>
              <a:lnSpc>
                <a:spcPts val="1803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696A65"/>
                </a:solidFill>
                <a:latin typeface="Manrope"/>
              </a:defRPr>
            </a:pPr>
            <a:r>
              <a:t>архитектуру на Java Spring и Python FastAPI, внедрили API-шлюзы и</a:t>
            </a:r>
          </a:p>
          <a:p>
            <a:pPr>
              <a:lnSpc>
                <a:spcPts val="1803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696A65"/>
                </a:solidFill>
                <a:latin typeface="Manrope"/>
              </a:defRPr>
            </a:pPr>
            <a:r>
              <a:t>интеграцию с SAP.</a:t>
            </a:r>
          </a:p>
        </p:txBody>
      </p:sp>
      <p:sp>
        <p:nvSpPr>
          <p:cNvPr id="33" name="Colour field / D8DCCE"/>
          <p:cNvSpPr/>
          <p:nvPr/>
        </p:nvSpPr>
        <p:spPr>
          <a:xfrm>
            <a:off x="640080" y="3849624"/>
            <a:ext cx="13350240" cy="10972"/>
          </a:xfrm>
          <a:prstGeom prst="rect">
            <a:avLst/>
          </a:prstGeom>
          <a:solidFill>
            <a:srgbClr val="D8DC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Editorial image / retail/2" descr="exec-68e76964-f850-4348-bf04-88539aeb7380.png"/>
          <p:cNvPicPr>
            <a:picLocks noChangeAspect="1"/>
          </p:cNvPicPr>
          <p:nvPr/>
        </p:nvPicPr>
        <p:blipFill>
          <a:blip r:embed="rId5"/>
          <a:srcRect l="200" r="50200" t="50323" b="323"/>
          <a:stretch>
            <a:fillRect/>
          </a:stretch>
        </p:blipFill>
        <p:spPr>
          <a:xfrm>
            <a:off x="640080" y="3968496"/>
            <a:ext cx="1600200" cy="896112"/>
          </a:xfrm>
          <a:prstGeom prst="rect">
            <a:avLst/>
          </a:prstGeom>
        </p:spPr>
      </p:pic>
      <p:sp>
        <p:nvSpPr>
          <p:cNvPr id="35" name="Text / 02"/>
          <p:cNvSpPr txBox="1"/>
          <p:nvPr/>
        </p:nvSpPr>
        <p:spPr>
          <a:xfrm>
            <a:off x="2487168" y="400507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36" name="Text / Интерфейс luxury-ритейлера"/>
          <p:cNvSpPr txBox="1"/>
          <p:nvPr/>
        </p:nvSpPr>
        <p:spPr>
          <a:xfrm>
            <a:off x="3017520" y="4005072"/>
            <a:ext cx="3794760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1110"/>
                </a:solidFill>
                <a:latin typeface="Manrope"/>
              </a:defRPr>
            </a:pPr>
            <a:r>
              <a:t>Интерфейс luxury-ритейлера</a:t>
            </a:r>
          </a:p>
        </p:txBody>
      </p:sp>
      <p:sp>
        <p:nvSpPr>
          <p:cNvPr id="37" name="Text / Разработали адаптивные интерфейсы на ReactJS "/>
          <p:cNvSpPr txBox="1"/>
          <p:nvPr/>
        </p:nvSpPr>
        <p:spPr>
          <a:xfrm>
            <a:off x="7223760" y="3986783"/>
            <a:ext cx="6766560" cy="941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3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696A65"/>
                </a:solidFill>
                <a:latin typeface="Manrope"/>
              </a:defRPr>
            </a:pPr>
            <a:r>
              <a:t>Разработали адаптивные интерфейсы на ReactJS и VueJS, внедрили</a:t>
            </a:r>
          </a:p>
          <a:p>
            <a:pPr>
              <a:lnSpc>
                <a:spcPts val="1803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696A65"/>
                </a:solidFill>
                <a:latin typeface="Manrope"/>
              </a:defRPr>
            </a:pPr>
            <a:r>
              <a:t>SSR для ускорения загрузки и интеграцию с BI-дашбордами.</a:t>
            </a:r>
          </a:p>
        </p:txBody>
      </p:sp>
      <p:sp>
        <p:nvSpPr>
          <p:cNvPr id="38" name="Colour field / D8DCCE"/>
          <p:cNvSpPr/>
          <p:nvPr/>
        </p:nvSpPr>
        <p:spPr>
          <a:xfrm>
            <a:off x="640080" y="4956048"/>
            <a:ext cx="13350240" cy="10972"/>
          </a:xfrm>
          <a:prstGeom prst="rect">
            <a:avLst/>
          </a:prstGeom>
          <a:solidFill>
            <a:srgbClr val="D8DC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Editorial image / retail/3" descr="exec-68e76964-f850-4348-bf04-88539aeb7380.png"/>
          <p:cNvPicPr>
            <a:picLocks noChangeAspect="1"/>
          </p:cNvPicPr>
          <p:nvPr/>
        </p:nvPicPr>
        <p:blipFill>
          <a:blip r:embed="rId5"/>
          <a:srcRect l="50200" r="200" t="50323" b="323"/>
          <a:stretch>
            <a:fillRect/>
          </a:stretch>
        </p:blipFill>
        <p:spPr>
          <a:xfrm>
            <a:off x="640080" y="5074920"/>
            <a:ext cx="1600200" cy="896112"/>
          </a:xfrm>
          <a:prstGeom prst="rect">
            <a:avLst/>
          </a:prstGeom>
        </p:spPr>
      </p:pic>
      <p:sp>
        <p:nvSpPr>
          <p:cNvPr id="40" name="Text / 03"/>
          <p:cNvSpPr txBox="1"/>
          <p:nvPr/>
        </p:nvSpPr>
        <p:spPr>
          <a:xfrm>
            <a:off x="2487168" y="5111496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41" name="Text / Приложение FMCG-бренда"/>
          <p:cNvSpPr txBox="1"/>
          <p:nvPr/>
        </p:nvSpPr>
        <p:spPr>
          <a:xfrm>
            <a:off x="3017520" y="5111496"/>
            <a:ext cx="3794760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1110"/>
                </a:solidFill>
                <a:latin typeface="Manrope"/>
              </a:defRPr>
            </a:pPr>
            <a:r>
              <a:t>Приложение FMCG-бренда</a:t>
            </a:r>
          </a:p>
        </p:txBody>
      </p:sp>
      <p:sp>
        <p:nvSpPr>
          <p:cNvPr id="42" name="Text / Реализовали мобильное приложение на Flutter с"/>
          <p:cNvSpPr txBox="1"/>
          <p:nvPr/>
        </p:nvSpPr>
        <p:spPr>
          <a:xfrm>
            <a:off x="7223760" y="5093207"/>
            <a:ext cx="6766560" cy="941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3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696A65"/>
                </a:solidFill>
                <a:latin typeface="Manrope"/>
              </a:defRPr>
            </a:pPr>
            <a:r>
              <a:t>Реализовали мобильное приложение на Flutter с</a:t>
            </a:r>
          </a:p>
          <a:p>
            <a:pPr>
              <a:lnSpc>
                <a:spcPts val="1803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696A65"/>
                </a:solidFill>
                <a:latin typeface="Manrope"/>
              </a:defRPr>
            </a:pPr>
            <a:r>
              <a:t>push-уведомлениями и встроенной аналитикой.</a:t>
            </a:r>
          </a:p>
        </p:txBody>
      </p:sp>
      <p:sp>
        <p:nvSpPr>
          <p:cNvPr id="43" name="Colour field / D8DCCE"/>
          <p:cNvSpPr/>
          <p:nvPr/>
        </p:nvSpPr>
        <p:spPr>
          <a:xfrm>
            <a:off x="640080" y="6062472"/>
            <a:ext cx="13350240" cy="10972"/>
          </a:xfrm>
          <a:prstGeom prst="rect">
            <a:avLst/>
          </a:prstGeom>
          <a:solidFill>
            <a:srgbClr val="D8DC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Editorial image / tech/3" descr="exec-693a8447-01d7-476e-a9ef-b909e1d5b7e7.png"/>
          <p:cNvPicPr>
            <a:picLocks noChangeAspect="1"/>
          </p:cNvPicPr>
          <p:nvPr/>
        </p:nvPicPr>
        <p:blipFill>
          <a:blip r:embed="rId4"/>
          <a:srcRect l="50200" r="200" t="50323" b="323"/>
          <a:stretch>
            <a:fillRect/>
          </a:stretch>
        </p:blipFill>
        <p:spPr>
          <a:xfrm>
            <a:off x="640080" y="6181344"/>
            <a:ext cx="1600200" cy="896112"/>
          </a:xfrm>
          <a:prstGeom prst="rect">
            <a:avLst/>
          </a:prstGeom>
        </p:spPr>
      </p:pic>
      <p:sp>
        <p:nvSpPr>
          <p:cNvPr id="45" name="Text / 04"/>
          <p:cNvSpPr txBox="1"/>
          <p:nvPr/>
        </p:nvSpPr>
        <p:spPr>
          <a:xfrm>
            <a:off x="2487168" y="6217920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04</a:t>
            </a:r>
          </a:p>
        </p:txBody>
      </p:sp>
      <p:sp>
        <p:nvSpPr>
          <p:cNvPr id="46" name="Text / Инфраструктура нефтесервиса"/>
          <p:cNvSpPr txBox="1"/>
          <p:nvPr/>
        </p:nvSpPr>
        <p:spPr>
          <a:xfrm>
            <a:off x="3017520" y="6217920"/>
            <a:ext cx="3794760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1110"/>
                </a:solidFill>
                <a:latin typeface="Manrope"/>
              </a:defRPr>
            </a:pPr>
            <a:r>
              <a:t>Инфраструктура</a:t>
            </a:r>
          </a:p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1110"/>
                </a:solidFill>
                <a:latin typeface="Manrope"/>
              </a:defRPr>
            </a:pPr>
            <a:r>
              <a:t>нефтесервиса</a:t>
            </a:r>
          </a:p>
        </p:txBody>
      </p:sp>
      <p:sp>
        <p:nvSpPr>
          <p:cNvPr id="47" name="Text / Внедрили Kubernetes-кластер, GitLab CI/CD и м"/>
          <p:cNvSpPr txBox="1"/>
          <p:nvPr/>
        </p:nvSpPr>
        <p:spPr>
          <a:xfrm>
            <a:off x="7223760" y="6199631"/>
            <a:ext cx="6766560" cy="941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3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696A65"/>
                </a:solidFill>
                <a:latin typeface="Manrope"/>
              </a:defRPr>
            </a:pPr>
            <a:r>
              <a:t>Внедрили Kubernetes-кластер, GitLab CI/CD и мониторинг</a:t>
            </a:r>
          </a:p>
          <a:p>
            <a:pPr>
              <a:lnSpc>
                <a:spcPts val="1803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696A65"/>
                </a:solidFill>
                <a:latin typeface="Manrope"/>
              </a:defRPr>
            </a:pPr>
            <a:r>
              <a:t>Prometheus + Grafana. Время релиза сократилось с 2 недель до 3</a:t>
            </a:r>
          </a:p>
          <a:p>
            <a:pPr>
              <a:lnSpc>
                <a:spcPts val="1803"/>
              </a:lnSpc>
              <a:spcBef>
                <a:spcPts val="0"/>
              </a:spcBef>
              <a:spcAft>
                <a:spcPts val="0"/>
              </a:spcAft>
              <a:defRPr sz="1610" b="0">
                <a:solidFill>
                  <a:srgbClr val="696A65"/>
                </a:solidFill>
                <a:latin typeface="Manrope"/>
              </a:defRPr>
            </a:pPr>
            <a:r>
              <a:t>дней; повысилась стабильность инфраструктуры.</a:t>
            </a:r>
          </a:p>
        </p:txBody>
      </p:sp>
      <p:sp>
        <p:nvSpPr>
          <p:cNvPr id="48" name="Colour field / D8DCCE"/>
          <p:cNvSpPr/>
          <p:nvPr/>
        </p:nvSpPr>
        <p:spPr>
          <a:xfrm>
            <a:off x="640080" y="7168896"/>
            <a:ext cx="13350240" cy="10972"/>
          </a:xfrm>
          <a:prstGeom prst="rect">
            <a:avLst/>
          </a:prstGeom>
          <a:solidFill>
            <a:srgbClr val="D8DC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 / ИЗОБРАЖЕНИЯ — ИЛЛЮСТРАЦИИ ОТРАСЛЕЙ"/>
          <p:cNvSpPr txBox="1"/>
          <p:nvPr/>
        </p:nvSpPr>
        <p:spPr>
          <a:xfrm>
            <a:off x="640080" y="2487168"/>
            <a:ext cx="13350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ИЗОБРАЖЕНИЯ — ИЛЛЮСТРАЦИИ ОТРАСЛЕЙ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Colour field / E1E2D9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TECH / ТОП-1 НА РЫНКЕ ПЛАТФОРМ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TECH / ТОП-1 НА РЫНКЕ ПЛАТФОРМ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7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17</a:t>
            </a:r>
          </a:p>
        </p:txBody>
      </p:sp>
      <p:sp>
        <p:nvSpPr>
          <p:cNvPr id="6" name="Text / Ventra Go!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48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Ventra Go!</a:t>
            </a:r>
          </a:p>
        </p:txBody>
      </p:sp>
      <p:sp>
        <p:nvSpPr>
          <p:cNvPr id="7" name="Text / Цифровая платформа гибкой занятости"/>
          <p:cNvSpPr txBox="1"/>
          <p:nvPr/>
        </p:nvSpPr>
        <p:spPr>
          <a:xfrm>
            <a:off x="640080" y="2743200"/>
            <a:ext cx="13350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24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111110"/>
                </a:solidFill>
                <a:latin typeface="Manrope"/>
              </a:defRPr>
            </a:pPr>
            <a:r>
              <a:t>Цифровая платформа гибкой занятости</a:t>
            </a:r>
          </a:p>
        </p:txBody>
      </p:sp>
      <p:sp>
        <p:nvSpPr>
          <p:cNvPr id="8" name="Text / 2 000 000"/>
          <p:cNvSpPr txBox="1"/>
          <p:nvPr/>
        </p:nvSpPr>
        <p:spPr>
          <a:xfrm>
            <a:off x="457200" y="3685032"/>
            <a:ext cx="137160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96"/>
              </a:lnSpc>
              <a:spcBef>
                <a:spcPts val="0"/>
              </a:spcBef>
              <a:spcAft>
                <a:spcPts val="0"/>
              </a:spcAft>
              <a:defRPr sz="11575" b="1">
                <a:solidFill>
                  <a:srgbClr val="111110"/>
                </a:solidFill>
                <a:latin typeface="Manrope"/>
              </a:defRPr>
            </a:pPr>
            <a:r>
              <a:rPr spc="-500"/>
              <a:t>2 000 000</a:t>
            </a:r>
          </a:p>
        </p:txBody>
      </p:sp>
      <p:sp>
        <p:nvSpPr>
          <p:cNvPr id="9" name="Text / проверенных исполнителей"/>
          <p:cNvSpPr txBox="1"/>
          <p:nvPr/>
        </p:nvSpPr>
        <p:spPr>
          <a:xfrm>
            <a:off x="640080" y="5166360"/>
            <a:ext cx="13350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8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111110"/>
                </a:solidFill>
                <a:latin typeface="Manrope"/>
              </a:defRPr>
            </a:pPr>
            <a:r>
              <a:t>проверенных исполнителей</a:t>
            </a:r>
          </a:p>
        </p:txBody>
      </p:sp>
      <p:sp>
        <p:nvSpPr>
          <p:cNvPr id="10" name="Colour field / D2D2CB"/>
          <p:cNvSpPr/>
          <p:nvPr/>
        </p:nvSpPr>
        <p:spPr>
          <a:xfrm>
            <a:off x="640080" y="6080760"/>
            <a:ext cx="13350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 / 25 000+"/>
          <p:cNvSpPr txBox="1"/>
          <p:nvPr/>
        </p:nvSpPr>
        <p:spPr>
          <a:xfrm>
            <a:off x="640080" y="6428232"/>
            <a:ext cx="4206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2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25 000+</a:t>
            </a:r>
          </a:p>
        </p:txBody>
      </p:sp>
      <p:sp>
        <p:nvSpPr>
          <p:cNvPr id="12" name="Text / торговых точек на платформе"/>
          <p:cNvSpPr txBox="1"/>
          <p:nvPr/>
        </p:nvSpPr>
        <p:spPr>
          <a:xfrm>
            <a:off x="640080" y="7251192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11110"/>
                </a:solidFill>
                <a:latin typeface="Manrope"/>
              </a:defRPr>
            </a:pPr>
            <a:r>
              <a:t>торговых точек на платформе</a:t>
            </a:r>
          </a:p>
        </p:txBody>
      </p:sp>
      <p:sp>
        <p:nvSpPr>
          <p:cNvPr id="13" name="Text / 200+"/>
          <p:cNvSpPr txBox="1"/>
          <p:nvPr/>
        </p:nvSpPr>
        <p:spPr>
          <a:xfrm>
            <a:off x="5212080" y="6428232"/>
            <a:ext cx="4206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2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200+</a:t>
            </a:r>
          </a:p>
        </p:txBody>
      </p:sp>
      <p:sp>
        <p:nvSpPr>
          <p:cNvPr id="14" name="Text / брендов ритейла, e-com и HoReCa"/>
          <p:cNvSpPr txBox="1"/>
          <p:nvPr/>
        </p:nvSpPr>
        <p:spPr>
          <a:xfrm>
            <a:off x="5212080" y="7251192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11110"/>
                </a:solidFill>
                <a:latin typeface="Manrope"/>
              </a:defRPr>
            </a:pPr>
            <a:r>
              <a:t>брендов ритейла, e-com и HoReCa</a:t>
            </a:r>
          </a:p>
        </p:txBody>
      </p:sp>
      <p:sp>
        <p:nvSpPr>
          <p:cNvPr id="15" name="Text / Все категории"/>
          <p:cNvSpPr txBox="1"/>
          <p:nvPr/>
        </p:nvSpPr>
        <p:spPr>
          <a:xfrm>
            <a:off x="9784080" y="6428232"/>
            <a:ext cx="4206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4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Все категории</a:t>
            </a:r>
          </a:p>
        </p:txBody>
      </p:sp>
      <p:sp>
        <p:nvSpPr>
          <p:cNvPr id="16" name="Text / работников для ритейла и HoReCa"/>
          <p:cNvSpPr txBox="1"/>
          <p:nvPr/>
        </p:nvSpPr>
        <p:spPr>
          <a:xfrm>
            <a:off x="9784080" y="7251192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11110"/>
                </a:solidFill>
                <a:latin typeface="Manrope"/>
              </a:defRPr>
            </a:pPr>
            <a:r>
              <a:t>работников для ритейла и HoReCa</a:t>
            </a:r>
          </a:p>
        </p:txBody>
      </p:sp>
      <p:sp>
        <p:nvSpPr>
          <p:cNvPr id="17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pic>
        <p:nvPicPr>
          <p:cNvPr id="23" name="Editorial image / retail/3" descr="exec-68e76964-f850-4348-bf04-88539aeb7380.png"/>
          <p:cNvPicPr>
            <a:picLocks noChangeAspect="1"/>
          </p:cNvPicPr>
          <p:nvPr/>
        </p:nvPicPr>
        <p:blipFill>
          <a:blip r:embed="rId4"/>
          <a:srcRect l="53896" r="3896" t="50200" b="200"/>
          <a:stretch>
            <a:fillRect/>
          </a:stretch>
        </p:blipFill>
        <p:spPr>
          <a:xfrm>
            <a:off x="10533888" y="3383280"/>
            <a:ext cx="3456432" cy="2286000"/>
          </a:xfrm>
          <a:prstGeom prst="rect">
            <a:avLst/>
          </a:prstGeom>
        </p:spPr>
      </p:pic>
      <p:cxnSp>
        <p:nvCxnSpPr>
          <p:cNvPr id="24" name="Graphic / connection"/>
          <p:cNvCxnSpPr/>
          <p:nvPr/>
        </p:nvCxnSpPr>
        <p:spPr>
          <a:xfrm>
            <a:off x="10405872" y="3255264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5" name="Graphic / connection"/>
          <p:cNvCxnSpPr/>
          <p:nvPr/>
        </p:nvCxnSpPr>
        <p:spPr>
          <a:xfrm>
            <a:off x="10405872" y="325526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6" name="Graphic / connection"/>
          <p:cNvCxnSpPr/>
          <p:nvPr/>
        </p:nvCxnSpPr>
        <p:spPr>
          <a:xfrm flipH="1">
            <a:off x="13844015" y="3255264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7" name="Graphic / connection"/>
          <p:cNvCxnSpPr/>
          <p:nvPr/>
        </p:nvCxnSpPr>
        <p:spPr>
          <a:xfrm>
            <a:off x="14118336" y="3255264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8" name="Graphic / connection"/>
          <p:cNvCxnSpPr/>
          <p:nvPr/>
        </p:nvCxnSpPr>
        <p:spPr>
          <a:xfrm>
            <a:off x="10405872" y="5797296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9" name="Graphic / connection"/>
          <p:cNvCxnSpPr/>
          <p:nvPr/>
        </p:nvCxnSpPr>
        <p:spPr>
          <a:xfrm flipV="1">
            <a:off x="10405872" y="552297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0" name="Graphic / connection"/>
          <p:cNvCxnSpPr/>
          <p:nvPr/>
        </p:nvCxnSpPr>
        <p:spPr>
          <a:xfrm flipH="1">
            <a:off x="13844015" y="5797296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1" name="Graphic / connection"/>
          <p:cNvCxnSpPr/>
          <p:nvPr/>
        </p:nvCxnSpPr>
        <p:spPr>
          <a:xfrm flipV="1">
            <a:off x="14118336" y="5522976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32" name="Graphic / planar junction"/>
          <p:cNvSpPr/>
          <p:nvPr/>
        </p:nvSpPr>
        <p:spPr>
          <a:xfrm>
            <a:off x="13624559" y="338328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" name="Graphic / connection"/>
          <p:cNvCxnSpPr/>
          <p:nvPr/>
        </p:nvCxnSpPr>
        <p:spPr>
          <a:xfrm>
            <a:off x="9006840" y="4343400"/>
            <a:ext cx="960120" cy="0"/>
          </a:xfrm>
          <a:prstGeom prst="line">
            <a:avLst/>
          </a:prstGeom>
          <a:ln w="10160">
            <a:solidFill>
              <a:srgbClr val="6F7863"/>
            </a:solidFill>
          </a:ln>
        </p:spPr>
      </p:cxnSp>
      <p:sp>
        <p:nvSpPr>
          <p:cNvPr id="34" name="Graphic / planar junction"/>
          <p:cNvSpPr/>
          <p:nvPr/>
        </p:nvSpPr>
        <p:spPr>
          <a:xfrm>
            <a:off x="9692640" y="4178808"/>
            <a:ext cx="274320" cy="329184"/>
          </a:xfrm>
          <a:custGeom>
            <a:avLst/>
            <a:gdLst/>
            <a:ahLst/>
            <a:cxnLst/>
            <a:rect l="l" t="t" r="r" b="b"/>
            <a:pathLst>
              <a:path w="274320" h="329184">
                <a:moveTo>
                  <a:pt x="0" y="0"/>
                </a:moveTo>
                <a:lnTo>
                  <a:pt x="274320" y="164592"/>
                </a:lnTo>
                <a:lnTo>
                  <a:pt x="0" y="329184"/>
                </a:lnTo>
                <a:close/>
              </a:path>
            </a:pathLst>
          </a:custGeom>
          <a:solidFill>
            <a:srgbClr val="1111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Colour field / CBD1BF"/>
          <p:cNvSpPr/>
          <p:nvPr/>
        </p:nvSpPr>
        <p:spPr>
          <a:xfrm>
            <a:off x="4892040" y="6419088"/>
            <a:ext cx="10972" cy="1078992"/>
          </a:xfrm>
          <a:prstGeom prst="rect">
            <a:avLst/>
          </a:prstGeom>
          <a:solidFill>
            <a:srgbClr val="CBD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Colour field / CBD1BF"/>
          <p:cNvSpPr/>
          <p:nvPr/>
        </p:nvSpPr>
        <p:spPr>
          <a:xfrm>
            <a:off x="9464040" y="6419088"/>
            <a:ext cx="10972" cy="1078992"/>
          </a:xfrm>
          <a:prstGeom prst="rect">
            <a:avLst/>
          </a:prstGeom>
          <a:solidFill>
            <a:srgbClr val="CBD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Colour field / E1E2D9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TECH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TECH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8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18</a:t>
            </a:r>
          </a:p>
        </p:txBody>
      </p:sp>
      <p:sp>
        <p:nvSpPr>
          <p:cNvPr id="6" name="Text / Ventra Go!: кей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Ventra Go!: кейсы</a:t>
            </a:r>
          </a:p>
        </p:txBody>
      </p:sp>
      <p:sp>
        <p:nvSpPr>
          <p:cNvPr id="7" name="Text / Соединяем потребность бизнеса в гибком усилен"/>
          <p:cNvSpPr txBox="1"/>
          <p:nvPr/>
        </p:nvSpPr>
        <p:spPr>
          <a:xfrm>
            <a:off x="640080" y="2697480"/>
            <a:ext cx="13350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Соединяем потребность бизнеса в гибком усилении с возможностями людей.</a:t>
            </a:r>
          </a:p>
        </p:txBody>
      </p:sp>
      <p:sp>
        <p:nvSpPr>
          <p:cNvPr id="8" name="Colour field / D2D2CB"/>
          <p:cNvSpPr/>
          <p:nvPr/>
        </p:nvSpPr>
        <p:spPr>
          <a:xfrm>
            <a:off x="640080" y="388620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Image / 18_7.png" descr="18_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25879" y="5387807"/>
            <a:ext cx="2834640" cy="672673"/>
          </a:xfrm>
          <a:prstGeom prst="rect">
            <a:avLst/>
          </a:prstGeom>
        </p:spPr>
      </p:pic>
      <p:sp>
        <p:nvSpPr>
          <p:cNvPr id="10" name="Text / Предоставление работников зала, разнорабочих "/>
          <p:cNvSpPr txBox="1"/>
          <p:nvPr/>
        </p:nvSpPr>
        <p:spPr>
          <a:xfrm>
            <a:off x="640080" y="6172200"/>
            <a:ext cx="416052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Предоставление работников</a:t>
            </a:r>
          </a:p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зала, разнорабочих и пекарей</a:t>
            </a:r>
          </a:p>
        </p:txBody>
      </p:sp>
      <p:sp>
        <p:nvSpPr>
          <p:cNvPr id="11" name="Colour field / D2D2CB"/>
          <p:cNvSpPr/>
          <p:nvPr/>
        </p:nvSpPr>
        <p:spPr>
          <a:xfrm>
            <a:off x="5212080" y="388620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Image / 18_8.png" descr="18_8.png"/>
          <p:cNvPicPr>
            <a:picLocks noChangeAspect="1"/>
          </p:cNvPicPr>
          <p:nvPr/>
        </p:nvPicPr>
        <p:blipFill>
          <a:blip r:embed="rId4"/>
          <a:srcRect l="3167" r="4000" t="27000" b="36750"/>
          <a:stretch>
            <a:fillRect/>
          </a:stretch>
        </p:blipFill>
        <p:spPr>
          <a:xfrm>
            <a:off x="5897880" y="5355182"/>
            <a:ext cx="2834640" cy="737922"/>
          </a:xfrm>
          <a:prstGeom prst="rect">
            <a:avLst/>
          </a:prstGeom>
        </p:spPr>
      </p:pic>
      <p:sp>
        <p:nvSpPr>
          <p:cNvPr id="13" name="Text / Предоставление сборщиков заказов, работников "/>
          <p:cNvSpPr txBox="1"/>
          <p:nvPr/>
        </p:nvSpPr>
        <p:spPr>
          <a:xfrm>
            <a:off x="5212080" y="6172200"/>
            <a:ext cx="416052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Предоставление сборщиков</a:t>
            </a:r>
          </a:p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заказов, работников зала и</a:t>
            </a:r>
          </a:p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курьеров в гипермаркеты</a:t>
            </a:r>
          </a:p>
        </p:txBody>
      </p:sp>
      <p:sp>
        <p:nvSpPr>
          <p:cNvPr id="14" name="Colour field / D2D2CB"/>
          <p:cNvSpPr/>
          <p:nvPr/>
        </p:nvSpPr>
        <p:spPr>
          <a:xfrm>
            <a:off x="9784080" y="388620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Image / 18_9.png" descr="18_9.png"/>
          <p:cNvPicPr>
            <a:picLocks noChangeAspect="1"/>
          </p:cNvPicPr>
          <p:nvPr/>
        </p:nvPicPr>
        <p:blipFill>
          <a:blip r:embed="rId5"/>
          <a:srcRect t="36800" b="36600"/>
          <a:stretch>
            <a:fillRect/>
          </a:stretch>
        </p:blipFill>
        <p:spPr>
          <a:xfrm>
            <a:off x="10378440" y="5322813"/>
            <a:ext cx="3017520" cy="802660"/>
          </a:xfrm>
          <a:prstGeom prst="rect">
            <a:avLst/>
          </a:prstGeom>
        </p:spPr>
      </p:pic>
      <p:sp>
        <p:nvSpPr>
          <p:cNvPr id="16" name="Text / Предоставление работников торгового зала"/>
          <p:cNvSpPr txBox="1"/>
          <p:nvPr/>
        </p:nvSpPr>
        <p:spPr>
          <a:xfrm>
            <a:off x="9784080" y="6172200"/>
            <a:ext cx="416052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Предоставление работников</a:t>
            </a:r>
          </a:p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торгового зала</a:t>
            </a:r>
          </a:p>
        </p:txBody>
      </p:sp>
      <p:sp>
        <p:nvSpPr>
          <p:cNvPr id="17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pic>
        <p:nvPicPr>
          <p:cNvPr id="23" name="Editorial image / retail/3" descr="exec-68e76964-f850-4348-bf04-88539aeb7380.png"/>
          <p:cNvPicPr>
            <a:picLocks noChangeAspect="1"/>
          </p:cNvPicPr>
          <p:nvPr/>
        </p:nvPicPr>
        <p:blipFill>
          <a:blip r:embed="rId7"/>
          <a:srcRect l="50200" r="200" t="58523" b="8523"/>
          <a:stretch>
            <a:fillRect/>
          </a:stretch>
        </p:blipFill>
        <p:spPr>
          <a:xfrm>
            <a:off x="640080" y="3493008"/>
            <a:ext cx="4206240" cy="1572768"/>
          </a:xfrm>
          <a:prstGeom prst="rect">
            <a:avLst/>
          </a:prstGeom>
        </p:spPr>
      </p:pic>
      <p:cxnSp>
        <p:nvCxnSpPr>
          <p:cNvPr id="24" name="Graphic / connection"/>
          <p:cNvCxnSpPr/>
          <p:nvPr/>
        </p:nvCxnSpPr>
        <p:spPr>
          <a:xfrm>
            <a:off x="512063" y="3364991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5" name="Graphic / connection"/>
          <p:cNvCxnSpPr/>
          <p:nvPr/>
        </p:nvCxnSpPr>
        <p:spPr>
          <a:xfrm>
            <a:off x="512063" y="3364991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6" name="Graphic / connection"/>
          <p:cNvCxnSpPr/>
          <p:nvPr/>
        </p:nvCxnSpPr>
        <p:spPr>
          <a:xfrm flipH="1">
            <a:off x="4700016" y="3364991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7" name="Graphic / connection"/>
          <p:cNvCxnSpPr/>
          <p:nvPr/>
        </p:nvCxnSpPr>
        <p:spPr>
          <a:xfrm>
            <a:off x="4974336" y="3364991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8" name="Graphic / connection"/>
          <p:cNvCxnSpPr/>
          <p:nvPr/>
        </p:nvCxnSpPr>
        <p:spPr>
          <a:xfrm>
            <a:off x="512063" y="5193792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29" name="Graphic / connection"/>
          <p:cNvCxnSpPr/>
          <p:nvPr/>
        </p:nvCxnSpPr>
        <p:spPr>
          <a:xfrm flipV="1">
            <a:off x="512063" y="4919472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0" name="Graphic / connection"/>
          <p:cNvCxnSpPr/>
          <p:nvPr/>
        </p:nvCxnSpPr>
        <p:spPr>
          <a:xfrm flipH="1">
            <a:off x="4700016" y="5193792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1" name="Graphic / connection"/>
          <p:cNvCxnSpPr/>
          <p:nvPr/>
        </p:nvCxnSpPr>
        <p:spPr>
          <a:xfrm flipV="1">
            <a:off x="4974336" y="4919472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32" name="Graphic / planar junction"/>
          <p:cNvSpPr/>
          <p:nvPr/>
        </p:nvSpPr>
        <p:spPr>
          <a:xfrm>
            <a:off x="4480559" y="3493008"/>
            <a:ext cx="365761" cy="365760"/>
          </a:xfrm>
          <a:custGeom>
            <a:avLst/>
            <a:gdLst/>
            <a:ahLst/>
            <a:cxnLst/>
            <a:rect l="l" t="t" r="r" b="b"/>
            <a:pathLst>
              <a:path w="365761" h="365760">
                <a:moveTo>
                  <a:pt x="0" y="0"/>
                </a:moveTo>
                <a:lnTo>
                  <a:pt x="365761" y="0"/>
                </a:lnTo>
                <a:lnTo>
                  <a:pt x="365761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Editorial image / tech/1" descr="exec-693a8447-01d7-476e-a9ef-b909e1d5b7e7.png"/>
          <p:cNvPicPr>
            <a:picLocks noChangeAspect="1"/>
          </p:cNvPicPr>
          <p:nvPr/>
        </p:nvPicPr>
        <p:blipFill>
          <a:blip r:embed="rId8"/>
          <a:srcRect l="50200" r="200" t="8523" b="58523"/>
          <a:stretch>
            <a:fillRect/>
          </a:stretch>
        </p:blipFill>
        <p:spPr>
          <a:xfrm>
            <a:off x="5212080" y="3493008"/>
            <a:ext cx="4206240" cy="1572768"/>
          </a:xfrm>
          <a:prstGeom prst="rect">
            <a:avLst/>
          </a:prstGeom>
        </p:spPr>
      </p:pic>
      <p:cxnSp>
        <p:nvCxnSpPr>
          <p:cNvPr id="34" name="Graphic / connection"/>
          <p:cNvCxnSpPr/>
          <p:nvPr/>
        </p:nvCxnSpPr>
        <p:spPr>
          <a:xfrm>
            <a:off x="5084064" y="3364991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5" name="Graphic / connection"/>
          <p:cNvCxnSpPr/>
          <p:nvPr/>
        </p:nvCxnSpPr>
        <p:spPr>
          <a:xfrm>
            <a:off x="5084064" y="3364991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6" name="Graphic / connection"/>
          <p:cNvCxnSpPr/>
          <p:nvPr/>
        </p:nvCxnSpPr>
        <p:spPr>
          <a:xfrm flipH="1">
            <a:off x="9272016" y="3364991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7" name="Graphic / connection"/>
          <p:cNvCxnSpPr/>
          <p:nvPr/>
        </p:nvCxnSpPr>
        <p:spPr>
          <a:xfrm>
            <a:off x="9546336" y="3364991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8" name="Graphic / connection"/>
          <p:cNvCxnSpPr/>
          <p:nvPr/>
        </p:nvCxnSpPr>
        <p:spPr>
          <a:xfrm>
            <a:off x="5084064" y="5193792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39" name="Graphic / connection"/>
          <p:cNvCxnSpPr/>
          <p:nvPr/>
        </p:nvCxnSpPr>
        <p:spPr>
          <a:xfrm flipV="1">
            <a:off x="5084064" y="4919472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0" name="Graphic / connection"/>
          <p:cNvCxnSpPr/>
          <p:nvPr/>
        </p:nvCxnSpPr>
        <p:spPr>
          <a:xfrm flipH="1">
            <a:off x="9272016" y="5193792"/>
            <a:ext cx="274320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1" name="Graphic / connection"/>
          <p:cNvCxnSpPr/>
          <p:nvPr/>
        </p:nvCxnSpPr>
        <p:spPr>
          <a:xfrm flipV="1">
            <a:off x="9546336" y="4919472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42" name="Graphic / planar junction"/>
          <p:cNvSpPr/>
          <p:nvPr/>
        </p:nvSpPr>
        <p:spPr>
          <a:xfrm>
            <a:off x="9052560" y="3493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Editorial image / retail/2" descr="exec-68e76964-f850-4348-bf04-88539aeb7380.png"/>
          <p:cNvPicPr>
            <a:picLocks noChangeAspect="1"/>
          </p:cNvPicPr>
          <p:nvPr/>
        </p:nvPicPr>
        <p:blipFill>
          <a:blip r:embed="rId7"/>
          <a:srcRect l="200" r="50200" t="58523" b="8523"/>
          <a:stretch>
            <a:fillRect/>
          </a:stretch>
        </p:blipFill>
        <p:spPr>
          <a:xfrm>
            <a:off x="9784080" y="3493008"/>
            <a:ext cx="4206240" cy="1572768"/>
          </a:xfrm>
          <a:prstGeom prst="rect">
            <a:avLst/>
          </a:prstGeom>
        </p:spPr>
      </p:pic>
      <p:cxnSp>
        <p:nvCxnSpPr>
          <p:cNvPr id="44" name="Graphic / connection"/>
          <p:cNvCxnSpPr/>
          <p:nvPr/>
        </p:nvCxnSpPr>
        <p:spPr>
          <a:xfrm>
            <a:off x="9656063" y="3364991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5" name="Graphic / connection"/>
          <p:cNvCxnSpPr/>
          <p:nvPr/>
        </p:nvCxnSpPr>
        <p:spPr>
          <a:xfrm>
            <a:off x="9656063" y="3364991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6" name="Graphic / connection"/>
          <p:cNvCxnSpPr/>
          <p:nvPr/>
        </p:nvCxnSpPr>
        <p:spPr>
          <a:xfrm flipH="1">
            <a:off x="13844015" y="3364991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7" name="Graphic / connection"/>
          <p:cNvCxnSpPr/>
          <p:nvPr/>
        </p:nvCxnSpPr>
        <p:spPr>
          <a:xfrm>
            <a:off x="14118336" y="3364991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8" name="Graphic / connection"/>
          <p:cNvCxnSpPr/>
          <p:nvPr/>
        </p:nvCxnSpPr>
        <p:spPr>
          <a:xfrm>
            <a:off x="9656063" y="5193792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49" name="Graphic / connection"/>
          <p:cNvCxnSpPr/>
          <p:nvPr/>
        </p:nvCxnSpPr>
        <p:spPr>
          <a:xfrm flipV="1">
            <a:off x="9656063" y="4919472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0" name="Graphic / connection"/>
          <p:cNvCxnSpPr/>
          <p:nvPr/>
        </p:nvCxnSpPr>
        <p:spPr>
          <a:xfrm flipH="1">
            <a:off x="13844015" y="5193792"/>
            <a:ext cx="274321" cy="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cxnSp>
        <p:nvCxnSpPr>
          <p:cNvPr id="51" name="Graphic / connection"/>
          <p:cNvCxnSpPr/>
          <p:nvPr/>
        </p:nvCxnSpPr>
        <p:spPr>
          <a:xfrm flipV="1">
            <a:off x="14118336" y="4919472"/>
            <a:ext cx="0" cy="274320"/>
          </a:xfrm>
          <a:prstGeom prst="line">
            <a:avLst/>
          </a:prstGeom>
          <a:ln w="7620">
            <a:solidFill>
              <a:srgbClr val="999D91"/>
            </a:solidFill>
          </a:ln>
        </p:spPr>
      </p:cxnSp>
      <p:sp>
        <p:nvSpPr>
          <p:cNvPr id="52" name="Graphic / planar junction"/>
          <p:cNvSpPr/>
          <p:nvPr/>
        </p:nvSpPr>
        <p:spPr>
          <a:xfrm>
            <a:off x="13624559" y="34930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close/>
              </a:path>
            </a:pathLst>
          </a:cu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 / ИЗОБРАЖЕНИЯ — ИЛЛЮСТРАЦИИ ОТРАСЛЕЙ"/>
          <p:cNvSpPr txBox="1"/>
          <p:nvPr/>
        </p:nvSpPr>
        <p:spPr>
          <a:xfrm>
            <a:off x="640080" y="7452360"/>
            <a:ext cx="13350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ИЗОБРАЖЕНИЯ — ИЛЛЮСТРАЦИИ ОТРАСЛЕЙ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377440" cy="932008"/>
          </a:xfrm>
          <a:prstGeom prst="rect">
            <a:avLst/>
          </a:prstGeom>
        </p:spPr>
      </p:pic>
      <p:sp>
        <p:nvSpPr>
          <p:cNvPr id="3" name="Text / Напишите нам"/>
          <p:cNvSpPr txBox="1"/>
          <p:nvPr/>
        </p:nvSpPr>
        <p:spPr>
          <a:xfrm>
            <a:off x="640080" y="2103120"/>
            <a:ext cx="1335024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523"/>
              </a:lnSpc>
              <a:spcBef>
                <a:spcPts val="0"/>
              </a:spcBef>
              <a:spcAft>
                <a:spcPts val="0"/>
              </a:spcAft>
              <a:defRPr sz="76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Напишите нам</a:t>
            </a:r>
          </a:p>
        </p:txBody>
      </p:sp>
      <p:sp>
        <p:nvSpPr>
          <p:cNvPr id="4" name="Text / Обсудим вашу задачу&#10;в контексте вашего бизнес"/>
          <p:cNvSpPr txBox="1"/>
          <p:nvPr/>
        </p:nvSpPr>
        <p:spPr>
          <a:xfrm>
            <a:off x="640080" y="3977639"/>
            <a:ext cx="1179576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FFFFFF"/>
                </a:solidFill>
                <a:latin typeface="Manrope"/>
              </a:defRPr>
            </a:pPr>
            <a:r>
              <a:t>Обсудим вашу задачу</a:t>
            </a:r>
          </a:p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FFFFFF"/>
                </a:solidFill>
                <a:latin typeface="Manrope"/>
              </a:defRPr>
            </a:pPr>
            <a:r>
              <a:t>в контексте вашего бизнеса.</a:t>
            </a:r>
          </a:p>
        </p:txBody>
      </p:sp>
      <p:sp>
        <p:nvSpPr>
          <p:cNvPr id="6" name="Colour field / 44443F"/>
          <p:cNvSpPr/>
          <p:nvPr/>
        </p:nvSpPr>
        <p:spPr>
          <a:xfrm>
            <a:off x="640080" y="6400800"/>
            <a:ext cx="13350240" cy="10972"/>
          </a:xfrm>
          <a:prstGeom prst="rect">
            <a:avLst/>
          </a:prstGeom>
          <a:solidFill>
            <a:srgbClr val="4444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 / client@ventra.ru"/>
          <p:cNvSpPr txBox="1"/>
          <p:nvPr/>
        </p:nvSpPr>
        <p:spPr>
          <a:xfrm>
            <a:off x="640080" y="6858000"/>
            <a:ext cx="77724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2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rgbClr val="FFFFFF"/>
                </a:solidFill>
                <a:latin typeface="Manrope"/>
              </a:defRPr>
            </a:pPr>
            <a:r>
              <a:rPr spc="-70"/>
              <a:t>client@ventra.ru</a:t>
            </a:r>
          </a:p>
        </p:txBody>
      </p:sp>
      <p:sp>
        <p:nvSpPr>
          <p:cNvPr id="8" name="Text / +7 495 543-97-43"/>
          <p:cNvSpPr txBox="1"/>
          <p:nvPr/>
        </p:nvSpPr>
        <p:spPr>
          <a:xfrm>
            <a:off x="9281160" y="6995160"/>
            <a:ext cx="47548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Manrope"/>
              </a:defRPr>
            </a:pPr>
            <a:r>
              <a:t>+7 495 543-97-43</a:t>
            </a:r>
          </a:p>
        </p:txBody>
      </p:sp>
      <p:sp>
        <p:nvSpPr>
          <p:cNvPr id="9" name="Colour field / A0A393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lour field / A0A393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lour field / A0A393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A0A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777C6D"/>
            </a:solidFill>
          </a:ln>
        </p:spPr>
      </p:cxnSp>
      <p:pic>
        <p:nvPicPr>
          <p:cNvPr id="13" name="Editorial image / cover/None" descr="exec-09f01960-7655-40ee-b1b9-4b308daea5a5.png"/>
          <p:cNvPicPr>
            <a:picLocks noChangeAspect="1"/>
          </p:cNvPicPr>
          <p:nvPr/>
        </p:nvPicPr>
        <p:blipFill>
          <a:blip r:embed="rId4"/>
          <a:srcRect l="48000" t="2188" b="2188"/>
          <a:stretch>
            <a:fillRect/>
          </a:stretch>
        </p:blipFill>
        <p:spPr>
          <a:xfrm>
            <a:off x="10378440" y="2194560"/>
            <a:ext cx="3401568" cy="3520440"/>
          </a:xfrm>
          <a:prstGeom prst="rect">
            <a:avLst/>
          </a:prstGeom>
        </p:spPr>
      </p:pic>
      <p:cxnSp>
        <p:nvCxnSpPr>
          <p:cNvPr id="14" name="Graphic / connection"/>
          <p:cNvCxnSpPr/>
          <p:nvPr/>
        </p:nvCxnSpPr>
        <p:spPr>
          <a:xfrm>
            <a:off x="10250424" y="2066543"/>
            <a:ext cx="274320" cy="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15" name="Graphic / connection"/>
          <p:cNvCxnSpPr/>
          <p:nvPr/>
        </p:nvCxnSpPr>
        <p:spPr>
          <a:xfrm>
            <a:off x="10250424" y="2066543"/>
            <a:ext cx="0" cy="27432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16" name="Graphic / connection"/>
          <p:cNvCxnSpPr/>
          <p:nvPr/>
        </p:nvCxnSpPr>
        <p:spPr>
          <a:xfrm flipH="1">
            <a:off x="13633704" y="2066543"/>
            <a:ext cx="274320" cy="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17" name="Graphic / connection"/>
          <p:cNvCxnSpPr/>
          <p:nvPr/>
        </p:nvCxnSpPr>
        <p:spPr>
          <a:xfrm>
            <a:off x="13908024" y="2066543"/>
            <a:ext cx="0" cy="27432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18" name="Graphic / connection"/>
          <p:cNvCxnSpPr/>
          <p:nvPr/>
        </p:nvCxnSpPr>
        <p:spPr>
          <a:xfrm>
            <a:off x="10250424" y="5843016"/>
            <a:ext cx="274320" cy="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19" name="Graphic / connection"/>
          <p:cNvCxnSpPr/>
          <p:nvPr/>
        </p:nvCxnSpPr>
        <p:spPr>
          <a:xfrm flipV="1">
            <a:off x="10250424" y="5568696"/>
            <a:ext cx="0" cy="27432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20" name="Graphic / connection"/>
          <p:cNvCxnSpPr/>
          <p:nvPr/>
        </p:nvCxnSpPr>
        <p:spPr>
          <a:xfrm flipH="1">
            <a:off x="13633704" y="5843016"/>
            <a:ext cx="274320" cy="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cxnSp>
        <p:nvCxnSpPr>
          <p:cNvPr id="21" name="Graphic / connection"/>
          <p:cNvCxnSpPr/>
          <p:nvPr/>
        </p:nvCxnSpPr>
        <p:spPr>
          <a:xfrm flipV="1">
            <a:off x="13908024" y="5568696"/>
            <a:ext cx="0" cy="274320"/>
          </a:xfrm>
          <a:prstGeom prst="line">
            <a:avLst/>
          </a:prstGeom>
          <a:ln w="7620">
            <a:solidFill>
              <a:srgbClr val="B0B3A7"/>
            </a:solidFill>
          </a:ln>
        </p:spPr>
      </p:cxnSp>
      <p:sp>
        <p:nvSpPr>
          <p:cNvPr id="22" name="Colour field / FF6600"/>
          <p:cNvSpPr/>
          <p:nvPr/>
        </p:nvSpPr>
        <p:spPr>
          <a:xfrm>
            <a:off x="13322808" y="5815584"/>
            <a:ext cx="457200" cy="502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Graphic / planar junction"/>
          <p:cNvSpPr/>
          <p:nvPr/>
        </p:nvSpPr>
        <p:spPr>
          <a:xfrm>
            <a:off x="13414248" y="219456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0"/>
                </a:moveTo>
                <a:lnTo>
                  <a:pt x="365760" y="0"/>
                </a:lnTo>
                <a:lnTo>
                  <a:pt x="365760" y="365760"/>
                </a:lnTo>
                <a:close/>
              </a:path>
            </a:pathLst>
          </a:custGeom>
          <a:solidFill>
            <a:srgbClr val="1111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Colour field / E1E2D9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РИЛОЖЕНИЕ / EXECUTIVE SEARCH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ПРИЛОЖЕНИЕ / EXECUTIVE SEARCH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20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20</a:t>
            </a:r>
          </a:p>
        </p:txBody>
      </p:sp>
      <p:sp>
        <p:nvSpPr>
          <p:cNvPr id="6" name="Text / Примеры закрытых вакансий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6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Примеры закрытых вакансий</a:t>
            </a:r>
          </a:p>
        </p:txBody>
      </p:sp>
      <p:sp>
        <p:nvSpPr>
          <p:cNvPr id="25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sp>
        <p:nvSpPr>
          <p:cNvPr id="31" name="Text / 01"/>
          <p:cNvSpPr txBox="1"/>
          <p:nvPr/>
        </p:nvSpPr>
        <p:spPr>
          <a:xfrm>
            <a:off x="640080" y="3104388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32" name="Text / Генеральный директор"/>
          <p:cNvSpPr txBox="1"/>
          <p:nvPr/>
        </p:nvSpPr>
        <p:spPr>
          <a:xfrm>
            <a:off x="1097280" y="3063240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Генеральный директор</a:t>
            </a:r>
          </a:p>
        </p:txBody>
      </p:sp>
      <p:sp>
        <p:nvSpPr>
          <p:cNvPr id="33" name="Text / 02"/>
          <p:cNvSpPr txBox="1"/>
          <p:nvPr/>
        </p:nvSpPr>
        <p:spPr>
          <a:xfrm>
            <a:off x="640080" y="3552444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34" name="Text / Директор завода"/>
          <p:cNvSpPr txBox="1"/>
          <p:nvPr/>
        </p:nvSpPr>
        <p:spPr>
          <a:xfrm>
            <a:off x="1097280" y="3511296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Директор завода</a:t>
            </a:r>
          </a:p>
        </p:txBody>
      </p:sp>
      <p:sp>
        <p:nvSpPr>
          <p:cNvPr id="35" name="Text / 03"/>
          <p:cNvSpPr txBox="1"/>
          <p:nvPr/>
        </p:nvSpPr>
        <p:spPr>
          <a:xfrm>
            <a:off x="640080" y="4000500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36" name="Text / Операционный директор"/>
          <p:cNvSpPr txBox="1"/>
          <p:nvPr/>
        </p:nvSpPr>
        <p:spPr>
          <a:xfrm>
            <a:off x="1097280" y="3959352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Операционный директор</a:t>
            </a:r>
          </a:p>
        </p:txBody>
      </p:sp>
      <p:sp>
        <p:nvSpPr>
          <p:cNvPr id="37" name="Text / 04"/>
          <p:cNvSpPr txBox="1"/>
          <p:nvPr/>
        </p:nvSpPr>
        <p:spPr>
          <a:xfrm>
            <a:off x="640080" y="4448556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04</a:t>
            </a:r>
          </a:p>
        </p:txBody>
      </p:sp>
      <p:sp>
        <p:nvSpPr>
          <p:cNvPr id="38" name="Text / Независимый директор"/>
          <p:cNvSpPr txBox="1"/>
          <p:nvPr/>
        </p:nvSpPr>
        <p:spPr>
          <a:xfrm>
            <a:off x="1097280" y="4407408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Независимый директор</a:t>
            </a:r>
          </a:p>
        </p:txBody>
      </p:sp>
      <p:sp>
        <p:nvSpPr>
          <p:cNvPr id="39" name="Text / 05"/>
          <p:cNvSpPr txBox="1"/>
          <p:nvPr/>
        </p:nvSpPr>
        <p:spPr>
          <a:xfrm>
            <a:off x="640080" y="4896612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05</a:t>
            </a:r>
          </a:p>
        </p:txBody>
      </p:sp>
      <p:sp>
        <p:nvSpPr>
          <p:cNvPr id="40" name="Text / R&amp;D-директор"/>
          <p:cNvSpPr txBox="1"/>
          <p:nvPr/>
        </p:nvSpPr>
        <p:spPr>
          <a:xfrm>
            <a:off x="1097280" y="4855464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R&amp;D-директор</a:t>
            </a:r>
          </a:p>
        </p:txBody>
      </p:sp>
      <p:sp>
        <p:nvSpPr>
          <p:cNvPr id="41" name="Text / 06"/>
          <p:cNvSpPr txBox="1"/>
          <p:nvPr/>
        </p:nvSpPr>
        <p:spPr>
          <a:xfrm>
            <a:off x="640080" y="5344668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06</a:t>
            </a:r>
          </a:p>
        </p:txBody>
      </p:sp>
      <p:sp>
        <p:nvSpPr>
          <p:cNvPr id="42" name="Text / Председатель правления банка"/>
          <p:cNvSpPr txBox="1"/>
          <p:nvPr/>
        </p:nvSpPr>
        <p:spPr>
          <a:xfrm>
            <a:off x="1097280" y="5303520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Председатель правления банка</a:t>
            </a:r>
          </a:p>
        </p:txBody>
      </p:sp>
      <p:sp>
        <p:nvSpPr>
          <p:cNvPr id="43" name="Text / 07"/>
          <p:cNvSpPr txBox="1"/>
          <p:nvPr/>
        </p:nvSpPr>
        <p:spPr>
          <a:xfrm>
            <a:off x="640080" y="5792724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07</a:t>
            </a:r>
          </a:p>
        </p:txBody>
      </p:sp>
      <p:sp>
        <p:nvSpPr>
          <p:cNvPr id="44" name="Text / Исполнительный директор"/>
          <p:cNvSpPr txBox="1"/>
          <p:nvPr/>
        </p:nvSpPr>
        <p:spPr>
          <a:xfrm>
            <a:off x="1097280" y="5751576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Исполнительный директор</a:t>
            </a:r>
          </a:p>
        </p:txBody>
      </p:sp>
      <p:sp>
        <p:nvSpPr>
          <p:cNvPr id="45" name="Text / 08"/>
          <p:cNvSpPr txBox="1"/>
          <p:nvPr/>
        </p:nvSpPr>
        <p:spPr>
          <a:xfrm>
            <a:off x="640080" y="6240779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08</a:t>
            </a:r>
          </a:p>
        </p:txBody>
      </p:sp>
      <p:sp>
        <p:nvSpPr>
          <p:cNvPr id="46" name="Text / Директор по стратегическому развитию"/>
          <p:cNvSpPr txBox="1"/>
          <p:nvPr/>
        </p:nvSpPr>
        <p:spPr>
          <a:xfrm>
            <a:off x="1097280" y="6199631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Директор по стратегическому развитию</a:t>
            </a:r>
          </a:p>
        </p:txBody>
      </p:sp>
      <p:sp>
        <p:nvSpPr>
          <p:cNvPr id="47" name="Text / 09"/>
          <p:cNvSpPr txBox="1"/>
          <p:nvPr/>
        </p:nvSpPr>
        <p:spPr>
          <a:xfrm>
            <a:off x="640080" y="6688836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09</a:t>
            </a:r>
          </a:p>
        </p:txBody>
      </p:sp>
      <p:sp>
        <p:nvSpPr>
          <p:cNvPr id="48" name="Text / Финансовый директор"/>
          <p:cNvSpPr txBox="1"/>
          <p:nvPr/>
        </p:nvSpPr>
        <p:spPr>
          <a:xfrm>
            <a:off x="1097280" y="6647688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Финансовый директор</a:t>
            </a:r>
          </a:p>
        </p:txBody>
      </p:sp>
      <p:sp>
        <p:nvSpPr>
          <p:cNvPr id="49" name="Text / 10"/>
          <p:cNvSpPr txBox="1"/>
          <p:nvPr/>
        </p:nvSpPr>
        <p:spPr>
          <a:xfrm>
            <a:off x="7543800" y="3104388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10</a:t>
            </a:r>
          </a:p>
        </p:txBody>
      </p:sp>
      <p:sp>
        <p:nvSpPr>
          <p:cNvPr id="50" name="Text / Директор по маркетингу / CMO"/>
          <p:cNvSpPr txBox="1"/>
          <p:nvPr/>
        </p:nvSpPr>
        <p:spPr>
          <a:xfrm>
            <a:off x="8001000" y="3063240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Директор по маркетингу / CMO</a:t>
            </a:r>
          </a:p>
        </p:txBody>
      </p:sp>
      <p:sp>
        <p:nvSpPr>
          <p:cNvPr id="51" name="Text / 11"/>
          <p:cNvSpPr txBox="1"/>
          <p:nvPr/>
        </p:nvSpPr>
        <p:spPr>
          <a:xfrm>
            <a:off x="7543800" y="3552444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11</a:t>
            </a:r>
          </a:p>
        </p:txBody>
      </p:sp>
      <p:sp>
        <p:nvSpPr>
          <p:cNvPr id="52" name="Text / Директор по продукту / CPO"/>
          <p:cNvSpPr txBox="1"/>
          <p:nvPr/>
        </p:nvSpPr>
        <p:spPr>
          <a:xfrm>
            <a:off x="8001000" y="3511296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Директор по продукту / CPO</a:t>
            </a:r>
          </a:p>
        </p:txBody>
      </p:sp>
      <p:sp>
        <p:nvSpPr>
          <p:cNvPr id="53" name="Text / 12"/>
          <p:cNvSpPr txBox="1"/>
          <p:nvPr/>
        </p:nvSpPr>
        <p:spPr>
          <a:xfrm>
            <a:off x="7543800" y="4000500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12</a:t>
            </a:r>
          </a:p>
        </p:txBody>
      </p:sp>
      <p:sp>
        <p:nvSpPr>
          <p:cNvPr id="54" name="Text / Supply chain director"/>
          <p:cNvSpPr txBox="1"/>
          <p:nvPr/>
        </p:nvSpPr>
        <p:spPr>
          <a:xfrm>
            <a:off x="8001000" y="3959352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Supply chain director</a:t>
            </a:r>
          </a:p>
        </p:txBody>
      </p:sp>
      <p:sp>
        <p:nvSpPr>
          <p:cNvPr id="55" name="Text / 13"/>
          <p:cNvSpPr txBox="1"/>
          <p:nvPr/>
        </p:nvSpPr>
        <p:spPr>
          <a:xfrm>
            <a:off x="7543800" y="4448556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13</a:t>
            </a:r>
          </a:p>
        </p:txBody>
      </p:sp>
      <p:sp>
        <p:nvSpPr>
          <p:cNvPr id="56" name="Text / Директор по персоналу России и СНГ"/>
          <p:cNvSpPr txBox="1"/>
          <p:nvPr/>
        </p:nvSpPr>
        <p:spPr>
          <a:xfrm>
            <a:off x="8001000" y="4407408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Директор по персоналу России и СНГ</a:t>
            </a:r>
          </a:p>
        </p:txBody>
      </p:sp>
      <p:sp>
        <p:nvSpPr>
          <p:cNvPr id="57" name="Text / 14"/>
          <p:cNvSpPr txBox="1"/>
          <p:nvPr/>
        </p:nvSpPr>
        <p:spPr>
          <a:xfrm>
            <a:off x="7543800" y="4896612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14</a:t>
            </a:r>
          </a:p>
        </p:txBody>
      </p:sp>
      <p:sp>
        <p:nvSpPr>
          <p:cNvPr id="58" name="Text / Член совета директоров по HR"/>
          <p:cNvSpPr txBox="1"/>
          <p:nvPr/>
        </p:nvSpPr>
        <p:spPr>
          <a:xfrm>
            <a:off x="8001000" y="4855464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Член совета директоров по HR</a:t>
            </a:r>
          </a:p>
        </p:txBody>
      </p:sp>
      <p:sp>
        <p:nvSpPr>
          <p:cNvPr id="59" name="Text / 15"/>
          <p:cNvSpPr txBox="1"/>
          <p:nvPr/>
        </p:nvSpPr>
        <p:spPr>
          <a:xfrm>
            <a:off x="7543800" y="5344668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15</a:t>
            </a:r>
          </a:p>
        </p:txBody>
      </p:sp>
      <p:sp>
        <p:nvSpPr>
          <p:cNvPr id="60" name="Text / Директор по строительству"/>
          <p:cNvSpPr txBox="1"/>
          <p:nvPr/>
        </p:nvSpPr>
        <p:spPr>
          <a:xfrm>
            <a:off x="8001000" y="5303520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Директор по строительству</a:t>
            </a:r>
          </a:p>
        </p:txBody>
      </p:sp>
      <p:sp>
        <p:nvSpPr>
          <p:cNvPr id="61" name="Text / 16"/>
          <p:cNvSpPr txBox="1"/>
          <p:nvPr/>
        </p:nvSpPr>
        <p:spPr>
          <a:xfrm>
            <a:off x="7543800" y="5792724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16</a:t>
            </a:r>
          </a:p>
        </p:txBody>
      </p:sp>
      <p:sp>
        <p:nvSpPr>
          <p:cNvPr id="62" name="Text / Директор юридической службы холдинга"/>
          <p:cNvSpPr txBox="1"/>
          <p:nvPr/>
        </p:nvSpPr>
        <p:spPr>
          <a:xfrm>
            <a:off x="8001000" y="5751576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Директор юридической службы холдинга</a:t>
            </a:r>
          </a:p>
        </p:txBody>
      </p:sp>
      <p:sp>
        <p:nvSpPr>
          <p:cNvPr id="63" name="Text / 17"/>
          <p:cNvSpPr txBox="1"/>
          <p:nvPr/>
        </p:nvSpPr>
        <p:spPr>
          <a:xfrm>
            <a:off x="7543800" y="6240779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17</a:t>
            </a:r>
          </a:p>
        </p:txBody>
      </p:sp>
      <p:sp>
        <p:nvSpPr>
          <p:cNvPr id="64" name="Text / E-com директор"/>
          <p:cNvSpPr txBox="1"/>
          <p:nvPr/>
        </p:nvSpPr>
        <p:spPr>
          <a:xfrm>
            <a:off x="8001000" y="6199631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E-com директор</a:t>
            </a:r>
          </a:p>
        </p:txBody>
      </p:sp>
      <p:sp>
        <p:nvSpPr>
          <p:cNvPr id="65" name="Text / 18"/>
          <p:cNvSpPr txBox="1"/>
          <p:nvPr/>
        </p:nvSpPr>
        <p:spPr>
          <a:xfrm>
            <a:off x="7543800" y="6688836"/>
            <a:ext cx="3657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18</a:t>
            </a:r>
          </a:p>
        </p:txBody>
      </p:sp>
      <p:sp>
        <p:nvSpPr>
          <p:cNvPr id="66" name="Text / Директор по закупкам"/>
          <p:cNvSpPr txBox="1"/>
          <p:nvPr/>
        </p:nvSpPr>
        <p:spPr>
          <a:xfrm>
            <a:off x="8001000" y="6647688"/>
            <a:ext cx="5943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defRPr sz="1930" b="0">
                <a:solidFill>
                  <a:srgbClr val="111110"/>
                </a:solidFill>
                <a:latin typeface="Manrope"/>
              </a:defRPr>
            </a:pPr>
            <a:r>
              <a:t>Директор по закупкам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" name="Colour field / E6E9DF"/>
          <p:cNvSpPr/>
          <p:nvPr/>
        </p:nvSpPr>
        <p:spPr>
          <a:xfrm>
            <a:off x="640080" y="7187184"/>
            <a:ext cx="13350240" cy="10972"/>
          </a:xfrm>
          <a:prstGeom prst="rect">
            <a:avLst/>
          </a:prstGeom>
          <a:solidFill>
            <a:srgbClr val="E6E9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Colour field / E6E9DF"/>
          <p:cNvSpPr/>
          <p:nvPr/>
        </p:nvSpPr>
        <p:spPr>
          <a:xfrm>
            <a:off x="640080" y="6556248"/>
            <a:ext cx="13350240" cy="10972"/>
          </a:xfrm>
          <a:prstGeom prst="rect">
            <a:avLst/>
          </a:prstGeom>
          <a:solidFill>
            <a:srgbClr val="E6E9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Colour field / E6E9DF"/>
          <p:cNvSpPr/>
          <p:nvPr/>
        </p:nvSpPr>
        <p:spPr>
          <a:xfrm>
            <a:off x="640080" y="5925312"/>
            <a:ext cx="13350240" cy="10972"/>
          </a:xfrm>
          <a:prstGeom prst="rect">
            <a:avLst/>
          </a:prstGeom>
          <a:solidFill>
            <a:srgbClr val="E6E9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Colour field / E6E9DF"/>
          <p:cNvSpPr/>
          <p:nvPr/>
        </p:nvSpPr>
        <p:spPr>
          <a:xfrm>
            <a:off x="640080" y="5294376"/>
            <a:ext cx="13350240" cy="10972"/>
          </a:xfrm>
          <a:prstGeom prst="rect">
            <a:avLst/>
          </a:prstGeom>
          <a:solidFill>
            <a:srgbClr val="E6E9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Colour field / E6E9DF"/>
          <p:cNvSpPr/>
          <p:nvPr/>
        </p:nvSpPr>
        <p:spPr>
          <a:xfrm>
            <a:off x="640080" y="4663440"/>
            <a:ext cx="13350240" cy="10972"/>
          </a:xfrm>
          <a:prstGeom prst="rect">
            <a:avLst/>
          </a:prstGeom>
          <a:solidFill>
            <a:srgbClr val="E6E9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Colour field / E6E9DF"/>
          <p:cNvSpPr/>
          <p:nvPr/>
        </p:nvSpPr>
        <p:spPr>
          <a:xfrm>
            <a:off x="640080" y="4032504"/>
            <a:ext cx="13350240" cy="10972"/>
          </a:xfrm>
          <a:prstGeom prst="rect">
            <a:avLst/>
          </a:prstGeom>
          <a:solidFill>
            <a:srgbClr val="E6E9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Colour field / E6E9DF"/>
          <p:cNvSpPr/>
          <p:nvPr/>
        </p:nvSpPr>
        <p:spPr>
          <a:xfrm>
            <a:off x="640080" y="3401568"/>
            <a:ext cx="13350240" cy="10972"/>
          </a:xfrm>
          <a:prstGeom prst="rect">
            <a:avLst/>
          </a:prstGeom>
          <a:solidFill>
            <a:srgbClr val="E6E9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Colour field / E6E9DF"/>
          <p:cNvSpPr/>
          <p:nvPr/>
        </p:nvSpPr>
        <p:spPr>
          <a:xfrm>
            <a:off x="640080" y="2770632"/>
            <a:ext cx="13350240" cy="10972"/>
          </a:xfrm>
          <a:prstGeom prst="rect">
            <a:avLst/>
          </a:prstGeom>
          <a:solidFill>
            <a:srgbClr val="E6E9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Colour field / E1E2D9"/>
          <p:cNvSpPr/>
          <p:nvPr/>
        </p:nvSpPr>
        <p:spPr>
          <a:xfrm>
            <a:off x="301752" y="1645920"/>
            <a:ext cx="91440" cy="9144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Colour field / E1E2D9"/>
          <p:cNvSpPr/>
          <p:nvPr/>
        </p:nvSpPr>
        <p:spPr>
          <a:xfrm>
            <a:off x="338328" y="1645920"/>
            <a:ext cx="16459" cy="5760720"/>
          </a:xfrm>
          <a:prstGeom prst="rect">
            <a:avLst/>
          </a:prstGeom>
          <a:solidFill>
            <a:srgbClr val="E1E2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РИЛОЖЕНИЕ / КЛИЕНТ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ПРИЛОЖЕНИЕ / КЛИЕНТЫ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21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21</a:t>
            </a:r>
          </a:p>
        </p:txBody>
      </p:sp>
      <p:sp>
        <p:nvSpPr>
          <p:cNvPr id="6" name="Text / Нам доверяют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Нам доверяют</a:t>
            </a:r>
          </a:p>
        </p:txBody>
      </p:sp>
      <p:pic>
        <p:nvPicPr>
          <p:cNvPr id="7" name="Image / 6_11.png" descr="6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17691"/>
            <a:ext cx="1399031" cy="355105"/>
          </a:xfrm>
          <a:prstGeom prst="rect">
            <a:avLst/>
          </a:prstGeom>
        </p:spPr>
      </p:pic>
      <p:pic>
        <p:nvPicPr>
          <p:cNvPr id="8" name="Image / 6_12.png" descr="6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2880360"/>
            <a:ext cx="429768" cy="429768"/>
          </a:xfrm>
          <a:prstGeom prst="rect">
            <a:avLst/>
          </a:prstGeom>
        </p:spPr>
      </p:pic>
      <p:pic>
        <p:nvPicPr>
          <p:cNvPr id="9" name="Image / 6_13.png" descr="6_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1564" y="2880360"/>
            <a:ext cx="1146048" cy="429768"/>
          </a:xfrm>
          <a:prstGeom prst="rect">
            <a:avLst/>
          </a:prstGeom>
        </p:spPr>
      </p:pic>
      <p:pic>
        <p:nvPicPr>
          <p:cNvPr id="10" name="Image / 6_14.png" descr="6_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2888625"/>
            <a:ext cx="1399032" cy="413237"/>
          </a:xfrm>
          <a:prstGeom prst="rect">
            <a:avLst/>
          </a:prstGeom>
        </p:spPr>
      </p:pic>
      <p:pic>
        <p:nvPicPr>
          <p:cNvPr id="11" name="Image / 6_15.png" descr="6_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4397" y="2880360"/>
            <a:ext cx="430365" cy="429768"/>
          </a:xfrm>
          <a:prstGeom prst="rect">
            <a:avLst/>
          </a:prstGeom>
        </p:spPr>
      </p:pic>
      <p:pic>
        <p:nvPicPr>
          <p:cNvPr id="12" name="Image / 6_16.png" descr="6_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3084" y="2880360"/>
            <a:ext cx="857982" cy="429768"/>
          </a:xfrm>
          <a:prstGeom prst="rect">
            <a:avLst/>
          </a:prstGeom>
        </p:spPr>
      </p:pic>
      <p:pic>
        <p:nvPicPr>
          <p:cNvPr id="13" name="Image / 6_17.png" descr="6_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12246" y="2880360"/>
            <a:ext cx="644651" cy="429767"/>
          </a:xfrm>
          <a:prstGeom prst="rect">
            <a:avLst/>
          </a:prstGeom>
        </p:spPr>
      </p:pic>
      <p:pic>
        <p:nvPicPr>
          <p:cNvPr id="14" name="Image / 6_18.png" descr="6_1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6461" y="2880360"/>
            <a:ext cx="821212" cy="429768"/>
          </a:xfrm>
          <a:prstGeom prst="rect">
            <a:avLst/>
          </a:prstGeom>
        </p:spPr>
      </p:pic>
      <p:pic>
        <p:nvPicPr>
          <p:cNvPr id="15" name="Image / 6_19.png" descr="6_1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4712" y="3511296"/>
            <a:ext cx="429767" cy="429767"/>
          </a:xfrm>
          <a:prstGeom prst="rect">
            <a:avLst/>
          </a:prstGeom>
        </p:spPr>
      </p:pic>
      <p:pic>
        <p:nvPicPr>
          <p:cNvPr id="16" name="Image / 6_20.png" descr="6_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22576" y="3601722"/>
            <a:ext cx="1399032" cy="248914"/>
          </a:xfrm>
          <a:prstGeom prst="rect">
            <a:avLst/>
          </a:prstGeom>
        </p:spPr>
      </p:pic>
      <p:pic>
        <p:nvPicPr>
          <p:cNvPr id="17" name="Image / 6_21.png" descr="6_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00327" y="3511296"/>
            <a:ext cx="608521" cy="429768"/>
          </a:xfrm>
          <a:prstGeom prst="rect">
            <a:avLst/>
          </a:prstGeom>
        </p:spPr>
      </p:pic>
      <p:pic>
        <p:nvPicPr>
          <p:cNvPr id="18" name="Image / 6_22.png" descr="6_2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7845" y="3511296"/>
            <a:ext cx="578476" cy="429767"/>
          </a:xfrm>
          <a:prstGeom prst="rect">
            <a:avLst/>
          </a:prstGeom>
        </p:spPr>
      </p:pic>
      <p:pic>
        <p:nvPicPr>
          <p:cNvPr id="19" name="Image / 6_23.png" descr="6_2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3389" y="3511296"/>
            <a:ext cx="1172381" cy="429768"/>
          </a:xfrm>
          <a:prstGeom prst="rect">
            <a:avLst/>
          </a:prstGeom>
        </p:spPr>
      </p:pic>
      <p:pic>
        <p:nvPicPr>
          <p:cNvPr id="20" name="Image / 6_24.png" descr="6_2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27680" y="3511296"/>
            <a:ext cx="848791" cy="429768"/>
          </a:xfrm>
          <a:prstGeom prst="rect">
            <a:avLst/>
          </a:prstGeom>
        </p:spPr>
      </p:pic>
      <p:pic>
        <p:nvPicPr>
          <p:cNvPr id="21" name="Image / 6_25.png" descr="6_2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98875" y="3511296"/>
            <a:ext cx="1071393" cy="429768"/>
          </a:xfrm>
          <a:prstGeom prst="rect">
            <a:avLst/>
          </a:prstGeom>
        </p:spPr>
      </p:pic>
      <p:pic>
        <p:nvPicPr>
          <p:cNvPr id="22" name="Image / 6_26.png" descr="6_2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08392" y="3511296"/>
            <a:ext cx="817350" cy="429768"/>
          </a:xfrm>
          <a:prstGeom prst="rect">
            <a:avLst/>
          </a:prstGeom>
        </p:spPr>
      </p:pic>
      <p:pic>
        <p:nvPicPr>
          <p:cNvPr id="23" name="Image / 6_27.png" descr="6_2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" y="4230641"/>
            <a:ext cx="1399032" cy="252949"/>
          </a:xfrm>
          <a:prstGeom prst="rect">
            <a:avLst/>
          </a:prstGeom>
        </p:spPr>
      </p:pic>
      <p:pic>
        <p:nvPicPr>
          <p:cNvPr id="24" name="Image / 6_28.png" descr="6_2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22576" y="4177901"/>
            <a:ext cx="1399032" cy="358429"/>
          </a:xfrm>
          <a:prstGeom prst="rect">
            <a:avLst/>
          </a:prstGeom>
        </p:spPr>
      </p:pic>
      <p:pic>
        <p:nvPicPr>
          <p:cNvPr id="25" name="Image / 6_29.png" descr="6_2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95673" y="4142231"/>
            <a:ext cx="417830" cy="429768"/>
          </a:xfrm>
          <a:prstGeom prst="rect">
            <a:avLst/>
          </a:prstGeom>
        </p:spPr>
      </p:pic>
      <p:pic>
        <p:nvPicPr>
          <p:cNvPr id="26" name="Image / 6_30.png" descr="6_3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87568" y="4194525"/>
            <a:ext cx="1399032" cy="325180"/>
          </a:xfrm>
          <a:prstGeom prst="rect">
            <a:avLst/>
          </a:prstGeom>
        </p:spPr>
      </p:pic>
      <p:pic>
        <p:nvPicPr>
          <p:cNvPr id="27" name="Image / 6_31.png" descr="6_3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92310" y="4142231"/>
            <a:ext cx="554539" cy="429768"/>
          </a:xfrm>
          <a:prstGeom prst="rect">
            <a:avLst/>
          </a:prstGeom>
        </p:spPr>
      </p:pic>
      <p:pic>
        <p:nvPicPr>
          <p:cNvPr id="28" name="Image / 6_32.png" descr="6_3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35464" y="4142231"/>
            <a:ext cx="833223" cy="429767"/>
          </a:xfrm>
          <a:prstGeom prst="rect">
            <a:avLst/>
          </a:prstGeom>
        </p:spPr>
      </p:pic>
      <p:pic>
        <p:nvPicPr>
          <p:cNvPr id="29" name="Image / 6_33.png" descr="6_3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31980" y="4142231"/>
            <a:ext cx="605183" cy="429767"/>
          </a:xfrm>
          <a:prstGeom prst="rect">
            <a:avLst/>
          </a:prstGeom>
        </p:spPr>
      </p:pic>
      <p:pic>
        <p:nvPicPr>
          <p:cNvPr id="30" name="Image / 6_34.png" descr="6_3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417552" y="4180716"/>
            <a:ext cx="1399032" cy="352799"/>
          </a:xfrm>
          <a:prstGeom prst="rect">
            <a:avLst/>
          </a:prstGeom>
        </p:spPr>
      </p:pic>
      <p:pic>
        <p:nvPicPr>
          <p:cNvPr id="31" name="Image / 6_35.png" descr="6_3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76960" y="4773168"/>
            <a:ext cx="525272" cy="429768"/>
          </a:xfrm>
          <a:prstGeom prst="rect">
            <a:avLst/>
          </a:prstGeom>
        </p:spPr>
      </p:pic>
      <p:pic>
        <p:nvPicPr>
          <p:cNvPr id="32" name="Image / 6_36.png" descr="6_3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361812" y="4773168"/>
            <a:ext cx="1320559" cy="429768"/>
          </a:xfrm>
          <a:prstGeom prst="rect">
            <a:avLst/>
          </a:prstGeom>
        </p:spPr>
      </p:pic>
      <p:pic>
        <p:nvPicPr>
          <p:cNvPr id="33" name="Image / 6_37.png" descr="6_3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80081" y="4773168"/>
            <a:ext cx="1249013" cy="429768"/>
          </a:xfrm>
          <a:prstGeom prst="rect">
            <a:avLst/>
          </a:prstGeom>
        </p:spPr>
      </p:pic>
      <p:pic>
        <p:nvPicPr>
          <p:cNvPr id="34" name="Image / 6_38.png" descr="6_3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64758" y="4773168"/>
            <a:ext cx="644652" cy="429768"/>
          </a:xfrm>
          <a:prstGeom prst="rect">
            <a:avLst/>
          </a:prstGeom>
        </p:spPr>
      </p:pic>
      <p:pic>
        <p:nvPicPr>
          <p:cNvPr id="35" name="Image / 6_39.png" descr="6_39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370064" y="4825488"/>
            <a:ext cx="1399032" cy="325127"/>
          </a:xfrm>
          <a:prstGeom prst="rect">
            <a:avLst/>
          </a:prstGeom>
        </p:spPr>
      </p:pic>
      <p:pic>
        <p:nvPicPr>
          <p:cNvPr id="36" name="Image / 6_40.png" descr="6_4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270974" y="4773168"/>
            <a:ext cx="962202" cy="429768"/>
          </a:xfrm>
          <a:prstGeom prst="rect">
            <a:avLst/>
          </a:prstGeom>
        </p:spPr>
      </p:pic>
      <p:pic>
        <p:nvPicPr>
          <p:cNvPr id="37" name="Image / 6_41.png" descr="6_41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03456" y="4773168"/>
            <a:ext cx="1262231" cy="429768"/>
          </a:xfrm>
          <a:prstGeom prst="rect">
            <a:avLst/>
          </a:prstGeom>
        </p:spPr>
      </p:pic>
      <p:pic>
        <p:nvPicPr>
          <p:cNvPr id="38" name="Image / 6_42.png" descr="6_42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2417552" y="4821670"/>
            <a:ext cx="1399032" cy="332762"/>
          </a:xfrm>
          <a:prstGeom prst="rect">
            <a:avLst/>
          </a:prstGeom>
        </p:spPr>
      </p:pic>
      <p:pic>
        <p:nvPicPr>
          <p:cNvPr id="39" name="Image / 6_43.png" descr="6_43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8106" y="5404104"/>
            <a:ext cx="1362978" cy="429768"/>
          </a:xfrm>
          <a:prstGeom prst="rect">
            <a:avLst/>
          </a:prstGeom>
        </p:spPr>
      </p:pic>
      <p:pic>
        <p:nvPicPr>
          <p:cNvPr id="40" name="Image / 6_44.png" descr="6_44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340602" y="5404104"/>
            <a:ext cx="1362978" cy="429768"/>
          </a:xfrm>
          <a:prstGeom prst="rect">
            <a:avLst/>
          </a:prstGeom>
        </p:spPr>
      </p:pic>
      <p:pic>
        <p:nvPicPr>
          <p:cNvPr id="41" name="Image / 6_45.png" descr="6_45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023098" y="5404104"/>
            <a:ext cx="1362978" cy="429768"/>
          </a:xfrm>
          <a:prstGeom prst="rect">
            <a:avLst/>
          </a:prstGeom>
        </p:spPr>
      </p:pic>
      <p:pic>
        <p:nvPicPr>
          <p:cNvPr id="42" name="Image / 6_46.png" descr="6_46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687568" y="5529739"/>
            <a:ext cx="1399032" cy="178497"/>
          </a:xfrm>
          <a:prstGeom prst="rect">
            <a:avLst/>
          </a:prstGeom>
        </p:spPr>
      </p:pic>
      <p:pic>
        <p:nvPicPr>
          <p:cNvPr id="43" name="Image / 6_47.png" descr="6_47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43888" y="5404104"/>
            <a:ext cx="1251383" cy="429768"/>
          </a:xfrm>
          <a:prstGeom prst="rect">
            <a:avLst/>
          </a:prstGeom>
        </p:spPr>
      </p:pic>
      <p:pic>
        <p:nvPicPr>
          <p:cNvPr id="44" name="Image / 6_48.png" descr="6_48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131982" y="5404104"/>
            <a:ext cx="1240187" cy="429768"/>
          </a:xfrm>
          <a:prstGeom prst="rect">
            <a:avLst/>
          </a:prstGeom>
        </p:spPr>
      </p:pic>
      <p:pic>
        <p:nvPicPr>
          <p:cNvPr id="45" name="Image / 6_49.png" descr="6_49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746566" y="5404104"/>
            <a:ext cx="1376011" cy="429768"/>
          </a:xfrm>
          <a:prstGeom prst="rect">
            <a:avLst/>
          </a:prstGeom>
        </p:spPr>
      </p:pic>
      <p:pic>
        <p:nvPicPr>
          <p:cNvPr id="46" name="Image / 6_50.png" descr="6_50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2712286" y="5404104"/>
            <a:ext cx="809562" cy="429768"/>
          </a:xfrm>
          <a:prstGeom prst="rect">
            <a:avLst/>
          </a:prstGeom>
        </p:spPr>
      </p:pic>
      <p:pic>
        <p:nvPicPr>
          <p:cNvPr id="47" name="Image / 6_51.png" descr="6_51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97269" y="6035040"/>
            <a:ext cx="1084652" cy="429768"/>
          </a:xfrm>
          <a:prstGeom prst="rect">
            <a:avLst/>
          </a:prstGeom>
        </p:spPr>
      </p:pic>
      <p:pic>
        <p:nvPicPr>
          <p:cNvPr id="48" name="Image / 6_52.png" descr="6_52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479765" y="6035040"/>
            <a:ext cx="1084652" cy="429768"/>
          </a:xfrm>
          <a:prstGeom prst="rect">
            <a:avLst/>
          </a:prstGeom>
        </p:spPr>
      </p:pic>
      <p:pic>
        <p:nvPicPr>
          <p:cNvPr id="49" name="Image / 6_53.png" descr="6_53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162261" y="6035040"/>
            <a:ext cx="1084652" cy="429768"/>
          </a:xfrm>
          <a:prstGeom prst="rect">
            <a:avLst/>
          </a:prstGeom>
        </p:spPr>
      </p:pic>
      <p:pic>
        <p:nvPicPr>
          <p:cNvPr id="50" name="Image / 6_54.png" descr="6_54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034519" y="6035040"/>
            <a:ext cx="705128" cy="429768"/>
          </a:xfrm>
          <a:prstGeom prst="rect">
            <a:avLst/>
          </a:prstGeom>
        </p:spPr>
      </p:pic>
      <p:pic>
        <p:nvPicPr>
          <p:cNvPr id="51" name="Image / 6_55.png" descr="6_55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370064" y="6113999"/>
            <a:ext cx="1399032" cy="271849"/>
          </a:xfrm>
          <a:prstGeom prst="rect">
            <a:avLst/>
          </a:prstGeom>
        </p:spPr>
      </p:pic>
      <p:pic>
        <p:nvPicPr>
          <p:cNvPr id="52" name="Image / 6_56.png" descr="6_56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217620" y="6035040"/>
            <a:ext cx="1068910" cy="429767"/>
          </a:xfrm>
          <a:prstGeom prst="rect">
            <a:avLst/>
          </a:prstGeom>
        </p:spPr>
      </p:pic>
      <p:pic>
        <p:nvPicPr>
          <p:cNvPr id="53" name="Image / 6_57.png" descr="6_57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1175229" y="6035040"/>
            <a:ext cx="518685" cy="429768"/>
          </a:xfrm>
          <a:prstGeom prst="rect">
            <a:avLst/>
          </a:prstGeom>
        </p:spPr>
      </p:pic>
      <p:pic>
        <p:nvPicPr>
          <p:cNvPr id="54" name="Image / 6_58.png" descr="6_58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2570515" y="6035040"/>
            <a:ext cx="1093105" cy="429768"/>
          </a:xfrm>
          <a:prstGeom prst="rect">
            <a:avLst/>
          </a:prstGeom>
        </p:spPr>
      </p:pic>
      <p:pic>
        <p:nvPicPr>
          <p:cNvPr id="55" name="Image / 6_59.png" descr="6_59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40080" y="6701655"/>
            <a:ext cx="1399032" cy="358409"/>
          </a:xfrm>
          <a:prstGeom prst="rect">
            <a:avLst/>
          </a:prstGeom>
        </p:spPr>
      </p:pic>
      <p:pic>
        <p:nvPicPr>
          <p:cNvPr id="56" name="Image / 6_60.png" descr="6_60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322576" y="6726421"/>
            <a:ext cx="1399032" cy="308877"/>
          </a:xfrm>
          <a:prstGeom prst="rect">
            <a:avLst/>
          </a:prstGeom>
        </p:spPr>
      </p:pic>
      <p:pic>
        <p:nvPicPr>
          <p:cNvPr id="57" name="Image / 6_61.png" descr="6_61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037588" y="6665975"/>
            <a:ext cx="1333999" cy="429768"/>
          </a:xfrm>
          <a:prstGeom prst="rect">
            <a:avLst/>
          </a:prstGeom>
        </p:spPr>
      </p:pic>
      <p:sp>
        <p:nvSpPr>
          <p:cNvPr id="58" name="Colour field / 888D7F"/>
          <p:cNvSpPr/>
          <p:nvPr/>
        </p:nvSpPr>
        <p:spPr>
          <a:xfrm>
            <a:off x="1368856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Colour field / 888D7F"/>
          <p:cNvSpPr/>
          <p:nvPr/>
        </p:nvSpPr>
        <p:spPr>
          <a:xfrm>
            <a:off x="1355140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Colour field / 888D7F"/>
          <p:cNvSpPr/>
          <p:nvPr/>
        </p:nvSpPr>
        <p:spPr>
          <a:xfrm>
            <a:off x="13414248" y="1051560"/>
            <a:ext cx="68580" cy="22860"/>
          </a:xfrm>
          <a:prstGeom prst="rect">
            <a:avLst/>
          </a:prstGeom>
          <a:solidFill>
            <a:srgbClr val="888D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1" name="Graphic / connection"/>
          <p:cNvCxnSpPr/>
          <p:nvPr/>
        </p:nvCxnSpPr>
        <p:spPr>
          <a:xfrm>
            <a:off x="13331952" y="7882127"/>
            <a:ext cx="192024" cy="0"/>
          </a:xfrm>
          <a:prstGeom prst="line">
            <a:avLst/>
          </a:prstGeom>
          <a:ln w="8890">
            <a:solidFill>
              <a:srgbClr val="B0B4A6"/>
            </a:solidFill>
          </a:ln>
        </p:spPr>
      </p:cxnSp>
      <p:cxnSp>
        <p:nvCxnSpPr>
          <p:cNvPr id="72" name="Graphic / connection"/>
          <p:cNvCxnSpPr/>
          <p:nvPr/>
        </p:nvCxnSpPr>
        <p:spPr>
          <a:xfrm>
            <a:off x="640080" y="2651760"/>
            <a:ext cx="0" cy="201168"/>
          </a:xfrm>
          <a:prstGeom prst="line">
            <a:avLst/>
          </a:prstGeom>
          <a:ln w="10160">
            <a:solidFill>
              <a:srgbClr val="7C866F"/>
            </a:solidFill>
          </a:ln>
        </p:spPr>
      </p:cxnSp>
      <p:cxnSp>
        <p:nvCxnSpPr>
          <p:cNvPr id="73" name="Graphic / connection"/>
          <p:cNvCxnSpPr/>
          <p:nvPr/>
        </p:nvCxnSpPr>
        <p:spPr>
          <a:xfrm>
            <a:off x="13990320" y="2651760"/>
            <a:ext cx="0" cy="201168"/>
          </a:xfrm>
          <a:prstGeom prst="line">
            <a:avLst/>
          </a:prstGeom>
          <a:ln w="10160">
            <a:solidFill>
              <a:srgbClr val="7C866F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0"/>
      </a:dk1>
      <a:lt1>
        <a:srgbClr val="F4F3EF"/>
      </a:lt1>
      <a:dk2>
        <a:srgbClr val="1F497D"/>
      </a:dk2>
      <a:lt2>
        <a:srgbClr val="EEECE1"/>
      </a:lt2>
      <a:accent1>
        <a:srgbClr val="FF6600"/>
      </a:accent1>
      <a:accent2>
        <a:srgbClr val="696A65"/>
      </a:accent2>
      <a:accent3>
        <a:srgbClr val="D2D2CB"/>
      </a:accent3>
      <a:accent4>
        <a:srgbClr val="111110"/>
      </a:accent4>
      <a:accent5>
        <a:srgbClr val="F4F3EF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Ventra — editorial presentation system</dc:title>
  <dc:subject>Обновлённая обложка, фотографии и графическая система</dc:subject>
  <dc:creator>Ventra / Design concept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